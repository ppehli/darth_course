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8" r:id="rId1"/>
  </p:sldMasterIdLst>
  <p:notesMasterIdLst>
    <p:notesMasterId r:id="rId22"/>
  </p:notesMasterIdLst>
  <p:sldIdLst>
    <p:sldId id="271" r:id="rId2"/>
    <p:sldId id="259" r:id="rId3"/>
    <p:sldId id="260" r:id="rId4"/>
    <p:sldId id="752" r:id="rId5"/>
    <p:sldId id="266" r:id="rId6"/>
    <p:sldId id="290" r:id="rId7"/>
    <p:sldId id="758" r:id="rId8"/>
    <p:sldId id="292" r:id="rId9"/>
    <p:sldId id="264" r:id="rId10"/>
    <p:sldId id="760" r:id="rId11"/>
    <p:sldId id="759" r:id="rId12"/>
    <p:sldId id="261" r:id="rId13"/>
    <p:sldId id="284" r:id="rId14"/>
    <p:sldId id="265" r:id="rId15"/>
    <p:sldId id="753" r:id="rId16"/>
    <p:sldId id="506" r:id="rId17"/>
    <p:sldId id="522" r:id="rId18"/>
    <p:sldId id="515" r:id="rId19"/>
    <p:sldId id="761" r:id="rId20"/>
    <p:sldId id="29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ros Pechlivanoglou" initials="PP" lastIdx="1" clrIdx="0">
    <p:extLst>
      <p:ext uri="{19B8F6BF-5375-455C-9EA6-DF929625EA0E}">
        <p15:presenceInfo xmlns:p15="http://schemas.microsoft.com/office/powerpoint/2012/main" userId="2af05fd9a07126f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FE451C-57C5-4C63-9DD7-E24E8389DFCD}" v="6" dt="2026-06-08T20:13:01.0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8582"/>
    <p:restoredTop sz="94646"/>
  </p:normalViewPr>
  <p:slideViewPr>
    <p:cSldViewPr snapToGrid="0" snapToObjects="1">
      <p:cViewPr varScale="1">
        <p:scale>
          <a:sx n="74" d="100"/>
          <a:sy n="74" d="100"/>
        </p:scale>
        <p:origin x="356" y="4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022054-F6B9-B04E-9F80-BE6C2BED9348}" type="datetimeFigureOut">
              <a:rPr lang="en-US" smtClean="0"/>
              <a:t>2026-06-17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055542-5B12-4B47-9288-A13A79668078}" type="slidenum">
              <a:rPr lang="en-US" smtClean="0"/>
              <a:t>‹#›</a:t>
            </a:fld>
            <a:endParaRPr lang="en-US"/>
          </a:p>
        </p:txBody>
      </p:sp>
    </p:spTree>
    <p:extLst>
      <p:ext uri="{BB962C8B-B14F-4D97-AF65-F5344CB8AC3E}">
        <p14:creationId xmlns:p14="http://schemas.microsoft.com/office/powerpoint/2010/main" val="1817118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ddbe0e68f_0_14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8" name="Google Shape;948;g2ddbe0e68f_0_14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5219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g4b9d4685eb_0_2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6" name="Google Shape;1196;g4b9d4685eb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l-NL" sz="900">
                <a:solidFill>
                  <a:srgbClr val="002327"/>
                </a:solidFill>
                <a:latin typeface="Arial"/>
                <a:ea typeface="Arial"/>
                <a:cs typeface="Arial"/>
                <a:sym typeface="Arial"/>
              </a:rPr>
              <a:t>Before we move on to the basics of R for decision sciences - questions?</a:t>
            </a:r>
            <a:endParaRPr sz="900">
              <a:solidFill>
                <a:srgbClr val="002327"/>
              </a:solidFill>
              <a:latin typeface="Arial"/>
              <a:ea typeface="Arial"/>
              <a:cs typeface="Arial"/>
              <a:sym typeface="Arial"/>
            </a:endParaRPr>
          </a:p>
          <a:p>
            <a:pPr marL="0" lvl="0" indent="0" algn="l" rtl="0">
              <a:spcBef>
                <a:spcPts val="0"/>
              </a:spcBef>
              <a:spcAft>
                <a:spcPts val="0"/>
              </a:spcAft>
              <a:buNone/>
            </a:pPr>
            <a:r>
              <a:rPr lang="nl-NL" sz="900">
                <a:solidFill>
                  <a:srgbClr val="002327"/>
                </a:solidFill>
                <a:latin typeface="Arial"/>
                <a:ea typeface="Arial"/>
                <a:cs typeface="Arial"/>
                <a:sym typeface="Arial"/>
              </a:rPr>
              <a:t>This next section will be a live coding section, we encourage you to follow allong</a:t>
            </a:r>
            <a:endParaRPr sz="900">
              <a:solidFill>
                <a:srgbClr val="002327"/>
              </a:solidFill>
              <a:latin typeface="Arial"/>
              <a:ea typeface="Arial"/>
              <a:cs typeface="Arial"/>
              <a:sym typeface="Arial"/>
            </a:endParaRPr>
          </a:p>
          <a:p>
            <a:pPr marL="0" lvl="0" indent="0" algn="l" rtl="0">
              <a:spcBef>
                <a:spcPts val="0"/>
              </a:spcBef>
              <a:spcAft>
                <a:spcPts val="0"/>
              </a:spcAft>
              <a:buNone/>
            </a:pPr>
            <a:endParaRPr sz="900">
              <a:solidFill>
                <a:srgbClr val="002327"/>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nl-NL" sz="1800" b="1">
                <a:solidFill>
                  <a:srgbClr val="004D99"/>
                </a:solidFill>
              </a:rPr>
              <a:t>Introduction to R outline</a:t>
            </a:r>
            <a:endParaRPr sz="1800" b="1">
              <a:solidFill>
                <a:srgbClr val="004D99"/>
              </a:solidFill>
            </a:endParaRPr>
          </a:p>
          <a:p>
            <a:pPr marL="0" lvl="0" indent="0" algn="l" rtl="0">
              <a:lnSpc>
                <a:spcPct val="115000"/>
              </a:lnSpc>
              <a:spcBef>
                <a:spcPts val="0"/>
              </a:spcBef>
              <a:spcAft>
                <a:spcPts val="0"/>
              </a:spcAft>
              <a:buClr>
                <a:schemeClr val="dk1"/>
              </a:buClr>
              <a:buSzPts val="1100"/>
              <a:buFont typeface="Arial"/>
              <a:buNone/>
            </a:pPr>
            <a:endParaRPr sz="1800"/>
          </a:p>
          <a:p>
            <a:pPr marL="0" lvl="0" indent="0" algn="l" rtl="0">
              <a:lnSpc>
                <a:spcPct val="115000"/>
              </a:lnSpc>
              <a:spcBef>
                <a:spcPts val="0"/>
              </a:spcBef>
              <a:spcAft>
                <a:spcPts val="0"/>
              </a:spcAft>
              <a:buClr>
                <a:schemeClr val="dk1"/>
              </a:buClr>
              <a:buSzPts val="1100"/>
              <a:buFont typeface="Arial"/>
              <a:buNone/>
            </a:pPr>
            <a:r>
              <a:rPr lang="nl-NL" sz="1100"/>
              <a:t>9.00am - 9.15am	Breakfast - meet and greet </a:t>
            </a:r>
            <a:endParaRPr sz="1100"/>
          </a:p>
          <a:p>
            <a:pPr marL="0" lvl="0" indent="0" algn="l" rtl="0">
              <a:lnSpc>
                <a:spcPct val="115000"/>
              </a:lnSpc>
              <a:spcBef>
                <a:spcPts val="0"/>
              </a:spcBef>
              <a:spcAft>
                <a:spcPts val="0"/>
              </a:spcAft>
              <a:buClr>
                <a:schemeClr val="dk1"/>
              </a:buClr>
              <a:buSzPts val="1100"/>
              <a:buFont typeface="Arial"/>
              <a:buNone/>
            </a:pPr>
            <a:r>
              <a:rPr lang="nl-NL" sz="1100"/>
              <a:t>9.15 am - 10.00am	Introduction to R: An overview</a:t>
            </a:r>
            <a:endParaRPr sz="1100"/>
          </a:p>
          <a:p>
            <a:pPr marL="0" lvl="0" indent="0" algn="l" rtl="0">
              <a:lnSpc>
                <a:spcPct val="115000"/>
              </a:lnSpc>
              <a:spcBef>
                <a:spcPts val="0"/>
              </a:spcBef>
              <a:spcAft>
                <a:spcPts val="0"/>
              </a:spcAft>
              <a:buClr>
                <a:schemeClr val="dk1"/>
              </a:buClr>
              <a:buSzPts val="1100"/>
              <a:buFont typeface="Arial"/>
              <a:buNone/>
            </a:pPr>
            <a:r>
              <a:rPr lang="nl-NL" sz="1100"/>
              <a:t>		Graphical Interface</a:t>
            </a:r>
            <a:endParaRPr sz="1100"/>
          </a:p>
          <a:p>
            <a:pPr marL="0" lvl="0" indent="0" algn="l" rtl="0">
              <a:lnSpc>
                <a:spcPct val="115000"/>
              </a:lnSpc>
              <a:spcBef>
                <a:spcPts val="0"/>
              </a:spcBef>
              <a:spcAft>
                <a:spcPts val="0"/>
              </a:spcAft>
              <a:buClr>
                <a:schemeClr val="dk1"/>
              </a:buClr>
              <a:buSzPts val="1100"/>
              <a:buFont typeface="Arial"/>
              <a:buNone/>
            </a:pPr>
            <a:r>
              <a:rPr lang="nl-NL" sz="1100"/>
              <a:t>		Getting help</a:t>
            </a:r>
            <a:endParaRPr sz="1100"/>
          </a:p>
          <a:p>
            <a:pPr marL="0" lvl="0" indent="0" algn="l" rtl="0">
              <a:lnSpc>
                <a:spcPct val="115000"/>
              </a:lnSpc>
              <a:spcBef>
                <a:spcPts val="0"/>
              </a:spcBef>
              <a:spcAft>
                <a:spcPts val="0"/>
              </a:spcAft>
              <a:buClr>
                <a:schemeClr val="dk1"/>
              </a:buClr>
              <a:buSzPts val="1100"/>
              <a:buFont typeface="Arial"/>
              <a:buNone/>
            </a:pPr>
            <a:r>
              <a:rPr lang="nl-NL" sz="1100"/>
              <a:t>		Libraries</a:t>
            </a:r>
            <a:endParaRPr sz="1100"/>
          </a:p>
          <a:p>
            <a:pPr marL="0" lvl="0" indent="0" algn="l" rtl="0">
              <a:lnSpc>
                <a:spcPct val="115000"/>
              </a:lnSpc>
              <a:spcBef>
                <a:spcPts val="0"/>
              </a:spcBef>
              <a:spcAft>
                <a:spcPts val="0"/>
              </a:spcAft>
              <a:buClr>
                <a:schemeClr val="dk1"/>
              </a:buClr>
              <a:buSzPts val="1100"/>
              <a:buFont typeface="Arial"/>
              <a:buNone/>
            </a:pPr>
            <a:r>
              <a:rPr lang="nl-NL" sz="1100"/>
              <a:t>		Simple operations</a:t>
            </a:r>
            <a:endParaRPr sz="1100"/>
          </a:p>
          <a:p>
            <a:pPr marL="0" lvl="0" indent="0" algn="l" rtl="0">
              <a:lnSpc>
                <a:spcPct val="115000"/>
              </a:lnSpc>
              <a:spcBef>
                <a:spcPts val="0"/>
              </a:spcBef>
              <a:spcAft>
                <a:spcPts val="0"/>
              </a:spcAft>
              <a:buClr>
                <a:schemeClr val="dk1"/>
              </a:buClr>
              <a:buSzPts val="1100"/>
              <a:buFont typeface="Arial"/>
              <a:buNone/>
            </a:pPr>
            <a:r>
              <a:rPr lang="nl-NL" sz="1100"/>
              <a:t>10.00am - 10.45am 	Mathematics and statistics in R</a:t>
            </a:r>
            <a:endParaRPr sz="1100"/>
          </a:p>
          <a:p>
            <a:pPr marL="0" lvl="0" indent="0" algn="l" rtl="0">
              <a:lnSpc>
                <a:spcPct val="115000"/>
              </a:lnSpc>
              <a:spcBef>
                <a:spcPts val="0"/>
              </a:spcBef>
              <a:spcAft>
                <a:spcPts val="0"/>
              </a:spcAft>
              <a:buClr>
                <a:schemeClr val="dk1"/>
              </a:buClr>
              <a:buSzPts val="1100"/>
              <a:buFont typeface="Arial"/>
              <a:buNone/>
            </a:pPr>
            <a:r>
              <a:rPr lang="nl-NL" sz="1100"/>
              <a:t>		Assigning values </a:t>
            </a:r>
            <a:endParaRPr sz="1100"/>
          </a:p>
          <a:p>
            <a:pPr marL="0" lvl="0" indent="0" algn="l" rtl="0">
              <a:lnSpc>
                <a:spcPct val="115000"/>
              </a:lnSpc>
              <a:spcBef>
                <a:spcPts val="0"/>
              </a:spcBef>
              <a:spcAft>
                <a:spcPts val="0"/>
              </a:spcAft>
              <a:buClr>
                <a:schemeClr val="dk1"/>
              </a:buClr>
              <a:buSzPts val="1100"/>
              <a:buFont typeface="Arial"/>
              <a:buNone/>
            </a:pPr>
            <a:r>
              <a:rPr lang="nl-NL" sz="1100"/>
              <a:t>		Elements vectors and matrices</a:t>
            </a:r>
            <a:endParaRPr sz="1100"/>
          </a:p>
          <a:p>
            <a:pPr marL="0" lvl="0" indent="0" algn="l" rtl="0">
              <a:lnSpc>
                <a:spcPct val="115000"/>
              </a:lnSpc>
              <a:spcBef>
                <a:spcPts val="0"/>
              </a:spcBef>
              <a:spcAft>
                <a:spcPts val="0"/>
              </a:spcAft>
              <a:buClr>
                <a:schemeClr val="dk1"/>
              </a:buClr>
              <a:buSzPts val="1100"/>
              <a:buFont typeface="Arial"/>
              <a:buNone/>
            </a:pPr>
            <a:r>
              <a:rPr lang="nl-NL" sz="1100"/>
              <a:t>		Vector and matrix operations</a:t>
            </a:r>
            <a:endParaRPr sz="1100"/>
          </a:p>
          <a:p>
            <a:pPr marL="0" lvl="0" indent="0" algn="l" rtl="0">
              <a:lnSpc>
                <a:spcPct val="115000"/>
              </a:lnSpc>
              <a:spcBef>
                <a:spcPts val="0"/>
              </a:spcBef>
              <a:spcAft>
                <a:spcPts val="0"/>
              </a:spcAft>
              <a:buClr>
                <a:schemeClr val="dk1"/>
              </a:buClr>
              <a:buSzPts val="1100"/>
              <a:buFont typeface="Arial"/>
              <a:buNone/>
            </a:pPr>
            <a:r>
              <a:rPr lang="nl-NL" sz="1100"/>
              <a:t>		Distributions</a:t>
            </a:r>
            <a:endParaRPr sz="1100"/>
          </a:p>
          <a:p>
            <a:pPr marL="0" lvl="0" indent="0" algn="l" rtl="0">
              <a:lnSpc>
                <a:spcPct val="115000"/>
              </a:lnSpc>
              <a:spcBef>
                <a:spcPts val="0"/>
              </a:spcBef>
              <a:spcAft>
                <a:spcPts val="0"/>
              </a:spcAft>
              <a:buClr>
                <a:schemeClr val="dk1"/>
              </a:buClr>
              <a:buSzPts val="1100"/>
              <a:buFont typeface="Arial"/>
              <a:buNone/>
            </a:pPr>
            <a:r>
              <a:rPr lang="nl-NL" sz="1100"/>
              <a:t>10.45am - 11.00am 	Coffee break</a:t>
            </a:r>
            <a:endParaRPr sz="1100"/>
          </a:p>
          <a:p>
            <a:pPr marL="0" lvl="0" indent="0" algn="l" rtl="0">
              <a:lnSpc>
                <a:spcPct val="115000"/>
              </a:lnSpc>
              <a:spcBef>
                <a:spcPts val="0"/>
              </a:spcBef>
              <a:spcAft>
                <a:spcPts val="0"/>
              </a:spcAft>
              <a:buClr>
                <a:schemeClr val="dk1"/>
              </a:buClr>
              <a:buSzPts val="1100"/>
              <a:buFont typeface="Arial"/>
              <a:buNone/>
            </a:pPr>
            <a:r>
              <a:rPr lang="nl-NL" sz="1100"/>
              <a:t>11.00am - 12.00pm	Data manipulation and data handling </a:t>
            </a:r>
            <a:endParaRPr sz="1100"/>
          </a:p>
          <a:p>
            <a:pPr marL="0" lvl="0" indent="0" algn="l" rtl="0">
              <a:lnSpc>
                <a:spcPct val="115000"/>
              </a:lnSpc>
              <a:spcBef>
                <a:spcPts val="0"/>
              </a:spcBef>
              <a:spcAft>
                <a:spcPts val="0"/>
              </a:spcAft>
              <a:buClr>
                <a:schemeClr val="dk1"/>
              </a:buClr>
              <a:buSzPts val="1100"/>
              <a:buFont typeface="Arial"/>
              <a:buNone/>
            </a:pPr>
            <a:r>
              <a:rPr lang="nl-NL" sz="1100"/>
              <a:t>		Data input output</a:t>
            </a:r>
            <a:endParaRPr sz="1100"/>
          </a:p>
          <a:p>
            <a:pPr marL="0" lvl="0" indent="0" algn="l" rtl="0">
              <a:lnSpc>
                <a:spcPct val="115000"/>
              </a:lnSpc>
              <a:spcBef>
                <a:spcPts val="0"/>
              </a:spcBef>
              <a:spcAft>
                <a:spcPts val="0"/>
              </a:spcAft>
              <a:buClr>
                <a:schemeClr val="dk1"/>
              </a:buClr>
              <a:buSzPts val="1100"/>
              <a:buFont typeface="Arial"/>
              <a:buNone/>
            </a:pPr>
            <a:r>
              <a:rPr lang="nl-NL" sz="1100"/>
              <a:t>		Data selection</a:t>
            </a:r>
            <a:endParaRPr sz="1100"/>
          </a:p>
          <a:p>
            <a:pPr marL="0" lvl="0" indent="0" algn="l" rtl="0">
              <a:lnSpc>
                <a:spcPct val="115000"/>
              </a:lnSpc>
              <a:spcBef>
                <a:spcPts val="0"/>
              </a:spcBef>
              <a:spcAft>
                <a:spcPts val="0"/>
              </a:spcAft>
              <a:buClr>
                <a:schemeClr val="dk1"/>
              </a:buClr>
              <a:buSzPts val="1100"/>
              <a:buFont typeface="Arial"/>
              <a:buNone/>
            </a:pPr>
            <a:r>
              <a:rPr lang="nl-NL" sz="1100"/>
              <a:t>		Replacing data </a:t>
            </a:r>
            <a:endParaRPr sz="1100"/>
          </a:p>
          <a:p>
            <a:pPr marL="0" lvl="0" indent="0" algn="l" rtl="0">
              <a:lnSpc>
                <a:spcPct val="115000"/>
              </a:lnSpc>
              <a:spcBef>
                <a:spcPts val="0"/>
              </a:spcBef>
              <a:spcAft>
                <a:spcPts val="0"/>
              </a:spcAft>
              <a:buClr>
                <a:schemeClr val="dk1"/>
              </a:buClr>
              <a:buSzPts val="1100"/>
              <a:buFont typeface="Arial"/>
              <a:buNone/>
            </a:pPr>
            <a:r>
              <a:rPr lang="nl-NL" sz="1100"/>
              <a:t>		Converting variables with logical expressions	</a:t>
            </a:r>
            <a:endParaRPr sz="1100"/>
          </a:p>
          <a:p>
            <a:pPr marL="0" lvl="0" indent="0" algn="l" rtl="0">
              <a:lnSpc>
                <a:spcPct val="115000"/>
              </a:lnSpc>
              <a:spcBef>
                <a:spcPts val="0"/>
              </a:spcBef>
              <a:spcAft>
                <a:spcPts val="0"/>
              </a:spcAft>
              <a:buClr>
                <a:schemeClr val="dk1"/>
              </a:buClr>
              <a:buSzPts val="1100"/>
              <a:buFont typeface="Arial"/>
              <a:buNone/>
            </a:pPr>
            <a:r>
              <a:rPr lang="nl-NL" sz="1100"/>
              <a:t>12.00pm - 1.00pm	Lunch Break</a:t>
            </a:r>
            <a:endParaRPr sz="1100"/>
          </a:p>
          <a:p>
            <a:pPr marL="0" lvl="0" indent="0" algn="l" rtl="0">
              <a:lnSpc>
                <a:spcPct val="115000"/>
              </a:lnSpc>
              <a:spcBef>
                <a:spcPts val="0"/>
              </a:spcBef>
              <a:spcAft>
                <a:spcPts val="0"/>
              </a:spcAft>
              <a:buClr>
                <a:schemeClr val="dk1"/>
              </a:buClr>
              <a:buSzPts val="1100"/>
              <a:buFont typeface="Arial"/>
              <a:buNone/>
            </a:pPr>
            <a:r>
              <a:rPr lang="nl-NL" sz="1100"/>
              <a:t>1.00pm - 1.45pm	Plotting in R</a:t>
            </a:r>
            <a:endParaRPr sz="1100"/>
          </a:p>
          <a:p>
            <a:pPr marL="0" lvl="0" indent="0" algn="l" rtl="0">
              <a:lnSpc>
                <a:spcPct val="115000"/>
              </a:lnSpc>
              <a:spcBef>
                <a:spcPts val="0"/>
              </a:spcBef>
              <a:spcAft>
                <a:spcPts val="0"/>
              </a:spcAft>
              <a:buClr>
                <a:schemeClr val="dk1"/>
              </a:buClr>
              <a:buSzPts val="1100"/>
              <a:buFont typeface="Arial"/>
              <a:buNone/>
            </a:pPr>
            <a:r>
              <a:rPr lang="nl-NL" sz="1100"/>
              <a:t>		Scatterplots</a:t>
            </a:r>
            <a:endParaRPr sz="1100"/>
          </a:p>
          <a:p>
            <a:pPr marL="0" lvl="0" indent="0" algn="l" rtl="0">
              <a:lnSpc>
                <a:spcPct val="115000"/>
              </a:lnSpc>
              <a:spcBef>
                <a:spcPts val="0"/>
              </a:spcBef>
              <a:spcAft>
                <a:spcPts val="0"/>
              </a:spcAft>
              <a:buClr>
                <a:schemeClr val="dk1"/>
              </a:buClr>
              <a:buSzPts val="1100"/>
              <a:buFont typeface="Arial"/>
              <a:buNone/>
            </a:pPr>
            <a:r>
              <a:rPr lang="nl-NL" sz="1100"/>
              <a:t>		Bar Plots</a:t>
            </a:r>
            <a:endParaRPr sz="1100"/>
          </a:p>
          <a:p>
            <a:pPr marL="0" lvl="0" indent="0" algn="l" rtl="0">
              <a:lnSpc>
                <a:spcPct val="115000"/>
              </a:lnSpc>
              <a:spcBef>
                <a:spcPts val="0"/>
              </a:spcBef>
              <a:spcAft>
                <a:spcPts val="0"/>
              </a:spcAft>
              <a:buClr>
                <a:schemeClr val="dk1"/>
              </a:buClr>
              <a:buSzPts val="1100"/>
              <a:buFont typeface="Arial"/>
              <a:buNone/>
            </a:pPr>
            <a:r>
              <a:rPr lang="nl-NL" sz="1100"/>
              <a:t> 		Histograms</a:t>
            </a:r>
            <a:endParaRPr sz="1100"/>
          </a:p>
          <a:p>
            <a:pPr marL="0" lvl="0" indent="0" algn="l" rtl="0">
              <a:lnSpc>
                <a:spcPct val="115000"/>
              </a:lnSpc>
              <a:spcBef>
                <a:spcPts val="0"/>
              </a:spcBef>
              <a:spcAft>
                <a:spcPts val="0"/>
              </a:spcAft>
              <a:buClr>
                <a:schemeClr val="dk1"/>
              </a:buClr>
              <a:buSzPts val="1100"/>
              <a:buFont typeface="Arial"/>
              <a:buNone/>
            </a:pPr>
            <a:r>
              <a:rPr lang="nl-NL" sz="1100"/>
              <a:t>		The ggplot package</a:t>
            </a:r>
            <a:endParaRPr sz="1100"/>
          </a:p>
          <a:p>
            <a:pPr marL="0" lvl="0" indent="0" algn="l" rtl="0">
              <a:lnSpc>
                <a:spcPct val="115000"/>
              </a:lnSpc>
              <a:spcBef>
                <a:spcPts val="0"/>
              </a:spcBef>
              <a:spcAft>
                <a:spcPts val="0"/>
              </a:spcAft>
              <a:buClr>
                <a:schemeClr val="dk1"/>
              </a:buClr>
              <a:buSzPts val="1100"/>
              <a:buFont typeface="Arial"/>
              <a:buNone/>
            </a:pPr>
            <a:r>
              <a:rPr lang="nl-NL" sz="1100"/>
              <a:t>1.45pm - 2.30pm	Exercise I &amp; Discussion </a:t>
            </a:r>
            <a:endParaRPr sz="1100"/>
          </a:p>
          <a:p>
            <a:pPr marL="0" lvl="0" indent="0" algn="l" rtl="0">
              <a:lnSpc>
                <a:spcPct val="115000"/>
              </a:lnSpc>
              <a:spcBef>
                <a:spcPts val="0"/>
              </a:spcBef>
              <a:spcAft>
                <a:spcPts val="0"/>
              </a:spcAft>
              <a:buClr>
                <a:schemeClr val="dk1"/>
              </a:buClr>
              <a:buSzPts val="1100"/>
              <a:buFont typeface="Arial"/>
              <a:buNone/>
            </a:pPr>
            <a:r>
              <a:rPr lang="nl-NL" sz="1100"/>
              <a:t>2.30 pm - 2.45pm	Coffee Break</a:t>
            </a:r>
            <a:endParaRPr sz="1100"/>
          </a:p>
          <a:p>
            <a:pPr marL="0" lvl="0" indent="0" algn="l" rtl="0">
              <a:lnSpc>
                <a:spcPct val="115000"/>
              </a:lnSpc>
              <a:spcBef>
                <a:spcPts val="0"/>
              </a:spcBef>
              <a:spcAft>
                <a:spcPts val="0"/>
              </a:spcAft>
              <a:buClr>
                <a:schemeClr val="dk1"/>
              </a:buClr>
              <a:buSzPts val="1100"/>
              <a:buFont typeface="Arial"/>
              <a:buNone/>
            </a:pPr>
            <a:r>
              <a:rPr lang="nl-NL" sz="1100"/>
              <a:t>2.45pm - 3.15pm             Statistical analysis in R</a:t>
            </a:r>
            <a:endParaRPr sz="1100"/>
          </a:p>
          <a:p>
            <a:pPr marL="0" lvl="0" indent="0" algn="l" rtl="0">
              <a:lnSpc>
                <a:spcPct val="115000"/>
              </a:lnSpc>
              <a:spcBef>
                <a:spcPts val="0"/>
              </a:spcBef>
              <a:spcAft>
                <a:spcPts val="0"/>
              </a:spcAft>
              <a:buClr>
                <a:schemeClr val="dk1"/>
              </a:buClr>
              <a:buSzPts val="1100"/>
              <a:buFont typeface="Arial"/>
              <a:buNone/>
            </a:pPr>
            <a:r>
              <a:rPr lang="nl-NL" sz="1100"/>
              <a:t>		Mean, variance, correlations</a:t>
            </a:r>
            <a:endParaRPr sz="1100"/>
          </a:p>
          <a:p>
            <a:pPr marL="0" lvl="0" indent="0" algn="l" rtl="0">
              <a:lnSpc>
                <a:spcPct val="115000"/>
              </a:lnSpc>
              <a:spcBef>
                <a:spcPts val="0"/>
              </a:spcBef>
              <a:spcAft>
                <a:spcPts val="0"/>
              </a:spcAft>
              <a:buClr>
                <a:schemeClr val="dk1"/>
              </a:buClr>
              <a:buSzPts val="1100"/>
              <a:buFont typeface="Arial"/>
              <a:buNone/>
            </a:pPr>
            <a:r>
              <a:rPr lang="nl-NL" sz="1100"/>
              <a:t>		Linear (multiple) regression</a:t>
            </a:r>
            <a:endParaRPr sz="1100"/>
          </a:p>
          <a:p>
            <a:pPr marL="0" lvl="0" indent="0" algn="l" rtl="0">
              <a:lnSpc>
                <a:spcPct val="115000"/>
              </a:lnSpc>
              <a:spcBef>
                <a:spcPts val="0"/>
              </a:spcBef>
              <a:spcAft>
                <a:spcPts val="0"/>
              </a:spcAft>
              <a:buClr>
                <a:schemeClr val="dk1"/>
              </a:buClr>
              <a:buSzPts val="1100"/>
              <a:buFont typeface="Arial"/>
              <a:buNone/>
            </a:pPr>
            <a:r>
              <a:rPr lang="nl-NL" sz="1100"/>
              <a:t>		Regression diagnostics</a:t>
            </a:r>
            <a:endParaRPr sz="1100"/>
          </a:p>
          <a:p>
            <a:pPr marL="0" lvl="0" indent="0" algn="l" rtl="0">
              <a:lnSpc>
                <a:spcPct val="115000"/>
              </a:lnSpc>
              <a:spcBef>
                <a:spcPts val="0"/>
              </a:spcBef>
              <a:spcAft>
                <a:spcPts val="0"/>
              </a:spcAft>
              <a:buClr>
                <a:schemeClr val="dk1"/>
              </a:buClr>
              <a:buSzPts val="1100"/>
              <a:buFont typeface="Arial"/>
              <a:buNone/>
            </a:pPr>
            <a:r>
              <a:rPr lang="nl-NL" sz="1100"/>
              <a:t>		Exercise II &amp; Discussion</a:t>
            </a:r>
            <a:endParaRPr sz="1100"/>
          </a:p>
          <a:p>
            <a:pPr marL="0" lvl="0" indent="0" algn="l" rtl="0">
              <a:lnSpc>
                <a:spcPct val="115000"/>
              </a:lnSpc>
              <a:spcBef>
                <a:spcPts val="0"/>
              </a:spcBef>
              <a:spcAft>
                <a:spcPts val="0"/>
              </a:spcAft>
              <a:buClr>
                <a:schemeClr val="dk1"/>
              </a:buClr>
              <a:buSzPts val="1100"/>
              <a:buFont typeface="Arial"/>
              <a:buNone/>
            </a:pPr>
            <a:r>
              <a:rPr lang="nl-NL" sz="1100"/>
              <a:t>3.15pm - 4.15pm	Advanced data handling in R</a:t>
            </a:r>
            <a:endParaRPr sz="1100"/>
          </a:p>
          <a:p>
            <a:pPr marL="0" lvl="0" indent="0" algn="l" rtl="0">
              <a:lnSpc>
                <a:spcPct val="115000"/>
              </a:lnSpc>
              <a:spcBef>
                <a:spcPts val="0"/>
              </a:spcBef>
              <a:spcAft>
                <a:spcPts val="0"/>
              </a:spcAft>
              <a:buClr>
                <a:schemeClr val="dk1"/>
              </a:buClr>
              <a:buSzPts val="1100"/>
              <a:buFont typeface="Arial"/>
              <a:buNone/>
            </a:pPr>
            <a:r>
              <a:rPr lang="nl-NL" sz="1100"/>
              <a:t>		The dplyr package</a:t>
            </a:r>
            <a:endParaRPr sz="1100"/>
          </a:p>
          <a:p>
            <a:pPr marL="0" lvl="0" indent="0" algn="l" rtl="0">
              <a:lnSpc>
                <a:spcPct val="115000"/>
              </a:lnSpc>
              <a:spcBef>
                <a:spcPts val="0"/>
              </a:spcBef>
              <a:spcAft>
                <a:spcPts val="0"/>
              </a:spcAft>
              <a:buClr>
                <a:schemeClr val="dk1"/>
              </a:buClr>
              <a:buSzPts val="1100"/>
              <a:buFont typeface="Arial"/>
              <a:buNone/>
            </a:pPr>
            <a:r>
              <a:rPr lang="nl-NL" sz="1100"/>
              <a:t>4.15pm - 5.00pm	Logical expressions and random sampling in R</a:t>
            </a:r>
            <a:endParaRPr sz="1100"/>
          </a:p>
          <a:p>
            <a:pPr marL="0" lvl="0" indent="0" algn="l" rtl="0">
              <a:lnSpc>
                <a:spcPct val="115000"/>
              </a:lnSpc>
              <a:spcBef>
                <a:spcPts val="0"/>
              </a:spcBef>
              <a:spcAft>
                <a:spcPts val="0"/>
              </a:spcAft>
              <a:buClr>
                <a:schemeClr val="dk1"/>
              </a:buClr>
              <a:buSzPts val="1100"/>
              <a:buFont typeface="Arial"/>
              <a:buNone/>
            </a:pPr>
            <a:r>
              <a:rPr lang="nl-NL" sz="1100"/>
              <a:t>		Logical expressions </a:t>
            </a:r>
            <a:endParaRPr sz="1100"/>
          </a:p>
          <a:p>
            <a:pPr marL="0" lvl="0" indent="0" algn="l" rtl="0">
              <a:lnSpc>
                <a:spcPct val="115000"/>
              </a:lnSpc>
              <a:spcBef>
                <a:spcPts val="0"/>
              </a:spcBef>
              <a:spcAft>
                <a:spcPts val="0"/>
              </a:spcAft>
              <a:buClr>
                <a:schemeClr val="dk1"/>
              </a:buClr>
              <a:buSzPts val="1100"/>
              <a:buFont typeface="Arial"/>
              <a:buNone/>
            </a:pPr>
            <a:r>
              <a:rPr lang="nl-NL" sz="1100"/>
              <a:t>		Iterative processes </a:t>
            </a:r>
            <a:endParaRPr sz="1100"/>
          </a:p>
          <a:p>
            <a:pPr marL="0" lvl="0" indent="0" algn="l" rtl="0">
              <a:lnSpc>
                <a:spcPct val="115000"/>
              </a:lnSpc>
              <a:spcBef>
                <a:spcPts val="0"/>
              </a:spcBef>
              <a:spcAft>
                <a:spcPts val="0"/>
              </a:spcAft>
              <a:buClr>
                <a:schemeClr val="dk1"/>
              </a:buClr>
              <a:buSzPts val="1100"/>
              <a:buFont typeface="Arial"/>
              <a:buNone/>
            </a:pPr>
            <a:r>
              <a:rPr lang="nl-NL" sz="1100"/>
              <a:t>		Vectorization	</a:t>
            </a:r>
            <a:endParaRPr sz="1100"/>
          </a:p>
          <a:p>
            <a:pPr marL="0" lvl="0" indent="0" algn="l" rtl="0">
              <a:lnSpc>
                <a:spcPct val="115000"/>
              </a:lnSpc>
              <a:spcBef>
                <a:spcPts val="0"/>
              </a:spcBef>
              <a:spcAft>
                <a:spcPts val="0"/>
              </a:spcAft>
              <a:buClr>
                <a:schemeClr val="dk1"/>
              </a:buClr>
              <a:buSzPts val="1100"/>
              <a:buFont typeface="Arial"/>
              <a:buNone/>
            </a:pPr>
            <a:r>
              <a:rPr lang="nl-NL" sz="1100"/>
              <a:t>		Random sampling in R</a:t>
            </a:r>
            <a:endParaRPr sz="1100"/>
          </a:p>
          <a:p>
            <a:pPr marL="0" lvl="0" indent="0" algn="l" rtl="0">
              <a:lnSpc>
                <a:spcPct val="115000"/>
              </a:lnSpc>
              <a:spcBef>
                <a:spcPts val="0"/>
              </a:spcBef>
              <a:spcAft>
                <a:spcPts val="0"/>
              </a:spcAft>
              <a:buClr>
                <a:schemeClr val="dk1"/>
              </a:buClr>
              <a:buSzPts val="1100"/>
              <a:buFont typeface="Arial"/>
              <a:buNone/>
            </a:pPr>
            <a:r>
              <a:rPr lang="nl-NL" sz="1100"/>
              <a:t>				Exercise III &amp; Discussion</a:t>
            </a:r>
            <a:endParaRPr sz="1100"/>
          </a:p>
          <a:p>
            <a:pPr marL="0" lvl="0" indent="0" algn="l" rtl="0">
              <a:spcBef>
                <a:spcPts val="1000"/>
              </a:spcBef>
              <a:spcAft>
                <a:spcPts val="0"/>
              </a:spcAft>
              <a:buNone/>
            </a:pPr>
            <a:endParaRPr sz="900">
              <a:solidFill>
                <a:srgbClr val="002327"/>
              </a:solidFill>
              <a:latin typeface="Arial"/>
              <a:ea typeface="Arial"/>
              <a:cs typeface="Arial"/>
              <a:sym typeface="Arial"/>
            </a:endParaRPr>
          </a:p>
          <a:p>
            <a:pPr marL="0" lvl="0" indent="0" algn="l" rtl="0">
              <a:spcBef>
                <a:spcPts val="0"/>
              </a:spcBef>
              <a:spcAft>
                <a:spcPts val="0"/>
              </a:spcAft>
              <a:buNone/>
            </a:pPr>
            <a:endParaRPr sz="1400"/>
          </a:p>
        </p:txBody>
      </p:sp>
      <p:sp>
        <p:nvSpPr>
          <p:cNvPr id="1197" name="Google Shape;1197;g4b9d4685eb_0_23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nl-NL"/>
              <a:t>6</a:t>
            </a:fld>
            <a:endParaRPr/>
          </a:p>
        </p:txBody>
      </p:sp>
    </p:spTree>
    <p:extLst>
      <p:ext uri="{BB962C8B-B14F-4D97-AF65-F5344CB8AC3E}">
        <p14:creationId xmlns:p14="http://schemas.microsoft.com/office/powerpoint/2010/main" val="701840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4e1cb93c6e_0_7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342900" lvl="0" indent="-88900" algn="l" rtl="0">
              <a:spcBef>
                <a:spcPts val="440"/>
              </a:spcBef>
              <a:spcAft>
                <a:spcPts val="0"/>
              </a:spcAft>
              <a:buClr>
                <a:schemeClr val="dk1"/>
              </a:buClr>
              <a:buSzPts val="1100"/>
              <a:buFont typeface="Arial"/>
              <a:buNone/>
            </a:pPr>
            <a:r>
              <a:rPr lang="nl-NL" sz="1200">
                <a:solidFill>
                  <a:schemeClr val="dk1"/>
                </a:solidFill>
                <a:latin typeface="Verdana"/>
                <a:ea typeface="Verdana"/>
                <a:cs typeface="Verdana"/>
                <a:sym typeface="Verdana"/>
              </a:rPr>
              <a:t>Three main approaches </a:t>
            </a:r>
            <a:endParaRPr sz="1200">
              <a:solidFill>
                <a:schemeClr val="dk1"/>
              </a:solidFill>
              <a:latin typeface="Verdana"/>
              <a:ea typeface="Verdana"/>
              <a:cs typeface="Verdana"/>
              <a:sym typeface="Verdana"/>
            </a:endParaRPr>
          </a:p>
          <a:p>
            <a:pPr marL="457200" lvl="0" indent="-304800" algn="l" rtl="0">
              <a:spcBef>
                <a:spcPts val="440"/>
              </a:spcBef>
              <a:spcAft>
                <a:spcPts val="0"/>
              </a:spcAft>
              <a:buClr>
                <a:srgbClr val="009999"/>
              </a:buClr>
              <a:buSzPts val="1200"/>
              <a:buChar char="•"/>
            </a:pPr>
            <a:r>
              <a:rPr lang="nl-NL" sz="1200">
                <a:solidFill>
                  <a:schemeClr val="dk1"/>
                </a:solidFill>
                <a:latin typeface="Verdana"/>
                <a:ea typeface="Verdana"/>
                <a:cs typeface="Verdana"/>
                <a:sym typeface="Verdana"/>
              </a:rPr>
              <a:t>Specialized decision modeling software</a:t>
            </a:r>
            <a:endParaRPr sz="1200">
              <a:solidFill>
                <a:schemeClr val="dk1"/>
              </a:solidFill>
              <a:latin typeface="Verdana"/>
              <a:ea typeface="Verdana"/>
              <a:cs typeface="Verdana"/>
              <a:sym typeface="Verdana"/>
            </a:endParaRPr>
          </a:p>
          <a:p>
            <a:pPr marL="914400" lvl="1" indent="-304800" algn="l" rtl="0">
              <a:spcBef>
                <a:spcPts val="0"/>
              </a:spcBef>
              <a:spcAft>
                <a:spcPts val="0"/>
              </a:spcAft>
              <a:buClr>
                <a:srgbClr val="64B636"/>
              </a:buClr>
              <a:buSzPts val="1200"/>
              <a:buChar char="•"/>
            </a:pPr>
            <a:r>
              <a:rPr lang="nl-NL" sz="1200">
                <a:solidFill>
                  <a:schemeClr val="dk1"/>
                </a:solidFill>
                <a:latin typeface="Verdana"/>
                <a:ea typeface="Verdana"/>
                <a:cs typeface="Verdana"/>
                <a:sym typeface="Verdana"/>
              </a:rPr>
              <a:t>TreeAge, Data, Crystal8, Arena etc.</a:t>
            </a:r>
            <a:endParaRPr sz="1200">
              <a:solidFill>
                <a:schemeClr val="dk1"/>
              </a:solidFill>
              <a:latin typeface="Verdana"/>
              <a:ea typeface="Verdana"/>
              <a:cs typeface="Verdana"/>
              <a:sym typeface="Verdana"/>
            </a:endParaRPr>
          </a:p>
          <a:p>
            <a:pPr marL="457200" lvl="0" indent="-304800" algn="l" rtl="0">
              <a:spcBef>
                <a:spcPts val="0"/>
              </a:spcBef>
              <a:spcAft>
                <a:spcPts val="0"/>
              </a:spcAft>
              <a:buClr>
                <a:srgbClr val="009999"/>
              </a:buClr>
              <a:buSzPts val="1200"/>
              <a:buChar char="•"/>
            </a:pPr>
            <a:r>
              <a:rPr lang="nl-NL" sz="1200">
                <a:solidFill>
                  <a:schemeClr val="dk1"/>
                </a:solidFill>
                <a:latin typeface="Verdana"/>
                <a:ea typeface="Verdana"/>
                <a:cs typeface="Verdana"/>
                <a:sym typeface="Verdana"/>
              </a:rPr>
              <a:t>Spreadsheet software</a:t>
            </a:r>
            <a:endParaRPr sz="1200">
              <a:solidFill>
                <a:schemeClr val="dk1"/>
              </a:solidFill>
              <a:latin typeface="Verdana"/>
              <a:ea typeface="Verdana"/>
              <a:cs typeface="Verdana"/>
              <a:sym typeface="Verdana"/>
            </a:endParaRPr>
          </a:p>
          <a:p>
            <a:pPr marL="914400" lvl="1" indent="-304800" algn="l" rtl="0">
              <a:spcBef>
                <a:spcPts val="0"/>
              </a:spcBef>
              <a:spcAft>
                <a:spcPts val="0"/>
              </a:spcAft>
              <a:buClr>
                <a:srgbClr val="64B636"/>
              </a:buClr>
              <a:buSzPts val="1200"/>
              <a:buChar char="•"/>
            </a:pPr>
            <a:r>
              <a:rPr lang="nl-NL" sz="1200">
                <a:solidFill>
                  <a:schemeClr val="dk1"/>
                </a:solidFill>
                <a:latin typeface="Verdana"/>
                <a:ea typeface="Verdana"/>
                <a:cs typeface="Verdana"/>
                <a:sym typeface="Verdana"/>
              </a:rPr>
              <a:t>Microsoft Excel, Open/Libre Office</a:t>
            </a:r>
            <a:endParaRPr sz="1200">
              <a:solidFill>
                <a:schemeClr val="dk1"/>
              </a:solidFill>
              <a:latin typeface="Verdana"/>
              <a:ea typeface="Verdana"/>
              <a:cs typeface="Verdana"/>
              <a:sym typeface="Verdana"/>
            </a:endParaRPr>
          </a:p>
          <a:p>
            <a:pPr marL="457200" lvl="0" indent="-304800" algn="l" rtl="0">
              <a:spcBef>
                <a:spcPts val="0"/>
              </a:spcBef>
              <a:spcAft>
                <a:spcPts val="0"/>
              </a:spcAft>
              <a:buClr>
                <a:srgbClr val="009999"/>
              </a:buClr>
              <a:buSzPts val="1200"/>
              <a:buChar char="•"/>
            </a:pPr>
            <a:r>
              <a:rPr lang="nl-NL" sz="1200">
                <a:solidFill>
                  <a:schemeClr val="dk1"/>
                </a:solidFill>
                <a:latin typeface="Verdana"/>
                <a:ea typeface="Verdana"/>
                <a:cs typeface="Verdana"/>
                <a:sym typeface="Verdana"/>
              </a:rPr>
              <a:t>Statistical/ Computer programing software</a:t>
            </a:r>
            <a:endParaRPr sz="1200">
              <a:solidFill>
                <a:schemeClr val="dk1"/>
              </a:solidFill>
              <a:latin typeface="Verdana"/>
              <a:ea typeface="Verdana"/>
              <a:cs typeface="Verdana"/>
              <a:sym typeface="Verdana"/>
            </a:endParaRPr>
          </a:p>
          <a:p>
            <a:pPr marL="914400" lvl="1" indent="-304800" algn="l" rtl="0">
              <a:spcBef>
                <a:spcPts val="0"/>
              </a:spcBef>
              <a:spcAft>
                <a:spcPts val="0"/>
              </a:spcAft>
              <a:buClr>
                <a:srgbClr val="64B636"/>
              </a:buClr>
              <a:buSzPts val="1200"/>
              <a:buChar char="•"/>
            </a:pPr>
            <a:r>
              <a:rPr lang="nl-NL" sz="1200">
                <a:solidFill>
                  <a:schemeClr val="dk1"/>
                </a:solidFill>
                <a:latin typeface="Verdana"/>
                <a:ea typeface="Verdana"/>
                <a:cs typeface="Verdana"/>
                <a:sym typeface="Verdana"/>
              </a:rPr>
              <a:t>Matlab, R, C++, Python, WinBUGS, etc</a:t>
            </a:r>
            <a:endParaRPr sz="1200"/>
          </a:p>
        </p:txBody>
      </p:sp>
      <p:sp>
        <p:nvSpPr>
          <p:cNvPr id="1013" name="Google Shape;1013;g4e1cb93c6e_0_7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938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4e1cb93c6e_0_9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g4e1cb93c6e_0_9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812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err="1">
                <a:solidFill>
                  <a:srgbClr val="000000"/>
                </a:solidFill>
                <a:effectLst/>
                <a:latin typeface=".SF NS"/>
              </a:rPr>
              <a:t>Modeling</a:t>
            </a:r>
            <a:r>
              <a:rPr lang="en-GB" dirty="0">
                <a:solidFill>
                  <a:srgbClr val="000000"/>
                </a:solidFill>
                <a:effectLst/>
                <a:latin typeface=".SF NS"/>
              </a:rPr>
              <a:t> </a:t>
            </a:r>
            <a:r>
              <a:rPr lang="en-GB" dirty="0" err="1">
                <a:solidFill>
                  <a:srgbClr val="000000"/>
                </a:solidFill>
                <a:effectLst/>
                <a:latin typeface=".SF NS"/>
              </a:rPr>
              <a:t>recurreing</a:t>
            </a:r>
            <a:r>
              <a:rPr lang="en-GB" dirty="0">
                <a:solidFill>
                  <a:srgbClr val="000000"/>
                </a:solidFill>
                <a:effectLst/>
                <a:latin typeface=".SF NS"/>
              </a:rPr>
              <a:t> events </a:t>
            </a:r>
          </a:p>
          <a:p>
            <a:endParaRPr lang="en-NL"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solidFill>
                  <a:srgbClr val="000000"/>
                </a:solidFill>
                <a:effectLst/>
                <a:latin typeface=".SF NS"/>
              </a:rPr>
              <a:t>events of time, ongoing risk over time, competing risk, prognosis</a:t>
            </a:r>
          </a:p>
          <a:p>
            <a:endParaRPr lang="en-NL" dirty="0"/>
          </a:p>
        </p:txBody>
      </p:sp>
      <p:sp>
        <p:nvSpPr>
          <p:cNvPr id="4" name="Slide Number Placeholder 3"/>
          <p:cNvSpPr>
            <a:spLocks noGrp="1"/>
          </p:cNvSpPr>
          <p:nvPr>
            <p:ph type="sldNum" sz="quarter" idx="5"/>
          </p:nvPr>
        </p:nvSpPr>
        <p:spPr/>
        <p:txBody>
          <a:bodyPr/>
          <a:lstStyle/>
          <a:p>
            <a:fld id="{6B41B592-CD91-4953-AB19-08737633D8BB}" type="slidenum">
              <a:rPr lang="en-US" smtClean="0"/>
              <a:pPr/>
              <a:t>16</a:t>
            </a:fld>
            <a:endParaRPr lang="en-US"/>
          </a:p>
        </p:txBody>
      </p:sp>
    </p:spTree>
    <p:extLst>
      <p:ext uri="{BB962C8B-B14F-4D97-AF65-F5344CB8AC3E}">
        <p14:creationId xmlns:p14="http://schemas.microsoft.com/office/powerpoint/2010/main" val="1517647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4717-2170-6521-C969-C064B0DA7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A0E74-6468-FCA9-2699-78F546F522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A5D6F-E9D6-28B3-C567-A07A9316038B}"/>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err="1">
                <a:solidFill>
                  <a:srgbClr val="000000"/>
                </a:solidFill>
                <a:effectLst/>
                <a:latin typeface=".SF NS"/>
              </a:rPr>
              <a:t>Modeling</a:t>
            </a:r>
            <a:r>
              <a:rPr lang="en-GB" dirty="0">
                <a:solidFill>
                  <a:srgbClr val="000000"/>
                </a:solidFill>
                <a:effectLst/>
                <a:latin typeface=".SF NS"/>
              </a:rPr>
              <a:t> </a:t>
            </a:r>
            <a:r>
              <a:rPr lang="en-GB" dirty="0" err="1">
                <a:solidFill>
                  <a:srgbClr val="000000"/>
                </a:solidFill>
                <a:effectLst/>
                <a:latin typeface=".SF NS"/>
              </a:rPr>
              <a:t>recurreing</a:t>
            </a:r>
            <a:r>
              <a:rPr lang="en-GB" dirty="0">
                <a:solidFill>
                  <a:srgbClr val="000000"/>
                </a:solidFill>
                <a:effectLst/>
                <a:latin typeface=".SF NS"/>
              </a:rPr>
              <a:t> events </a:t>
            </a:r>
          </a:p>
          <a:p>
            <a:endParaRPr lang="en-NL"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solidFill>
                  <a:srgbClr val="000000"/>
                </a:solidFill>
                <a:effectLst/>
                <a:latin typeface=".SF NS"/>
              </a:rPr>
              <a:t>events of time, ongoing risk over time, competing risk, prognosis</a:t>
            </a:r>
          </a:p>
          <a:p>
            <a:endParaRPr lang="en-NL" dirty="0"/>
          </a:p>
        </p:txBody>
      </p:sp>
      <p:sp>
        <p:nvSpPr>
          <p:cNvPr id="4" name="Slide Number Placeholder 3">
            <a:extLst>
              <a:ext uri="{FF2B5EF4-FFF2-40B4-BE49-F238E27FC236}">
                <a16:creationId xmlns:a16="http://schemas.microsoft.com/office/drawing/2014/main" id="{CC327A41-AB37-1605-5E8E-8B6ED5A76672}"/>
              </a:ext>
            </a:extLst>
          </p:cNvPr>
          <p:cNvSpPr>
            <a:spLocks noGrp="1"/>
          </p:cNvSpPr>
          <p:nvPr>
            <p:ph type="sldNum" sz="quarter" idx="5"/>
          </p:nvPr>
        </p:nvSpPr>
        <p:spPr/>
        <p:txBody>
          <a:bodyPr/>
          <a:lstStyle/>
          <a:p>
            <a:fld id="{6B41B592-CD91-4953-AB19-08737633D8BB}" type="slidenum">
              <a:rPr lang="en-US" smtClean="0"/>
              <a:pPr/>
              <a:t>17</a:t>
            </a:fld>
            <a:endParaRPr lang="en-US"/>
          </a:p>
        </p:txBody>
      </p:sp>
    </p:spTree>
    <p:extLst>
      <p:ext uri="{BB962C8B-B14F-4D97-AF65-F5344CB8AC3E}">
        <p14:creationId xmlns:p14="http://schemas.microsoft.com/office/powerpoint/2010/main" val="3046549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DE4FA-0E7F-35E7-3F73-B12ECBCC0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B606C-8451-2017-5ABB-45AE0F284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D4696-CA9C-23D8-F560-BA4F97CA680B}"/>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err="1">
                <a:solidFill>
                  <a:srgbClr val="000000"/>
                </a:solidFill>
                <a:effectLst/>
                <a:latin typeface=".SF NS"/>
              </a:rPr>
              <a:t>Modeling</a:t>
            </a:r>
            <a:r>
              <a:rPr lang="en-GB" dirty="0">
                <a:solidFill>
                  <a:srgbClr val="000000"/>
                </a:solidFill>
                <a:effectLst/>
                <a:latin typeface=".SF NS"/>
              </a:rPr>
              <a:t> </a:t>
            </a:r>
            <a:r>
              <a:rPr lang="en-GB" dirty="0" err="1">
                <a:solidFill>
                  <a:srgbClr val="000000"/>
                </a:solidFill>
                <a:effectLst/>
                <a:latin typeface=".SF NS"/>
              </a:rPr>
              <a:t>recurreing</a:t>
            </a:r>
            <a:r>
              <a:rPr lang="en-GB" dirty="0">
                <a:solidFill>
                  <a:srgbClr val="000000"/>
                </a:solidFill>
                <a:effectLst/>
                <a:latin typeface=".SF NS"/>
              </a:rPr>
              <a:t> events </a:t>
            </a:r>
          </a:p>
          <a:p>
            <a:endParaRPr lang="en-NL"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solidFill>
                  <a:srgbClr val="000000"/>
                </a:solidFill>
                <a:effectLst/>
                <a:latin typeface=".SF NS"/>
              </a:rPr>
              <a:t>events of time, ongoing risk over time, competing risk, prognosis</a:t>
            </a:r>
          </a:p>
          <a:p>
            <a:endParaRPr lang="en-NL" dirty="0"/>
          </a:p>
        </p:txBody>
      </p:sp>
      <p:sp>
        <p:nvSpPr>
          <p:cNvPr id="4" name="Slide Number Placeholder 3">
            <a:extLst>
              <a:ext uri="{FF2B5EF4-FFF2-40B4-BE49-F238E27FC236}">
                <a16:creationId xmlns:a16="http://schemas.microsoft.com/office/drawing/2014/main" id="{680E92BE-FECA-6DB0-EE8B-93494C9D46D2}"/>
              </a:ext>
            </a:extLst>
          </p:cNvPr>
          <p:cNvSpPr>
            <a:spLocks noGrp="1"/>
          </p:cNvSpPr>
          <p:nvPr>
            <p:ph type="sldNum" sz="quarter" idx="5"/>
          </p:nvPr>
        </p:nvSpPr>
        <p:spPr/>
        <p:txBody>
          <a:bodyPr/>
          <a:lstStyle/>
          <a:p>
            <a:fld id="{6B41B592-CD91-4953-AB19-08737633D8BB}" type="slidenum">
              <a:rPr lang="en-US" smtClean="0"/>
              <a:pPr/>
              <a:t>18</a:t>
            </a:fld>
            <a:endParaRPr lang="en-US"/>
          </a:p>
        </p:txBody>
      </p:sp>
    </p:spTree>
    <p:extLst>
      <p:ext uri="{BB962C8B-B14F-4D97-AF65-F5344CB8AC3E}">
        <p14:creationId xmlns:p14="http://schemas.microsoft.com/office/powerpoint/2010/main" val="1912411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8.gi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bg>
      <p:bgPr>
        <a:solidFill>
          <a:srgbClr val="009999"/>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27584" y="3501008"/>
            <a:ext cx="6461760" cy="1066800"/>
          </a:xfrm>
        </p:spPr>
        <p:txBody>
          <a:bodyPr anchor="t">
            <a:normAutofit/>
          </a:bodyPr>
          <a:lstStyle>
            <a:lvl1pPr marL="0" indent="0" algn="l">
              <a:buNone/>
              <a:defRPr sz="2000">
                <a:solidFill>
                  <a:srgbClr val="FEF8F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5"/>
          <p:cNvSpPr>
            <a:spLocks noGrp="1"/>
          </p:cNvSpPr>
          <p:nvPr>
            <p:ph type="sldNum" sz="quarter" idx="12"/>
          </p:nvPr>
        </p:nvSpPr>
        <p:spPr>
          <a:ln>
            <a:noFill/>
          </a:ln>
        </p:spPr>
        <p:txBody>
          <a:bodyPr/>
          <a:lstStyle/>
          <a:p>
            <a:fld id="{0798D939-2D9E-2142-A80A-FFDECD1E5A9B}" type="slidenum">
              <a:rPr lang="en-US" smtClean="0"/>
              <a:t>‹#›</a:t>
            </a:fld>
            <a:endParaRPr lang="en-US"/>
          </a:p>
        </p:txBody>
      </p:sp>
      <p:sp>
        <p:nvSpPr>
          <p:cNvPr id="8" name="Footer Placeholder 4"/>
          <p:cNvSpPr>
            <a:spLocks noGrp="1"/>
          </p:cNvSpPr>
          <p:nvPr>
            <p:ph type="ftr" sz="quarter" idx="3"/>
          </p:nvPr>
        </p:nvSpPr>
        <p:spPr>
          <a:xfrm>
            <a:off x="649288" y="6453336"/>
            <a:ext cx="4786808" cy="374587"/>
          </a:xfrm>
          <a:prstGeom prst="rect">
            <a:avLst/>
          </a:prstGeom>
          <a:noFill/>
        </p:spPr>
        <p:txBody>
          <a:bodyPr vert="horz" lIns="91440" tIns="45720" rIns="91440" bIns="45720" rtlCol="0" anchor="ctr"/>
          <a:lstStyle>
            <a:lvl1pPr algn="l">
              <a:defRPr sz="1200">
                <a:solidFill>
                  <a:schemeClr val="bg1"/>
                </a:solidFill>
              </a:defRPr>
            </a:lvl1pPr>
          </a:lstStyle>
          <a:p>
            <a:endParaRPr lang="en-US"/>
          </a:p>
        </p:txBody>
      </p:sp>
      <p:sp>
        <p:nvSpPr>
          <p:cNvPr id="11" name="Rectangle 10"/>
          <p:cNvSpPr/>
          <p:nvPr/>
        </p:nvSpPr>
        <p:spPr>
          <a:xfrm>
            <a:off x="1815852" y="764704"/>
            <a:ext cx="7308304" cy="2376264"/>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4D99"/>
              </a:solidFill>
            </a:endParaRPr>
          </a:p>
        </p:txBody>
      </p:sp>
      <p:sp>
        <p:nvSpPr>
          <p:cNvPr id="2" name="Title 1"/>
          <p:cNvSpPr>
            <a:spLocks noGrp="1"/>
          </p:cNvSpPr>
          <p:nvPr>
            <p:ph type="ctrTitle"/>
          </p:nvPr>
        </p:nvSpPr>
        <p:spPr>
          <a:xfrm>
            <a:off x="1815852" y="764704"/>
            <a:ext cx="7357120" cy="2384623"/>
          </a:xfrm>
        </p:spPr>
        <p:txBody>
          <a:bodyPr anchor="b"/>
          <a:lstStyle>
            <a:lvl1pPr>
              <a:defRPr sz="6600">
                <a:ln>
                  <a:noFill/>
                </a:ln>
                <a:solidFill>
                  <a:srgbClr val="004D99"/>
                </a:solidFill>
              </a:defRPr>
            </a:lvl1pPr>
          </a:lstStyle>
          <a:p>
            <a:r>
              <a:rPr lang="en-US"/>
              <a:t>Click to edit Master title style</a:t>
            </a:r>
            <a:endParaRPr lang="en-US" dirty="0"/>
          </a:p>
        </p:txBody>
      </p:sp>
      <p:sp>
        <p:nvSpPr>
          <p:cNvPr id="7" name="TextBox 6"/>
          <p:cNvSpPr txBox="1"/>
          <p:nvPr/>
        </p:nvSpPr>
        <p:spPr>
          <a:xfrm>
            <a:off x="653822" y="5807005"/>
            <a:ext cx="7850043" cy="6463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r>
              <a:rPr lang="en-US" sz="900" b="0" i="0" kern="1200" dirty="0">
                <a:solidFill>
                  <a:schemeClr val="bg1"/>
                </a:solidFill>
                <a:effectLst/>
                <a:latin typeface="+mn-lt"/>
                <a:ea typeface="+mn-ea"/>
                <a:cs typeface="+mn-cs"/>
              </a:rPr>
              <a:t> 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a:t>
            </a:r>
            <a:endParaRPr lang="en-GB" sz="900" dirty="0">
              <a:solidFill>
                <a:schemeClr val="bg1"/>
              </a:solidFill>
            </a:endParaRPr>
          </a:p>
        </p:txBody>
      </p:sp>
    </p:spTree>
    <p:extLst>
      <p:ext uri="{BB962C8B-B14F-4D97-AF65-F5344CB8AC3E}">
        <p14:creationId xmlns:p14="http://schemas.microsoft.com/office/powerpoint/2010/main" val="2391855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nd_First slide">
    <p:bg>
      <p:bgPr>
        <a:solidFill>
          <a:srgbClr val="009999"/>
        </a:solidFill>
        <a:effectLst/>
      </p:bgPr>
    </p:bg>
    <p:spTree>
      <p:nvGrpSpPr>
        <p:cNvPr id="1" name=""/>
        <p:cNvGrpSpPr/>
        <p:nvPr/>
      </p:nvGrpSpPr>
      <p:grpSpPr>
        <a:xfrm>
          <a:off x="0" y="0"/>
          <a:ext cx="0" cy="0"/>
          <a:chOff x="0" y="0"/>
          <a:chExt cx="0" cy="0"/>
        </a:xfrm>
      </p:grpSpPr>
      <p:sp>
        <p:nvSpPr>
          <p:cNvPr id="20" name="Rectangle 19"/>
          <p:cNvSpPr/>
          <p:nvPr/>
        </p:nvSpPr>
        <p:spPr>
          <a:xfrm>
            <a:off x="1835696" y="818458"/>
            <a:ext cx="7308304" cy="576064"/>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nl-NL" sz="2000" b="1" dirty="0">
                <a:solidFill>
                  <a:srgbClr val="004D99"/>
                </a:solidFill>
              </a:rPr>
              <a:t>DARTH Workgroup</a:t>
            </a:r>
            <a:endParaRPr lang="en-GB" sz="2000" b="1" dirty="0">
              <a:solidFill>
                <a:srgbClr val="004D99"/>
              </a:solidFill>
            </a:endParaRPr>
          </a:p>
        </p:txBody>
      </p:sp>
      <p:sp>
        <p:nvSpPr>
          <p:cNvPr id="13"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14" name="Slide Number Placeholder 2"/>
          <p:cNvSpPr>
            <a:spLocks noGrp="1"/>
          </p:cNvSpPr>
          <p:nvPr>
            <p:ph type="sldNum" sz="quarter" idx="11"/>
          </p:nvPr>
        </p:nvSpPr>
        <p:spPr>
          <a:xfrm>
            <a:off x="8559864" y="6453336"/>
            <a:ext cx="548640" cy="396240"/>
          </a:xfrm>
          <a:ln>
            <a:noFill/>
          </a:ln>
        </p:spPr>
        <p:txBody>
          <a:bodyPr/>
          <a:lstStyle>
            <a:lvl1pPr>
              <a:defRPr>
                <a:solidFill>
                  <a:schemeClr val="bg1"/>
                </a:solidFill>
              </a:defRPr>
            </a:lvl1pPr>
          </a:lstStyle>
          <a:p>
            <a:fld id="{0798D939-2D9E-2142-A80A-FFDECD1E5A9B}" type="slidenum">
              <a:rPr lang="en-US" smtClean="0"/>
              <a:t>‹#›</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095106548"/>
              </p:ext>
            </p:extLst>
          </p:nvPr>
        </p:nvGraphicFramePr>
        <p:xfrm>
          <a:off x="1860376" y="1553344"/>
          <a:ext cx="7283624" cy="3291840"/>
        </p:xfrm>
        <a:graphic>
          <a:graphicData uri="http://schemas.openxmlformats.org/drawingml/2006/table">
            <a:tbl>
              <a:tblPr firstRow="1" bandRow="1">
                <a:tableStyleId>{2D5ABB26-0587-4C30-8999-92F81FD0307C}</a:tableStyleId>
              </a:tblPr>
              <a:tblGrid>
                <a:gridCol w="3647728">
                  <a:extLst>
                    <a:ext uri="{9D8B030D-6E8A-4147-A177-3AD203B41FA5}">
                      <a16:colId xmlns:a16="http://schemas.microsoft.com/office/drawing/2014/main" val="20000"/>
                    </a:ext>
                  </a:extLst>
                </a:gridCol>
                <a:gridCol w="3635896">
                  <a:extLst>
                    <a:ext uri="{9D8B030D-6E8A-4147-A177-3AD203B41FA5}">
                      <a16:colId xmlns:a16="http://schemas.microsoft.com/office/drawing/2014/main" val="20001"/>
                    </a:ext>
                  </a:extLst>
                </a:gridCol>
              </a:tblGrid>
              <a:tr h="370840">
                <a:tc>
                  <a:txBody>
                    <a:bodyPr/>
                    <a:lstStyle/>
                    <a:p>
                      <a:r>
                        <a:rPr lang="en-US" sz="1400" b="1" kern="1200" dirty="0">
                          <a:solidFill>
                            <a:srgbClr val="FEF8F3"/>
                          </a:solidFill>
                          <a:effectLst/>
                        </a:rPr>
                        <a:t>Fernando </a:t>
                      </a:r>
                      <a:r>
                        <a:rPr lang="en-US" sz="1400" b="1" kern="1200" dirty="0" err="1">
                          <a:solidFill>
                            <a:srgbClr val="FEF8F3"/>
                          </a:solidFill>
                          <a:effectLst/>
                        </a:rPr>
                        <a:t>Alarid-Escudero</a:t>
                      </a:r>
                      <a:r>
                        <a:rPr lang="en-US" sz="1400" b="1" kern="1200" dirty="0">
                          <a:solidFill>
                            <a:srgbClr val="FEF8F3"/>
                          </a:solidFill>
                          <a:effectLst/>
                        </a:rPr>
                        <a:t>, PhD</a:t>
                      </a:r>
                      <a:r>
                        <a:rPr lang="en-US" sz="1400" b="1" kern="1200" baseline="30000" dirty="0">
                          <a:solidFill>
                            <a:srgbClr val="FEF8F3"/>
                          </a:solidFill>
                          <a:effectLst/>
                        </a:rPr>
                        <a:t>1</a:t>
                      </a:r>
                      <a:r>
                        <a:rPr lang="en-US" sz="1400" b="1" kern="1200" dirty="0">
                          <a:solidFill>
                            <a:srgbClr val="FEF8F3"/>
                          </a:solidFill>
                          <a:effectLst/>
                        </a:rPr>
                        <a:t> </a:t>
                      </a:r>
                    </a:p>
                    <a:p>
                      <a:r>
                        <a:rPr lang="en-US" sz="1400" b="1" kern="1200" dirty="0">
                          <a:solidFill>
                            <a:srgbClr val="FEF8F3"/>
                          </a:solidFill>
                          <a:effectLst/>
                        </a:rPr>
                        <a:t>Eva A. Enns, MS, PhD</a:t>
                      </a:r>
                      <a:r>
                        <a:rPr lang="en-US" sz="1400" b="1" kern="1200" baseline="30000" dirty="0">
                          <a:solidFill>
                            <a:srgbClr val="FEF8F3"/>
                          </a:solidFill>
                          <a:effectLst/>
                        </a:rPr>
                        <a:t>2</a:t>
                      </a:r>
                      <a:r>
                        <a:rPr lang="en-US" sz="1400" b="1" kern="1200" dirty="0">
                          <a:solidFill>
                            <a:srgbClr val="FEF8F3"/>
                          </a:solidFill>
                          <a:effectLst/>
                        </a:rPr>
                        <a:t>	</a:t>
                      </a:r>
                    </a:p>
                    <a:p>
                      <a:r>
                        <a:rPr lang="en-US" sz="1400" b="1" kern="1200" dirty="0">
                          <a:solidFill>
                            <a:srgbClr val="FEF8F3"/>
                          </a:solidFill>
                          <a:effectLst/>
                        </a:rPr>
                        <a:t>M.G. Myriam Hunink, MD, PhD</a:t>
                      </a:r>
                      <a:r>
                        <a:rPr lang="en-US" sz="1400" b="1" kern="1200" baseline="30000" dirty="0">
                          <a:solidFill>
                            <a:srgbClr val="FEF8F3"/>
                          </a:solidFill>
                          <a:effectLst/>
                        </a:rPr>
                        <a:t>3,4</a:t>
                      </a:r>
                      <a:endParaRPr lang="en-US" sz="1400" b="1" kern="1200" dirty="0">
                        <a:solidFill>
                          <a:srgbClr val="FEF8F3"/>
                        </a:solidFill>
                        <a:effectLst/>
                      </a:endParaRPr>
                    </a:p>
                    <a:p>
                      <a:r>
                        <a:rPr lang="nl-NL" sz="1400" b="1" kern="1200" dirty="0" err="1">
                          <a:solidFill>
                            <a:srgbClr val="FEF8F3"/>
                          </a:solidFill>
                          <a:effectLst/>
                        </a:rPr>
                        <a:t>Hawre</a:t>
                      </a:r>
                      <a:r>
                        <a:rPr lang="nl-NL" sz="1400" b="1" kern="1200" dirty="0">
                          <a:solidFill>
                            <a:srgbClr val="FEF8F3"/>
                          </a:solidFill>
                          <a:effectLst/>
                        </a:rPr>
                        <a:t> J. Jalal, MD, PhD</a:t>
                      </a:r>
                      <a:r>
                        <a:rPr lang="nl-NL" sz="1400" b="1" kern="1200" baseline="30000" dirty="0">
                          <a:solidFill>
                            <a:srgbClr val="FEF8F3"/>
                          </a:solidFill>
                          <a:effectLst/>
                        </a:rPr>
                        <a:t>5</a:t>
                      </a:r>
                      <a:r>
                        <a:rPr lang="nl-NL" sz="1400" b="1" kern="1200" dirty="0">
                          <a:solidFill>
                            <a:srgbClr val="FEF8F3"/>
                          </a:solidFill>
                          <a:effectLst/>
                        </a:rPr>
                        <a:t> </a:t>
                      </a:r>
                      <a:endParaRPr lang="en-US" sz="1400" b="1" kern="1200" dirty="0">
                        <a:solidFill>
                          <a:srgbClr val="FEF8F3"/>
                        </a:solidFill>
                        <a:effectLst/>
                      </a:endParaRPr>
                    </a:p>
                    <a:p>
                      <a:r>
                        <a:rPr lang="nl-NL" sz="1400" b="1" kern="1200" dirty="0">
                          <a:solidFill>
                            <a:srgbClr val="FEF8F3"/>
                          </a:solidFill>
                          <a:effectLst/>
                        </a:rPr>
                        <a:t>Eline M. Krijkamp, MSc</a:t>
                      </a:r>
                      <a:r>
                        <a:rPr lang="nl-NL" sz="1400" b="1" kern="1200" baseline="30000" dirty="0">
                          <a:solidFill>
                            <a:srgbClr val="FEF8F3"/>
                          </a:solidFill>
                          <a:effectLst/>
                        </a:rPr>
                        <a:t>3</a:t>
                      </a:r>
                      <a:endParaRPr lang="en-US" sz="1400" b="1" kern="1200" dirty="0">
                        <a:solidFill>
                          <a:srgbClr val="FEF8F3"/>
                        </a:solidFill>
                        <a:effectLst/>
                      </a:endParaRPr>
                    </a:p>
                    <a:p>
                      <a:r>
                        <a:rPr lang="en-US" sz="1400" b="1" kern="1200" dirty="0">
                          <a:solidFill>
                            <a:srgbClr val="FEF8F3"/>
                          </a:solidFill>
                          <a:effectLst/>
                        </a:rPr>
                        <a:t>Petros Pechlivanoglou, PhD</a:t>
                      </a:r>
                      <a:r>
                        <a:rPr lang="en-US" sz="1400" b="1" kern="1200" baseline="30000" dirty="0">
                          <a:solidFill>
                            <a:srgbClr val="FEF8F3"/>
                          </a:solidFill>
                          <a:effectLst/>
                        </a:rPr>
                        <a:t>6</a:t>
                      </a:r>
                      <a:r>
                        <a:rPr lang="en-US" sz="1400" b="1" kern="1200" dirty="0">
                          <a:solidFill>
                            <a:srgbClr val="FEF8F3"/>
                          </a:solidFill>
                          <a:effectLst/>
                        </a:rPr>
                        <a:t> </a:t>
                      </a:r>
                    </a:p>
                    <a:p>
                      <a:endParaRPr lang="en-GB" sz="1200" dirty="0">
                        <a:solidFill>
                          <a:schemeClr val="bg1"/>
                        </a:solidFill>
                      </a:endParaRPr>
                    </a:p>
                  </a:txBody>
                  <a:tcPr/>
                </a:tc>
                <a:tc>
                  <a:txBody>
                    <a:bodyPr/>
                    <a:lstStyle/>
                    <a:p>
                      <a:endParaRPr lang="en-GB" sz="1200" dirty="0">
                        <a:solidFill>
                          <a:schemeClr val="bg1"/>
                        </a:solidFill>
                      </a:endParaRPr>
                    </a:p>
                  </a:txBody>
                  <a:tcPr/>
                </a:tc>
                <a:extLst>
                  <a:ext uri="{0D108BD9-81ED-4DB2-BD59-A6C34878D82A}">
                    <a16:rowId xmlns:a16="http://schemas.microsoft.com/office/drawing/2014/main" val="10000"/>
                  </a:ext>
                </a:extLst>
              </a:tr>
              <a:tr h="370840">
                <a:tc gridSpan="2">
                  <a:txBody>
                    <a:bodyPr/>
                    <a:lstStyle/>
                    <a:p>
                      <a:r>
                        <a:rPr lang="en-US" sz="1200" kern="1200" dirty="0">
                          <a:solidFill>
                            <a:srgbClr val="FEF8F3"/>
                          </a:solidFill>
                          <a:effectLst/>
                          <a:latin typeface="+mn-lt"/>
                          <a:ea typeface="+mn-ea"/>
                          <a:cs typeface="+mn-cs"/>
                        </a:rPr>
                        <a:t>In collaboration of: 		</a:t>
                      </a:r>
                    </a:p>
                    <a:p>
                      <a:r>
                        <a:rPr lang="en-US" sz="1200" kern="1200" dirty="0">
                          <a:solidFill>
                            <a:srgbClr val="FEF8F3"/>
                          </a:solidFill>
                          <a:effectLst/>
                          <a:latin typeface="+mn-lt"/>
                          <a:ea typeface="+mn-ea"/>
                          <a:cs typeface="+mn-cs"/>
                        </a:rPr>
                        <a:t>1 Drug Policy Program, Center for Research and Teaching in Economics (CIDE) - CONACyT, </a:t>
                      </a:r>
                    </a:p>
                    <a:p>
                      <a:r>
                        <a:rPr lang="en-US" sz="1200" kern="1200" dirty="0">
                          <a:solidFill>
                            <a:srgbClr val="FEF8F3"/>
                          </a:solidFill>
                          <a:effectLst/>
                          <a:latin typeface="+mn-lt"/>
                          <a:ea typeface="+mn-ea"/>
                          <a:cs typeface="+mn-cs"/>
                        </a:rPr>
                        <a:t>  Aguascalientes, Mexico</a:t>
                      </a:r>
                    </a:p>
                    <a:p>
                      <a:r>
                        <a:rPr lang="en-US" sz="1200" kern="1200" dirty="0">
                          <a:solidFill>
                            <a:srgbClr val="FEF8F3"/>
                          </a:solidFill>
                          <a:effectLst/>
                          <a:latin typeface="+mn-lt"/>
                          <a:ea typeface="+mn-ea"/>
                          <a:cs typeface="+mn-cs"/>
                        </a:rPr>
                        <a:t>2 University of Minnesota School of Public Health, Minneapolis, MN, USA</a:t>
                      </a:r>
                    </a:p>
                    <a:p>
                      <a:r>
                        <a:rPr lang="en-US" sz="1200" kern="1200" dirty="0">
                          <a:solidFill>
                            <a:srgbClr val="FEF8F3"/>
                          </a:solidFill>
                          <a:effectLst/>
                          <a:latin typeface="+mn-lt"/>
                          <a:ea typeface="+mn-ea"/>
                          <a:cs typeface="+mn-cs"/>
                        </a:rPr>
                        <a:t>3 Erasmus MC, Rotterdam, The Netherlands</a:t>
                      </a:r>
                    </a:p>
                    <a:p>
                      <a:r>
                        <a:rPr lang="en-US" sz="1200" kern="1200" dirty="0">
                          <a:solidFill>
                            <a:srgbClr val="FEF8F3"/>
                          </a:solidFill>
                          <a:effectLst/>
                          <a:latin typeface="+mn-lt"/>
                          <a:ea typeface="+mn-ea"/>
                          <a:cs typeface="+mn-cs"/>
                        </a:rPr>
                        <a:t>4 Harvard T.H. Chan School of Public Health, Boston, USA</a:t>
                      </a:r>
                    </a:p>
                    <a:p>
                      <a:r>
                        <a:rPr lang="en-US" sz="1200" kern="1200" dirty="0">
                          <a:solidFill>
                            <a:srgbClr val="FEF8F3"/>
                          </a:solidFill>
                          <a:effectLst/>
                          <a:latin typeface="+mn-lt"/>
                          <a:ea typeface="+mn-ea"/>
                          <a:cs typeface="+mn-cs"/>
                        </a:rPr>
                        <a:t>5 University of Pittsburgh Graduate School of Public Health, Pittsburgh, PA, USA</a:t>
                      </a:r>
                    </a:p>
                    <a:p>
                      <a:r>
                        <a:rPr lang="en-US" sz="1200" kern="1200" dirty="0">
                          <a:solidFill>
                            <a:srgbClr val="FEF8F3"/>
                          </a:solidFill>
                          <a:effectLst/>
                          <a:latin typeface="+mn-lt"/>
                          <a:ea typeface="+mn-ea"/>
                          <a:cs typeface="+mn-cs"/>
                        </a:rPr>
                        <a:t>6 The Hospital for Sick Children, Toronto and University of Toronto, Toronto ON, Canada</a:t>
                      </a:r>
                    </a:p>
                    <a:p>
                      <a:endParaRPr lang="en-GB" sz="1200" dirty="0">
                        <a:solidFill>
                          <a:schemeClr val="bg1"/>
                        </a:solidFill>
                      </a:endParaRPr>
                    </a:p>
                  </a:txBody>
                  <a:tcPr/>
                </a:tc>
                <a:tc hMerge="1">
                  <a:txBody>
                    <a:bodyPr/>
                    <a:lstStyle/>
                    <a:p>
                      <a:endParaRPr lang="en-GB" sz="1200" dirty="0">
                        <a:solidFill>
                          <a:schemeClr val="bg1"/>
                        </a:solidFill>
                      </a:endParaRP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653822" y="5807005"/>
            <a:ext cx="7850043" cy="6463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endParaRPr lang="en-GB" sz="900" dirty="0">
              <a:solidFill>
                <a:schemeClr val="bg1"/>
              </a:solidFill>
            </a:endParaRPr>
          </a:p>
        </p:txBody>
      </p:sp>
      <p:sp>
        <p:nvSpPr>
          <p:cNvPr id="2" name="AutoShape 14" descr="Image result for hospital for sick children toronto vector log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 name="AutoShape 16" descr="Image result for sick kids vector logo wik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Rectangle 5"/>
          <p:cNvSpPr/>
          <p:nvPr/>
        </p:nvSpPr>
        <p:spPr>
          <a:xfrm rot="16200000" flipV="1">
            <a:off x="-1201823" y="1708789"/>
            <a:ext cx="3024336" cy="3000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Picture 17" descr="\\storage.erasmusmc.nl\m\MyDocs\478030\My Documents\Desktop\The_Hospital_for_Sick_Children-logo-30EAA69EAC-seeklogo.com.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2883" y="5323650"/>
            <a:ext cx="1224000" cy="367200"/>
          </a:xfrm>
          <a:prstGeom prst="rect">
            <a:avLst/>
          </a:prstGeom>
          <a:noFill/>
          <a:extLst>
            <a:ext uri="{909E8E84-426E-40dd-AFC4-6F175D3DCCD1}">
              <a14:hiddenFill xmlns:a14="http://schemas.microsoft.com/office/drawing/2010/main" xmlns="">
                <a:solidFill>
                  <a:srgbClr val="FFFFFF"/>
                </a:solidFill>
              </a14:hiddenFill>
            </a:ext>
          </a:extLst>
        </p:spPr>
      </p:pic>
      <p:pic>
        <p:nvPicPr>
          <p:cNvPr id="18" name="Picture 18" descr="\\storage.erasmusmc.nl\m\MyDocs\478030\My Documents\Desktop\Pitt_logo.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8501" y="5255702"/>
            <a:ext cx="2664000" cy="508713"/>
          </a:xfrm>
          <a:prstGeom prst="rect">
            <a:avLst/>
          </a:prstGeom>
          <a:noFill/>
          <a:extLst>
            <a:ext uri="{909E8E84-426E-40dd-AFC4-6F175D3DCCD1}">
              <a14:hiddenFill xmlns:a14="http://schemas.microsoft.com/office/drawing/2010/main" xmlns="">
                <a:solidFill>
                  <a:srgbClr val="FFFFFF"/>
                </a:solidFill>
              </a14:hiddenFill>
            </a:ext>
          </a:extLst>
        </p:spPr>
      </p:pic>
      <p:pic>
        <p:nvPicPr>
          <p:cNvPr id="19"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51974" y="5306389"/>
            <a:ext cx="1296145" cy="3843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1"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6484" y="5306114"/>
            <a:ext cx="2016000" cy="4157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extBox 2"/>
          <p:cNvSpPr txBox="1"/>
          <p:nvPr/>
        </p:nvSpPr>
        <p:spPr>
          <a:xfrm flipH="1">
            <a:off x="1860376" y="4748219"/>
            <a:ext cx="4782800" cy="307777"/>
          </a:xfrm>
          <a:prstGeom prst="rect">
            <a:avLst/>
          </a:prstGeom>
          <a:noFill/>
        </p:spPr>
        <p:txBody>
          <a:bodyPr wrap="square" rtlCol="0">
            <a:spAutoFit/>
          </a:bodyPr>
          <a:lstStyle/>
          <a:p>
            <a:r>
              <a:rPr lang="en-US" sz="1400" b="1" dirty="0" err="1">
                <a:solidFill>
                  <a:schemeClr val="bg1"/>
                </a:solidFill>
              </a:rPr>
              <a:t>www.darthworkgroup.com</a:t>
            </a:r>
            <a:endParaRPr lang="en-US" sz="1400" b="1" dirty="0">
              <a:solidFill>
                <a:schemeClr val="bg1"/>
              </a:solidFill>
            </a:endParaRPr>
          </a:p>
        </p:txBody>
      </p:sp>
      <p:sp>
        <p:nvSpPr>
          <p:cNvPr id="15" name="TextBox 14"/>
          <p:cNvSpPr txBox="1"/>
          <p:nvPr/>
        </p:nvSpPr>
        <p:spPr>
          <a:xfrm flipH="1">
            <a:off x="1860376" y="4748220"/>
            <a:ext cx="4782800" cy="307777"/>
          </a:xfrm>
          <a:prstGeom prst="rect">
            <a:avLst/>
          </a:prstGeom>
          <a:noFill/>
        </p:spPr>
        <p:txBody>
          <a:bodyPr wrap="square" rtlCol="0">
            <a:spAutoFit/>
          </a:bodyPr>
          <a:lstStyle/>
          <a:p>
            <a:r>
              <a:rPr lang="en-US" sz="1400" b="1" dirty="0" err="1">
                <a:solidFill>
                  <a:schemeClr val="bg1"/>
                </a:solidFill>
              </a:rPr>
              <a:t>www.darthworkgroup.com</a:t>
            </a:r>
            <a:endParaRPr lang="en-US" sz="1400" b="1" dirty="0">
              <a:solidFill>
                <a:schemeClr val="bg1"/>
              </a:solidFill>
            </a:endParaRPr>
          </a:p>
        </p:txBody>
      </p:sp>
      <p:pic>
        <p:nvPicPr>
          <p:cNvPr id="8" name="Picture 7">
            <a:extLst>
              <a:ext uri="{FF2B5EF4-FFF2-40B4-BE49-F238E27FC236}">
                <a16:creationId xmlns:a16="http://schemas.microsoft.com/office/drawing/2014/main" id="{1F4A33E6-5765-144B-BB9E-E9B85276960B}"/>
              </a:ext>
            </a:extLst>
          </p:cNvPr>
          <p:cNvPicPr>
            <a:picLocks noChangeAspect="1"/>
          </p:cNvPicPr>
          <p:nvPr/>
        </p:nvPicPr>
        <p:blipFill>
          <a:blip r:embed="rId6"/>
          <a:stretch>
            <a:fillRect/>
          </a:stretch>
        </p:blipFill>
        <p:spPr>
          <a:xfrm>
            <a:off x="460375" y="5035758"/>
            <a:ext cx="560077" cy="710097"/>
          </a:xfrm>
          <a:prstGeom prst="rect">
            <a:avLst/>
          </a:prstGeom>
        </p:spPr>
      </p:pic>
    </p:spTree>
    <p:extLst>
      <p:ext uri="{BB962C8B-B14F-4D97-AF65-F5344CB8AC3E}">
        <p14:creationId xmlns:p14="http://schemas.microsoft.com/office/powerpoint/2010/main" val="799811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2nd_First slide">
    <p:bg>
      <p:bgPr>
        <a:solidFill>
          <a:srgbClr val="009999"/>
        </a:solidFill>
        <a:effectLst/>
      </p:bgPr>
    </p:bg>
    <p:spTree>
      <p:nvGrpSpPr>
        <p:cNvPr id="1" name=""/>
        <p:cNvGrpSpPr/>
        <p:nvPr/>
      </p:nvGrpSpPr>
      <p:grpSpPr>
        <a:xfrm>
          <a:off x="0" y="0"/>
          <a:ext cx="0" cy="0"/>
          <a:chOff x="0" y="0"/>
          <a:chExt cx="0" cy="0"/>
        </a:xfrm>
      </p:grpSpPr>
      <p:sp>
        <p:nvSpPr>
          <p:cNvPr id="20" name="Rectangle 19"/>
          <p:cNvSpPr/>
          <p:nvPr/>
        </p:nvSpPr>
        <p:spPr>
          <a:xfrm>
            <a:off x="1835696" y="818458"/>
            <a:ext cx="7308304" cy="576064"/>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nl-NL" sz="2000" b="1" dirty="0" err="1">
                <a:solidFill>
                  <a:srgbClr val="004D99"/>
                </a:solidFill>
              </a:rPr>
              <a:t>Acknowledgements</a:t>
            </a:r>
            <a:r>
              <a:rPr lang="nl-NL" sz="2000" b="1" baseline="0" dirty="0">
                <a:solidFill>
                  <a:srgbClr val="004D99"/>
                </a:solidFill>
              </a:rPr>
              <a:t> </a:t>
            </a:r>
            <a:r>
              <a:rPr lang="nl-NL" sz="2000" b="1" baseline="0" dirty="0" err="1">
                <a:solidFill>
                  <a:srgbClr val="004D99"/>
                </a:solidFill>
              </a:rPr>
              <a:t>and</a:t>
            </a:r>
            <a:r>
              <a:rPr lang="nl-NL" sz="2000" b="1" baseline="0" dirty="0">
                <a:solidFill>
                  <a:srgbClr val="004D99"/>
                </a:solidFill>
              </a:rPr>
              <a:t> </a:t>
            </a:r>
            <a:r>
              <a:rPr lang="nl-NL" sz="2000" b="1" baseline="0" dirty="0" err="1">
                <a:solidFill>
                  <a:srgbClr val="004D99"/>
                </a:solidFill>
              </a:rPr>
              <a:t>attributions</a:t>
            </a:r>
            <a:endParaRPr lang="en-GB" sz="2000" b="1" dirty="0">
              <a:solidFill>
                <a:srgbClr val="004D99"/>
              </a:solidFill>
            </a:endParaRPr>
          </a:p>
        </p:txBody>
      </p:sp>
      <p:sp>
        <p:nvSpPr>
          <p:cNvPr id="13"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14" name="Slide Number Placeholder 2"/>
          <p:cNvSpPr>
            <a:spLocks noGrp="1"/>
          </p:cNvSpPr>
          <p:nvPr>
            <p:ph type="sldNum" sz="quarter" idx="11"/>
          </p:nvPr>
        </p:nvSpPr>
        <p:spPr>
          <a:xfrm>
            <a:off x="8559864" y="6453336"/>
            <a:ext cx="548640" cy="396240"/>
          </a:xfrm>
          <a:ln>
            <a:noFill/>
          </a:ln>
        </p:spPr>
        <p:txBody>
          <a:bodyPr/>
          <a:lstStyle>
            <a:lvl1pPr>
              <a:defRPr>
                <a:solidFill>
                  <a:schemeClr val="bg1"/>
                </a:solidFill>
              </a:defRPr>
            </a:lvl1pPr>
          </a:lstStyle>
          <a:p>
            <a:fld id="{0798D939-2D9E-2142-A80A-FFDECD1E5A9B}" type="slidenum">
              <a:rPr lang="en-US" smtClean="0"/>
              <a:t>‹#›</a:t>
            </a:fld>
            <a:endParaRPr lang="en-US"/>
          </a:p>
        </p:txBody>
      </p:sp>
      <p:sp>
        <p:nvSpPr>
          <p:cNvPr id="16" name="TextBox 15"/>
          <p:cNvSpPr txBox="1"/>
          <p:nvPr/>
        </p:nvSpPr>
        <p:spPr>
          <a:xfrm>
            <a:off x="653822" y="5807005"/>
            <a:ext cx="7850043" cy="6463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endParaRPr lang="en-GB" sz="900" dirty="0">
              <a:solidFill>
                <a:schemeClr val="bg1"/>
              </a:solidFill>
            </a:endParaRPr>
          </a:p>
        </p:txBody>
      </p:sp>
      <p:sp>
        <p:nvSpPr>
          <p:cNvPr id="2" name="AutoShape 14" descr="Image result for hospital for sick children toronto vector log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 name="AutoShape 16" descr="Image result for sick kids vector logo wik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Rectangle 5"/>
          <p:cNvSpPr/>
          <p:nvPr/>
        </p:nvSpPr>
        <p:spPr>
          <a:xfrm rot="16200000" flipV="1">
            <a:off x="-1201823" y="1708789"/>
            <a:ext cx="3024336" cy="3000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Subtitle 2"/>
          <p:cNvSpPr>
            <a:spLocks noGrp="1"/>
          </p:cNvSpPr>
          <p:nvPr>
            <p:ph type="subTitle" idx="1" hasCustomPrompt="1"/>
          </p:nvPr>
        </p:nvSpPr>
        <p:spPr>
          <a:xfrm>
            <a:off x="1835696" y="1628800"/>
            <a:ext cx="7056784" cy="1066800"/>
          </a:xfrm>
        </p:spPr>
        <p:txBody>
          <a:bodyPr anchor="t">
            <a:normAutofit/>
          </a:bodyPr>
          <a:lstStyle>
            <a:lvl1pPr marL="0" indent="0" algn="l">
              <a:buNone/>
              <a:defRPr sz="2000">
                <a:solidFill>
                  <a:srgbClr val="FEF8F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citations</a:t>
            </a:r>
          </a:p>
          <a:p>
            <a:endParaRPr lang="en-US" dirty="0"/>
          </a:p>
        </p:txBody>
      </p:sp>
      <p:pic>
        <p:nvPicPr>
          <p:cNvPr id="17" name="Picture 17" descr="\\storage.erasmusmc.nl\m\MyDocs\478030\My Documents\Desktop\The_Hospital_for_Sick_Children-logo-30EAA69EAC-seeklogo.com.png">
            <a:extLst>
              <a:ext uri="{FF2B5EF4-FFF2-40B4-BE49-F238E27FC236}">
                <a16:creationId xmlns:a16="http://schemas.microsoft.com/office/drawing/2014/main" id="{CF27B3EC-A2BB-BF47-807D-F49D56E854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2883" y="5323650"/>
            <a:ext cx="1224000" cy="367200"/>
          </a:xfrm>
          <a:prstGeom prst="rect">
            <a:avLst/>
          </a:prstGeom>
          <a:noFill/>
          <a:extLst>
            <a:ext uri="{909E8E84-426E-40dd-AFC4-6F175D3DCCD1}">
              <a14:hiddenFill xmlns:a14="http://schemas.microsoft.com/office/drawing/2010/main" xmlns="">
                <a:solidFill>
                  <a:srgbClr val="FFFFFF"/>
                </a:solidFill>
              </a14:hiddenFill>
            </a:ext>
          </a:extLst>
        </p:spPr>
      </p:pic>
      <p:pic>
        <p:nvPicPr>
          <p:cNvPr id="18" name="Picture 18" descr="\\storage.erasmusmc.nl\m\MyDocs\478030\My Documents\Desktop\Pitt_logo.gif">
            <a:extLst>
              <a:ext uri="{FF2B5EF4-FFF2-40B4-BE49-F238E27FC236}">
                <a16:creationId xmlns:a16="http://schemas.microsoft.com/office/drawing/2014/main" id="{00A49943-5F21-B54A-A2B4-A5A1C9A025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8501" y="5255702"/>
            <a:ext cx="2664000" cy="508713"/>
          </a:xfrm>
          <a:prstGeom prst="rect">
            <a:avLst/>
          </a:prstGeom>
          <a:noFill/>
          <a:extLst>
            <a:ext uri="{909E8E84-426E-40dd-AFC4-6F175D3DCCD1}">
              <a14:hiddenFill xmlns:a14="http://schemas.microsoft.com/office/drawing/2010/main" xmlns="">
                <a:solidFill>
                  <a:srgbClr val="FFFFFF"/>
                </a:solidFill>
              </a14:hiddenFill>
            </a:ext>
          </a:extLst>
        </p:spPr>
      </p:pic>
      <p:pic>
        <p:nvPicPr>
          <p:cNvPr id="19" name="Picture 2">
            <a:extLst>
              <a:ext uri="{FF2B5EF4-FFF2-40B4-BE49-F238E27FC236}">
                <a16:creationId xmlns:a16="http://schemas.microsoft.com/office/drawing/2014/main" id="{EBC3F8F5-94B4-374C-89B8-A540DEABFD8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51974" y="5306389"/>
            <a:ext cx="1296145" cy="3843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1" name="Picture 3">
            <a:extLst>
              <a:ext uri="{FF2B5EF4-FFF2-40B4-BE49-F238E27FC236}">
                <a16:creationId xmlns:a16="http://schemas.microsoft.com/office/drawing/2014/main" id="{A92E0873-0222-DD44-AB65-7234C4A77D1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6484" y="5306114"/>
            <a:ext cx="2016000" cy="4157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2" name="Picture 21">
            <a:extLst>
              <a:ext uri="{FF2B5EF4-FFF2-40B4-BE49-F238E27FC236}">
                <a16:creationId xmlns:a16="http://schemas.microsoft.com/office/drawing/2014/main" id="{39A9191D-B4FE-9145-A2D5-98FB80FC7F53}"/>
              </a:ext>
            </a:extLst>
          </p:cNvPr>
          <p:cNvPicPr>
            <a:picLocks noChangeAspect="1"/>
          </p:cNvPicPr>
          <p:nvPr/>
        </p:nvPicPr>
        <p:blipFill>
          <a:blip r:embed="rId6"/>
          <a:stretch>
            <a:fillRect/>
          </a:stretch>
        </p:blipFill>
        <p:spPr>
          <a:xfrm>
            <a:off x="241682" y="4980651"/>
            <a:ext cx="711200" cy="901700"/>
          </a:xfrm>
          <a:prstGeom prst="rect">
            <a:avLst/>
          </a:prstGeom>
        </p:spPr>
      </p:pic>
    </p:spTree>
    <p:extLst>
      <p:ext uri="{BB962C8B-B14F-4D97-AF65-F5344CB8AC3E}">
        <p14:creationId xmlns:p14="http://schemas.microsoft.com/office/powerpoint/2010/main" val="1434923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40432" y="274638"/>
            <a:ext cx="7620000" cy="1143000"/>
          </a:xfrm>
        </p:spPr>
        <p:txBody>
          <a:bodyPr/>
          <a:lstStyle>
            <a:lvl1pPr>
              <a:defRPr sz="4000"/>
            </a:lvl1pPr>
          </a:lstStyle>
          <a:p>
            <a:r>
              <a:rPr lang="en-US"/>
              <a:t>Click to edit Master title style</a:t>
            </a:r>
            <a:endParaRPr lang="en-US" dirty="0"/>
          </a:p>
        </p:txBody>
      </p:sp>
      <p:sp>
        <p:nvSpPr>
          <p:cNvPr id="3" name="Content Placeholder 2"/>
          <p:cNvSpPr>
            <a:spLocks noGrp="1"/>
          </p:cNvSpPr>
          <p:nvPr>
            <p:ph idx="1"/>
          </p:nvPr>
        </p:nvSpPr>
        <p:spPr>
          <a:xfrm>
            <a:off x="840432" y="1417638"/>
            <a:ext cx="7620000" cy="498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E9233F-672C-4049-ADDE-19A0C27F5FEA}" type="datetime1">
              <a:rPr lang="en-US" smtClean="0"/>
              <a:t>2026-06-17</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226769036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872753" y="4918521"/>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872753" y="3284984"/>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A45580-A746-AB41-A6D2-F691590C12C8}" type="datetime1">
              <a:rPr lang="en-US" smtClean="0"/>
              <a:t>2026-06-17</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16014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ee objecten">
    <p:spTree>
      <p:nvGrpSpPr>
        <p:cNvPr id="1" name=""/>
        <p:cNvGrpSpPr/>
        <p:nvPr/>
      </p:nvGrpSpPr>
      <p:grpSpPr>
        <a:xfrm>
          <a:off x="0" y="0"/>
          <a:ext cx="0" cy="0"/>
          <a:chOff x="0" y="0"/>
          <a:chExt cx="0" cy="0"/>
        </a:xfrm>
      </p:grpSpPr>
      <p:sp>
        <p:nvSpPr>
          <p:cNvPr id="2" name="Title 1"/>
          <p:cNvSpPr>
            <a:spLocks noGrp="1"/>
          </p:cNvSpPr>
          <p:nvPr>
            <p:ph type="title"/>
          </p:nvPr>
        </p:nvSpPr>
        <p:spPr>
          <a:xfrm>
            <a:off x="840432" y="274638"/>
            <a:ext cx="7620000" cy="11430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40432"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02832"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CF344B-21FC-224B-9943-C36570668544}" type="datetime1">
              <a:rPr lang="en-US" smtClean="0"/>
              <a:t>2026-06-17</a:t>
            </a:fld>
            <a:endParaRPr lang="en-US"/>
          </a:p>
        </p:txBody>
      </p:sp>
      <p:sp>
        <p:nvSpPr>
          <p:cNvPr id="7" name="Slide Number Placeholder 6"/>
          <p:cNvSpPr>
            <a:spLocks noGrp="1"/>
          </p:cNvSpPr>
          <p:nvPr>
            <p:ph type="sldNum" sz="quarter" idx="12"/>
          </p:nvPr>
        </p:nvSpPr>
        <p:spPr/>
        <p:txBody>
          <a:bodyPr/>
          <a:lstStyle/>
          <a:p>
            <a:fld id="{0798D939-2D9E-2142-A80A-FFDECD1E5A9B}" type="slidenum">
              <a:rPr lang="en-US" smtClean="0"/>
              <a:t>‹#›</a:t>
            </a:fld>
            <a:endParaRPr lang="en-US"/>
          </a:p>
        </p:txBody>
      </p:sp>
      <p:sp>
        <p:nvSpPr>
          <p:cNvPr id="8"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3119008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840432" y="274638"/>
            <a:ext cx="76200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40432"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432"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2832"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02832"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15FD7E0-3915-0649-A461-6F604389C81E}" type="datetime1">
              <a:rPr lang="en-US" smtClean="0"/>
              <a:t>2026-06-17</a:t>
            </a:fld>
            <a:endParaRPr lang="en-US"/>
          </a:p>
        </p:txBody>
      </p:sp>
      <p:sp>
        <p:nvSpPr>
          <p:cNvPr id="9" name="Slide Number Placeholder 8"/>
          <p:cNvSpPr>
            <a:spLocks noGrp="1"/>
          </p:cNvSpPr>
          <p:nvPr>
            <p:ph type="sldNum" sz="quarter" idx="12"/>
          </p:nvPr>
        </p:nvSpPr>
        <p:spPr/>
        <p:txBody>
          <a:bodyPr/>
          <a:lstStyle/>
          <a:p>
            <a:fld id="{0798D939-2D9E-2142-A80A-FFDECD1E5A9B}" type="slidenum">
              <a:rPr lang="en-US" smtClean="0"/>
              <a:t>‹#›</a:t>
            </a:fld>
            <a:endParaRPr lang="en-US"/>
          </a:p>
        </p:txBody>
      </p:sp>
      <p:sp>
        <p:nvSpPr>
          <p:cNvPr id="10" name="Footer Placeholder 4"/>
          <p:cNvSpPr>
            <a:spLocks noGrp="1"/>
          </p:cNvSpPr>
          <p:nvPr>
            <p:ph type="ftr" sz="quarter" idx="1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551501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2440" y="274638"/>
            <a:ext cx="76200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6ACA60FC-D001-DD4C-83F7-A5CED8B75B8C}" type="datetime1">
              <a:rPr lang="en-US" smtClean="0"/>
              <a:t>2026-06-17</a:t>
            </a:fld>
            <a:endParaRPr lang="en-US"/>
          </a:p>
        </p:txBody>
      </p:sp>
      <p:sp>
        <p:nvSpPr>
          <p:cNvPr id="7" name="Slide Number Placeholder 6"/>
          <p:cNvSpPr>
            <a:spLocks noGrp="1"/>
          </p:cNvSpPr>
          <p:nvPr>
            <p:ph type="sldNum" sz="quarter" idx="12"/>
          </p:nvPr>
        </p:nvSpPr>
        <p:spPr/>
        <p:txBody>
          <a:bodyPr/>
          <a:lstStyle/>
          <a:p>
            <a:fld id="{0798D939-2D9E-2142-A80A-FFDECD1E5A9B}" type="slidenum">
              <a:rPr lang="en-US" smtClean="0"/>
              <a:t>‹#›</a:t>
            </a:fld>
            <a:endParaRPr lang="en-US"/>
          </a:p>
        </p:txBody>
      </p:sp>
      <p:sp>
        <p:nvSpPr>
          <p:cNvPr id="9"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1143386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6B8597-43CB-1848-982C-BA76786283C8}" type="datetime1">
              <a:rPr lang="en-US" smtClean="0"/>
              <a:t>2026-06-17</a:t>
            </a:fld>
            <a:endParaRPr lang="en-US"/>
          </a:p>
        </p:txBody>
      </p:sp>
      <p:sp>
        <p:nvSpPr>
          <p:cNvPr id="4" name="Slide Number Placeholder 3"/>
          <p:cNvSpPr>
            <a:spLocks noGrp="1"/>
          </p:cNvSpPr>
          <p:nvPr>
            <p:ph type="sldNum" sz="quarter" idx="12"/>
          </p:nvPr>
        </p:nvSpPr>
        <p:spPr/>
        <p:txBody>
          <a:bodyPr/>
          <a:lstStyle/>
          <a:p>
            <a:fld id="{0798D939-2D9E-2142-A80A-FFDECD1E5A9B}" type="slidenum">
              <a:rPr lang="en-US" smtClean="0"/>
              <a:t>‹#›</a:t>
            </a:fld>
            <a:endParaRPr lang="en-US"/>
          </a:p>
        </p:txBody>
      </p:sp>
      <p:sp>
        <p:nvSpPr>
          <p:cNvPr id="5"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370389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976064" y="5315288"/>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976062" y="5915744"/>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2EFF7C-6B03-1149-BC94-C670E2915E06}" type="datetime1">
              <a:rPr lang="en-US" smtClean="0"/>
              <a:t>2026-06-17</a:t>
            </a:fld>
            <a:endParaRPr lang="en-US"/>
          </a:p>
        </p:txBody>
      </p:sp>
      <p:sp>
        <p:nvSpPr>
          <p:cNvPr id="7" name="Slide Number Placeholder 6"/>
          <p:cNvSpPr>
            <a:spLocks noGrp="1"/>
          </p:cNvSpPr>
          <p:nvPr>
            <p:ph type="sldNum" sz="quarter" idx="12"/>
          </p:nvPr>
        </p:nvSpPr>
        <p:spPr/>
        <p:txBody>
          <a:bodyPr/>
          <a:lstStyle/>
          <a:p>
            <a:fld id="{0798D939-2D9E-2142-A80A-FFDECD1E5A9B}" type="slidenum">
              <a:rPr lang="en-US" smtClean="0"/>
              <a:t>‹#›</a:t>
            </a:fld>
            <a:endParaRPr lang="en-US"/>
          </a:p>
        </p:txBody>
      </p:sp>
      <p:sp>
        <p:nvSpPr>
          <p:cNvPr id="9" name="Content Placeholder 8"/>
          <p:cNvSpPr>
            <a:spLocks noGrp="1"/>
          </p:cNvSpPr>
          <p:nvPr>
            <p:ph sz="quarter" idx="13"/>
          </p:nvPr>
        </p:nvSpPr>
        <p:spPr>
          <a:xfrm>
            <a:off x="976063" y="200744"/>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1909232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952056" y="5085184"/>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50304" y="0"/>
            <a:ext cx="8458200" cy="494116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52056" y="5685906"/>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F5758B0-CFF6-8C46-BE61-5308A724B3CF}" type="datetime1">
              <a:rPr lang="en-US" smtClean="0"/>
              <a:t>2026-06-17</a:t>
            </a:fld>
            <a:endParaRPr lang="en-US"/>
          </a:p>
        </p:txBody>
      </p:sp>
      <p:sp>
        <p:nvSpPr>
          <p:cNvPr id="9" name="Slide Number Placeholder 8"/>
          <p:cNvSpPr>
            <a:spLocks noGrp="1"/>
          </p:cNvSpPr>
          <p:nvPr>
            <p:ph type="sldNum" sz="quarter" idx="11"/>
          </p:nvPr>
        </p:nvSpPr>
        <p:spPr/>
        <p:txBody>
          <a:bodyPr/>
          <a:lstStyle/>
          <a:p>
            <a:fld id="{0798D939-2D9E-2142-A80A-FFDECD1E5A9B}" type="slidenum">
              <a:rPr lang="en-US" smtClean="0"/>
              <a:t>‹#›</a:t>
            </a:fld>
            <a:endParaRPr lang="en-US"/>
          </a:p>
        </p:txBody>
      </p:sp>
      <p:sp>
        <p:nvSpPr>
          <p:cNvPr id="11"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2788607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984448" y="1556792"/>
            <a:ext cx="7620000" cy="46805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4B699-890C-9145-90AF-A40EFFFD3FDC}" type="datetime1">
              <a:rPr lang="en-US" smtClean="0"/>
              <a:t>2026-06-17</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3334361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67872"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95672"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449D94-4E0E-5449-9488-4AAD2A7BBA1A}" type="datetime1">
              <a:rPr lang="en-US" smtClean="0"/>
              <a:t>2026-06-17</a:t>
            </a:fld>
            <a:endParaRPr lang="en-US"/>
          </a:p>
        </p:txBody>
      </p:sp>
      <p:sp>
        <p:nvSpPr>
          <p:cNvPr id="6" name="Slide Number Placeholder 5"/>
          <p:cNvSpPr>
            <a:spLocks noGrp="1"/>
          </p:cNvSpPr>
          <p:nvPr>
            <p:ph type="sldNum" sz="quarter" idx="12"/>
          </p:nvPr>
        </p:nvSpPr>
        <p:spPr/>
        <p:txBody>
          <a:bodyPr/>
          <a:lstStyle/>
          <a:p>
            <a:fld id="{0798D939-2D9E-2142-A80A-FFDECD1E5A9B}" type="slidenum">
              <a:rPr lang="en-US" smtClean="0"/>
              <a:t>‹#›</a:t>
            </a:fld>
            <a:endParaRPr lang="en-US"/>
          </a:p>
        </p:txBody>
      </p:sp>
      <p:sp>
        <p:nvSpPr>
          <p:cNvPr id="7"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25788970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Slide Number Placeholder 2"/>
          <p:cNvSpPr>
            <a:spLocks noGrp="1"/>
          </p:cNvSpPr>
          <p:nvPr>
            <p:ph type="sldNum" sz="quarter" idx="10"/>
          </p:nvPr>
        </p:nvSpPr>
        <p:spPr/>
        <p:txBody>
          <a:bodyPr/>
          <a:lstStyle/>
          <a:p>
            <a:fld id="{0798D939-2D9E-2142-A80A-FFDECD1E5A9B}" type="slidenum">
              <a:rPr lang="en-US" smtClean="0"/>
              <a:t>‹#›</a:t>
            </a:fld>
            <a:endParaRPr lang="en-US"/>
          </a:p>
        </p:txBody>
      </p:sp>
      <p:sp>
        <p:nvSpPr>
          <p:cNvPr id="5" name="Date Placeholder 4"/>
          <p:cNvSpPr>
            <a:spLocks noGrp="1"/>
          </p:cNvSpPr>
          <p:nvPr>
            <p:ph type="dt" sz="half" idx="12"/>
          </p:nvPr>
        </p:nvSpPr>
        <p:spPr/>
        <p:txBody>
          <a:bodyPr/>
          <a:lstStyle/>
          <a:p>
            <a:fld id="{F6C17BA6-F75E-C04F-A5E3-69E4E65512C6}" type="datetime1">
              <a:rPr lang="en-US" smtClean="0"/>
              <a:t>2026-06-17</a:t>
            </a:fld>
            <a:endParaRPr lang="en-US"/>
          </a:p>
        </p:txBody>
      </p:sp>
      <p:sp>
        <p:nvSpPr>
          <p:cNvPr id="6"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Tree>
    <p:extLst>
      <p:ext uri="{BB962C8B-B14F-4D97-AF65-F5344CB8AC3E}">
        <p14:creationId xmlns:p14="http://schemas.microsoft.com/office/powerpoint/2010/main" val="2102614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ast slide 2" preserve="1">
  <p:cSld name="Last slide 2">
    <p:bg>
      <p:bgPr>
        <a:solidFill>
          <a:srgbClr val="009999"/>
        </a:solidFill>
        <a:effectLst/>
      </p:bgPr>
    </p:bg>
    <p:spTree>
      <p:nvGrpSpPr>
        <p:cNvPr id="1" name="Shape 144"/>
        <p:cNvGrpSpPr/>
        <p:nvPr/>
      </p:nvGrpSpPr>
      <p:grpSpPr>
        <a:xfrm>
          <a:off x="0" y="0"/>
          <a:ext cx="0" cy="0"/>
          <a:chOff x="0" y="0"/>
          <a:chExt cx="0" cy="0"/>
        </a:xfrm>
      </p:grpSpPr>
      <p:sp>
        <p:nvSpPr>
          <p:cNvPr id="145" name="Google Shape;145;p21"/>
          <p:cNvSpPr txBox="1">
            <a:spLocks noGrp="1"/>
          </p:cNvSpPr>
          <p:nvPr>
            <p:ph type="dt" idx="10"/>
          </p:nvPr>
        </p:nvSpPr>
        <p:spPr>
          <a:xfrm rot="-5400000">
            <a:off x="-912843" y="5303549"/>
            <a:ext cx="2438400" cy="365700"/>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a:solidFill>
                  <a:schemeClr val="lt1"/>
                </a:solidFill>
                <a:latin typeface="Verdana"/>
                <a:ea typeface="Verdana"/>
                <a:cs typeface="Verdana"/>
                <a:sym typeface="Verdana"/>
              </a:defRPr>
            </a:lvl1pPr>
            <a:lvl2pPr marL="457200" marR="0" lvl="1"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L="914400" marR="0" lvl="2"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L="1371600" marR="0" lvl="3"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L="1828800" marR="0" lvl="4"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L="2286000" marR="0" lvl="5"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L="2743200" marR="0" lvl="6"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L="3200400" marR="0" lvl="7"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L="3657600" marR="0" lvl="8"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fld id="{9E926637-2292-8D44-AE8C-01E117719C29}" type="datetime1">
              <a:rPr lang="en-US" smtClean="0"/>
              <a:t>2026-06-17</a:t>
            </a:fld>
            <a:endParaRPr lang="en-US"/>
          </a:p>
        </p:txBody>
      </p:sp>
      <p:pic>
        <p:nvPicPr>
          <p:cNvPr id="146" name="Google Shape;146;p21" descr="Image result for website icon white"/>
          <p:cNvPicPr preferRelativeResize="0"/>
          <p:nvPr/>
        </p:nvPicPr>
        <p:blipFill rotWithShape="1">
          <a:blip r:embed="rId2">
            <a:alphaModFix/>
          </a:blip>
          <a:srcRect/>
          <a:stretch/>
        </p:blipFill>
        <p:spPr>
          <a:xfrm>
            <a:off x="1835696" y="2243336"/>
            <a:ext cx="540000" cy="540000"/>
          </a:xfrm>
          <a:prstGeom prst="rect">
            <a:avLst/>
          </a:prstGeom>
          <a:noFill/>
          <a:ln>
            <a:noFill/>
          </a:ln>
        </p:spPr>
      </p:pic>
      <p:sp>
        <p:nvSpPr>
          <p:cNvPr id="147" name="Google Shape;147;p21"/>
          <p:cNvSpPr txBox="1">
            <a:spLocks noGrp="1"/>
          </p:cNvSpPr>
          <p:nvPr>
            <p:ph type="ftr" idx="11"/>
          </p:nvPr>
        </p:nvSpPr>
        <p:spPr>
          <a:xfrm>
            <a:off x="649288" y="6481911"/>
            <a:ext cx="4786800" cy="374700"/>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a:solidFill>
                  <a:schemeClr val="lt1"/>
                </a:solidFill>
                <a:latin typeface="Verdana"/>
                <a:ea typeface="Verdana"/>
                <a:cs typeface="Verdana"/>
                <a:sym typeface="Verdana"/>
              </a:defRPr>
            </a:lvl1pPr>
            <a:lvl2pPr marL="457200" marR="0" lvl="1"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L="914400" marR="0" lvl="2"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L="1371600" marR="0" lvl="3"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L="1828800" marR="0" lvl="4"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L="2286000" marR="0" lvl="5"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L="2743200" marR="0" lvl="6"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L="3200400" marR="0" lvl="7"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L="3657600" marR="0" lvl="8" indent="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lang="en-US"/>
          </a:p>
        </p:txBody>
      </p:sp>
      <p:sp>
        <p:nvSpPr>
          <p:cNvPr id="148" name="Google Shape;148;p21"/>
          <p:cNvSpPr>
            <a:spLocks noGrp="1"/>
          </p:cNvSpPr>
          <p:nvPr>
            <p:ph type="sldNum" idx="12"/>
          </p:nvPr>
        </p:nvSpPr>
        <p:spPr>
          <a:xfrm>
            <a:off x="8559864" y="6453336"/>
            <a:ext cx="548700" cy="396300"/>
          </a:xfrm>
          <a:prstGeom prst="bracketPair">
            <a:avLst/>
          </a:prstGeom>
          <a:noFill/>
          <a:ln>
            <a:noFill/>
          </a:ln>
        </p:spPr>
        <p:txBody>
          <a:bodyPr spcFirstLastPara="1" wrap="square" lIns="0" tIns="0" rIns="0" bIns="0" anchor="ctr" anchorCtr="0">
            <a:noAutofit/>
          </a:bodyPr>
          <a:lstStyle>
            <a:lvl1pPr marL="0" marR="0" lvl="0" indent="0" algn="ctr" rtl="0">
              <a:spcBef>
                <a:spcPts val="0"/>
              </a:spcBef>
              <a:buNone/>
              <a:defRPr sz="1800">
                <a:solidFill>
                  <a:schemeClr val="lt1"/>
                </a:solidFill>
                <a:latin typeface="Verdana"/>
                <a:ea typeface="Verdana"/>
                <a:cs typeface="Verdana"/>
                <a:sym typeface="Verdana"/>
              </a:defRPr>
            </a:lvl1pPr>
            <a:lvl2pPr marL="0" marR="0" lvl="1" indent="0" algn="ctr" rtl="0">
              <a:spcBef>
                <a:spcPts val="0"/>
              </a:spcBef>
              <a:buNone/>
              <a:defRPr sz="1800">
                <a:solidFill>
                  <a:schemeClr val="lt1"/>
                </a:solidFill>
                <a:latin typeface="Verdana"/>
                <a:ea typeface="Verdana"/>
                <a:cs typeface="Verdana"/>
                <a:sym typeface="Verdana"/>
              </a:defRPr>
            </a:lvl2pPr>
            <a:lvl3pPr marL="0" marR="0" lvl="2" indent="0" algn="ctr" rtl="0">
              <a:spcBef>
                <a:spcPts val="0"/>
              </a:spcBef>
              <a:buNone/>
              <a:defRPr sz="1800">
                <a:solidFill>
                  <a:schemeClr val="lt1"/>
                </a:solidFill>
                <a:latin typeface="Verdana"/>
                <a:ea typeface="Verdana"/>
                <a:cs typeface="Verdana"/>
                <a:sym typeface="Verdana"/>
              </a:defRPr>
            </a:lvl3pPr>
            <a:lvl4pPr marL="0" marR="0" lvl="3" indent="0" algn="ctr" rtl="0">
              <a:spcBef>
                <a:spcPts val="0"/>
              </a:spcBef>
              <a:buNone/>
              <a:defRPr sz="1800">
                <a:solidFill>
                  <a:schemeClr val="lt1"/>
                </a:solidFill>
                <a:latin typeface="Verdana"/>
                <a:ea typeface="Verdana"/>
                <a:cs typeface="Verdana"/>
                <a:sym typeface="Verdana"/>
              </a:defRPr>
            </a:lvl4pPr>
            <a:lvl5pPr marL="0" marR="0" lvl="4" indent="0" algn="ctr" rtl="0">
              <a:spcBef>
                <a:spcPts val="0"/>
              </a:spcBef>
              <a:buNone/>
              <a:defRPr sz="1800">
                <a:solidFill>
                  <a:schemeClr val="lt1"/>
                </a:solidFill>
                <a:latin typeface="Verdana"/>
                <a:ea typeface="Verdana"/>
                <a:cs typeface="Verdana"/>
                <a:sym typeface="Verdana"/>
              </a:defRPr>
            </a:lvl5pPr>
            <a:lvl6pPr marL="0" marR="0" lvl="5" indent="0" algn="ctr" rtl="0">
              <a:spcBef>
                <a:spcPts val="0"/>
              </a:spcBef>
              <a:buNone/>
              <a:defRPr sz="1800">
                <a:solidFill>
                  <a:schemeClr val="lt1"/>
                </a:solidFill>
                <a:latin typeface="Verdana"/>
                <a:ea typeface="Verdana"/>
                <a:cs typeface="Verdana"/>
                <a:sym typeface="Verdana"/>
              </a:defRPr>
            </a:lvl6pPr>
            <a:lvl7pPr marL="0" marR="0" lvl="6" indent="0" algn="ctr" rtl="0">
              <a:spcBef>
                <a:spcPts val="0"/>
              </a:spcBef>
              <a:buNone/>
              <a:defRPr sz="1800">
                <a:solidFill>
                  <a:schemeClr val="lt1"/>
                </a:solidFill>
                <a:latin typeface="Verdana"/>
                <a:ea typeface="Verdana"/>
                <a:cs typeface="Verdana"/>
                <a:sym typeface="Verdana"/>
              </a:defRPr>
            </a:lvl7pPr>
            <a:lvl8pPr marL="0" marR="0" lvl="7" indent="0" algn="ctr" rtl="0">
              <a:spcBef>
                <a:spcPts val="0"/>
              </a:spcBef>
              <a:buNone/>
              <a:defRPr sz="1800">
                <a:solidFill>
                  <a:schemeClr val="lt1"/>
                </a:solidFill>
                <a:latin typeface="Verdana"/>
                <a:ea typeface="Verdana"/>
                <a:cs typeface="Verdana"/>
                <a:sym typeface="Verdana"/>
              </a:defRPr>
            </a:lvl8pPr>
            <a:lvl9pPr marL="0" marR="0" lvl="8" indent="0" algn="ctr" rtl="0">
              <a:spcBef>
                <a:spcPts val="0"/>
              </a:spcBef>
              <a:buNone/>
              <a:defRPr sz="1800">
                <a:solidFill>
                  <a:schemeClr val="lt1"/>
                </a:solidFill>
                <a:latin typeface="Verdana"/>
                <a:ea typeface="Verdana"/>
                <a:cs typeface="Verdana"/>
                <a:sym typeface="Verdana"/>
              </a:defRPr>
            </a:lvl9pPr>
          </a:lstStyle>
          <a:p>
            <a:fld id="{0798D939-2D9E-2142-A80A-FFDECD1E5A9B}" type="slidenum">
              <a:rPr lang="en-US" smtClean="0"/>
              <a:t>‹#›</a:t>
            </a:fld>
            <a:endParaRPr lang="en-US"/>
          </a:p>
        </p:txBody>
      </p:sp>
      <p:pic>
        <p:nvPicPr>
          <p:cNvPr id="149" name="Google Shape;149;p21"/>
          <p:cNvPicPr preferRelativeResize="0"/>
          <p:nvPr/>
        </p:nvPicPr>
        <p:blipFill rotWithShape="1">
          <a:blip r:embed="rId3">
            <a:alphaModFix/>
          </a:blip>
          <a:srcRect/>
          <a:stretch/>
        </p:blipFill>
        <p:spPr>
          <a:xfrm>
            <a:off x="1835696" y="2927472"/>
            <a:ext cx="576000" cy="576000"/>
          </a:xfrm>
          <a:prstGeom prst="rect">
            <a:avLst/>
          </a:prstGeom>
          <a:noFill/>
          <a:ln>
            <a:noFill/>
          </a:ln>
        </p:spPr>
      </p:pic>
      <p:pic>
        <p:nvPicPr>
          <p:cNvPr id="150" name="Google Shape;150;p21"/>
          <p:cNvPicPr preferRelativeResize="0"/>
          <p:nvPr/>
        </p:nvPicPr>
        <p:blipFill rotWithShape="1">
          <a:blip r:embed="rId4">
            <a:alphaModFix/>
          </a:blip>
          <a:srcRect/>
          <a:stretch/>
        </p:blipFill>
        <p:spPr>
          <a:xfrm>
            <a:off x="1856233" y="3719560"/>
            <a:ext cx="540000" cy="540000"/>
          </a:xfrm>
          <a:prstGeom prst="rect">
            <a:avLst/>
          </a:prstGeom>
          <a:noFill/>
          <a:ln>
            <a:noFill/>
          </a:ln>
        </p:spPr>
      </p:pic>
      <p:sp>
        <p:nvSpPr>
          <p:cNvPr id="151" name="Google Shape;151;p21"/>
          <p:cNvSpPr txBox="1"/>
          <p:nvPr/>
        </p:nvSpPr>
        <p:spPr>
          <a:xfrm>
            <a:off x="2588275" y="3835675"/>
            <a:ext cx="51210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1400">
                <a:solidFill>
                  <a:schemeClr val="lt1"/>
                </a:solidFill>
                <a:latin typeface="Verdana"/>
                <a:ea typeface="Verdana"/>
                <a:cs typeface="Verdana"/>
                <a:sym typeface="Verdana"/>
              </a:rPr>
              <a:t>https://www.linkedin.com/groups/8635339</a:t>
            </a:r>
            <a:endParaRPr sz="1400">
              <a:solidFill>
                <a:schemeClr val="lt1"/>
              </a:solidFill>
              <a:latin typeface="Verdana"/>
              <a:ea typeface="Verdana"/>
              <a:cs typeface="Verdana"/>
              <a:sym typeface="Verdana"/>
            </a:endParaRPr>
          </a:p>
        </p:txBody>
      </p:sp>
      <p:sp>
        <p:nvSpPr>
          <p:cNvPr id="152" name="Google Shape;152;p21"/>
          <p:cNvSpPr txBox="1"/>
          <p:nvPr/>
        </p:nvSpPr>
        <p:spPr>
          <a:xfrm>
            <a:off x="2588275" y="3071488"/>
            <a:ext cx="55743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1400">
                <a:solidFill>
                  <a:schemeClr val="lt1"/>
                </a:solidFill>
                <a:latin typeface="Verdana"/>
                <a:ea typeface="Verdana"/>
                <a:cs typeface="Verdana"/>
                <a:sym typeface="Verdana"/>
              </a:rPr>
              <a:t>https://github.com/organizations/DARTH-git</a:t>
            </a:r>
            <a:endParaRPr sz="1400">
              <a:solidFill>
                <a:schemeClr val="lt1"/>
              </a:solidFill>
              <a:latin typeface="Verdana"/>
              <a:ea typeface="Verdana"/>
              <a:cs typeface="Verdana"/>
              <a:sym typeface="Verdana"/>
            </a:endParaRPr>
          </a:p>
        </p:txBody>
      </p:sp>
      <p:sp>
        <p:nvSpPr>
          <p:cNvPr id="153" name="Google Shape;153;p21"/>
          <p:cNvSpPr txBox="1"/>
          <p:nvPr/>
        </p:nvSpPr>
        <p:spPr>
          <a:xfrm>
            <a:off x="653822" y="5807005"/>
            <a:ext cx="7850100" cy="646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sz="900" b="1" i="0" dirty="0">
                <a:solidFill>
                  <a:schemeClr val="lt1"/>
                </a:solidFill>
                <a:latin typeface="Verdana"/>
                <a:ea typeface="Verdana"/>
                <a:cs typeface="Verdana"/>
                <a:sym typeface="Verdana"/>
              </a:rPr>
              <a:t>© Copyright 2017, THE HOSPITAL FOR SICK CHILDREN AND THE COLLABORATING INSTITUTIONS.</a:t>
            </a:r>
            <a:r>
              <a:rPr lang="nl-NL" sz="900" b="0" i="0" dirty="0">
                <a:solidFill>
                  <a:schemeClr val="lt1"/>
                </a:solidFill>
                <a:latin typeface="Verdana"/>
                <a:ea typeface="Verdana"/>
                <a:cs typeface="Verdana"/>
                <a:sym typeface="Verdana"/>
              </a:rPr>
              <a:t> </a:t>
            </a:r>
            <a:endParaRPr dirty="0"/>
          </a:p>
          <a:p>
            <a:pPr marL="0" marR="0" lvl="0" indent="0" algn="l" rtl="0">
              <a:spcBef>
                <a:spcPts val="0"/>
              </a:spcBef>
              <a:spcAft>
                <a:spcPts val="0"/>
              </a:spcAft>
              <a:buNone/>
            </a:pPr>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r>
              <a:rPr lang="nl-NL" sz="900" b="0" i="0" dirty="0">
                <a:solidFill>
                  <a:schemeClr val="lt1"/>
                </a:solidFill>
                <a:latin typeface="Verdana"/>
                <a:ea typeface="Verdana"/>
                <a:cs typeface="Verdana"/>
                <a:sym typeface="Verdana"/>
              </a:rPr>
              <a:t> </a:t>
            </a:r>
            <a:endParaRPr sz="900" dirty="0">
              <a:solidFill>
                <a:schemeClr val="lt1"/>
              </a:solidFill>
              <a:latin typeface="Verdana"/>
              <a:ea typeface="Verdana"/>
              <a:cs typeface="Verdana"/>
              <a:sym typeface="Verdana"/>
            </a:endParaRPr>
          </a:p>
        </p:txBody>
      </p:sp>
      <p:sp>
        <p:nvSpPr>
          <p:cNvPr id="154" name="Google Shape;154;p21"/>
          <p:cNvSpPr/>
          <p:nvPr/>
        </p:nvSpPr>
        <p:spPr>
          <a:xfrm>
            <a:off x="1815058" y="620688"/>
            <a:ext cx="7308300" cy="1188000"/>
          </a:xfrm>
          <a:prstGeom prst="rect">
            <a:avLst/>
          </a:prstGeom>
          <a:solidFill>
            <a:srgbClr val="FEF8F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4D99"/>
              </a:solidFill>
              <a:latin typeface="Verdana"/>
              <a:ea typeface="Verdana"/>
              <a:cs typeface="Verdana"/>
              <a:sym typeface="Verdana"/>
            </a:endParaRPr>
          </a:p>
        </p:txBody>
      </p:sp>
      <p:sp>
        <p:nvSpPr>
          <p:cNvPr id="155" name="Google Shape;155;p21"/>
          <p:cNvSpPr txBox="1"/>
          <p:nvPr/>
        </p:nvSpPr>
        <p:spPr>
          <a:xfrm>
            <a:off x="2588275" y="2363475"/>
            <a:ext cx="55743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a:solidFill>
                  <a:schemeClr val="lt1"/>
                </a:solidFill>
                <a:latin typeface="Verdana"/>
                <a:ea typeface="Verdana"/>
                <a:cs typeface="Verdana"/>
                <a:sym typeface="Verdana"/>
              </a:rPr>
              <a:t>http://darthworkgroup.com/</a:t>
            </a:r>
            <a:endParaRPr sz="1400">
              <a:solidFill>
                <a:schemeClr val="lt1"/>
              </a:solidFill>
              <a:latin typeface="Verdana"/>
              <a:ea typeface="Verdana"/>
              <a:cs typeface="Verdana"/>
              <a:sym typeface="Verdana"/>
            </a:endParaRPr>
          </a:p>
        </p:txBody>
      </p:sp>
      <p:sp>
        <p:nvSpPr>
          <p:cNvPr id="156" name="Google Shape;156;p21"/>
          <p:cNvSpPr txBox="1"/>
          <p:nvPr/>
        </p:nvSpPr>
        <p:spPr>
          <a:xfrm>
            <a:off x="2588275" y="4577563"/>
            <a:ext cx="5121000" cy="3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nl-NL">
                <a:solidFill>
                  <a:schemeClr val="lt1"/>
                </a:solidFill>
                <a:latin typeface="Verdana"/>
                <a:ea typeface="Verdana"/>
                <a:cs typeface="Verdana"/>
                <a:sym typeface="Verdana"/>
              </a:rPr>
              <a:t>@DARTHworkgroup</a:t>
            </a:r>
            <a:endParaRPr sz="1400">
              <a:solidFill>
                <a:schemeClr val="lt1"/>
              </a:solidFill>
              <a:latin typeface="Verdana"/>
              <a:ea typeface="Verdana"/>
              <a:cs typeface="Verdana"/>
              <a:sym typeface="Verdana"/>
            </a:endParaRPr>
          </a:p>
        </p:txBody>
      </p:sp>
      <p:pic>
        <p:nvPicPr>
          <p:cNvPr id="157" name="Google Shape;157;p21"/>
          <p:cNvPicPr preferRelativeResize="0"/>
          <p:nvPr/>
        </p:nvPicPr>
        <p:blipFill>
          <a:blip r:embed="rId5">
            <a:alphaModFix/>
          </a:blip>
          <a:stretch>
            <a:fillRect/>
          </a:stretch>
        </p:blipFill>
        <p:spPr>
          <a:xfrm>
            <a:off x="1835700" y="4475625"/>
            <a:ext cx="576000" cy="5760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27083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st slide">
    <p:bg>
      <p:bgPr>
        <a:solidFill>
          <a:srgbClr val="009999"/>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D5A4D17-DDD3-B845-A3D5-EC71CA85C871}" type="datetime1">
              <a:rPr lang="en-US" smtClean="0"/>
              <a:t>2026-06-17</a:t>
            </a:fld>
            <a:endParaRPr lang="en-US"/>
          </a:p>
        </p:txBody>
      </p:sp>
      <p:pic>
        <p:nvPicPr>
          <p:cNvPr id="1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0770" y="2279647"/>
            <a:ext cx="570926" cy="432000"/>
          </a:xfrm>
          <a:prstGeom prst="rect">
            <a:avLst/>
          </a:prstGeom>
          <a:noFill/>
          <a:extLst>
            <a:ext uri="{909E8E84-426E-40dd-AFC4-6F175D3DCCD1}">
              <a14:hiddenFill xmlns:a14="http://schemas.microsoft.com/office/drawing/2010/main" xmlns="">
                <a:solidFill>
                  <a:srgbClr val="FFFFFF"/>
                </a:solidFill>
              </a14:hiddenFill>
            </a:ext>
          </a:extLst>
        </p:spPr>
      </p:pic>
      <p:pic>
        <p:nvPicPr>
          <p:cNvPr id="11" name="Picture 4" descr="Image result for website icon whit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5696" y="2852936"/>
            <a:ext cx="540000" cy="540000"/>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Footer Placeholder 4"/>
          <p:cNvSpPr>
            <a:spLocks noGrp="1"/>
          </p:cNvSpPr>
          <p:nvPr>
            <p:ph type="ftr" sz="quarter" idx="3"/>
          </p:nvPr>
        </p:nvSpPr>
        <p:spPr>
          <a:xfrm>
            <a:off x="649288" y="6481911"/>
            <a:ext cx="4786808" cy="374587"/>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14" name="Slide Number Placeholder 2"/>
          <p:cNvSpPr>
            <a:spLocks noGrp="1"/>
          </p:cNvSpPr>
          <p:nvPr>
            <p:ph type="sldNum" sz="quarter" idx="11"/>
          </p:nvPr>
        </p:nvSpPr>
        <p:spPr>
          <a:xfrm>
            <a:off x="8559864" y="6453336"/>
            <a:ext cx="548640" cy="396240"/>
          </a:xfrm>
          <a:ln>
            <a:noFill/>
          </a:ln>
        </p:spPr>
        <p:txBody>
          <a:bodyPr/>
          <a:lstStyle>
            <a:lvl1pPr>
              <a:defRPr>
                <a:solidFill>
                  <a:schemeClr val="bg1"/>
                </a:solidFill>
              </a:defRPr>
            </a:lvl1pPr>
          </a:lstStyle>
          <a:p>
            <a:fld id="{0798D939-2D9E-2142-A80A-FFDECD1E5A9B}" type="slidenum">
              <a:rPr lang="en-US" smtClean="0"/>
              <a:t>‹#›</a:t>
            </a:fld>
            <a:endParaRPr lang="en-US"/>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5696" y="3537072"/>
            <a:ext cx="576000" cy="576000"/>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56233" y="4329160"/>
            <a:ext cx="540000" cy="540000"/>
          </a:xfrm>
          <a:prstGeom prst="rect">
            <a:avLst/>
          </a:prstGeom>
        </p:spPr>
      </p:pic>
      <p:sp>
        <p:nvSpPr>
          <p:cNvPr id="18" name="TextBox 17"/>
          <p:cNvSpPr txBox="1"/>
          <p:nvPr/>
        </p:nvSpPr>
        <p:spPr>
          <a:xfrm>
            <a:off x="2588275" y="4445271"/>
            <a:ext cx="4134172" cy="307777"/>
          </a:xfrm>
          <a:prstGeom prst="rect">
            <a:avLst/>
          </a:prstGeom>
          <a:noFill/>
        </p:spPr>
        <p:txBody>
          <a:bodyPr wrap="square" rtlCol="0">
            <a:spAutoFit/>
          </a:bodyPr>
          <a:lstStyle/>
          <a:p>
            <a:r>
              <a:rPr lang="en-GB" sz="1400" dirty="0">
                <a:solidFill>
                  <a:schemeClr val="bg1"/>
                </a:solidFill>
              </a:rPr>
              <a:t>https://www.linkedin.com/groups/8635339</a:t>
            </a:r>
          </a:p>
        </p:txBody>
      </p:sp>
      <p:sp>
        <p:nvSpPr>
          <p:cNvPr id="19" name="TextBox 18"/>
          <p:cNvSpPr txBox="1"/>
          <p:nvPr/>
        </p:nvSpPr>
        <p:spPr>
          <a:xfrm>
            <a:off x="2588275" y="3681088"/>
            <a:ext cx="5574332" cy="307777"/>
          </a:xfrm>
          <a:prstGeom prst="rect">
            <a:avLst/>
          </a:prstGeom>
          <a:noFill/>
        </p:spPr>
        <p:txBody>
          <a:bodyPr wrap="square" rtlCol="0">
            <a:spAutoFit/>
          </a:bodyPr>
          <a:lstStyle/>
          <a:p>
            <a:r>
              <a:rPr lang="en-GB" sz="1400" dirty="0">
                <a:solidFill>
                  <a:schemeClr val="bg1"/>
                </a:solidFill>
              </a:rPr>
              <a:t>https://github.com/organizations/DARTH-git</a:t>
            </a:r>
          </a:p>
        </p:txBody>
      </p:sp>
      <p:sp>
        <p:nvSpPr>
          <p:cNvPr id="22" name="TextBox 21"/>
          <p:cNvSpPr txBox="1"/>
          <p:nvPr/>
        </p:nvSpPr>
        <p:spPr>
          <a:xfrm>
            <a:off x="653822" y="5807005"/>
            <a:ext cx="7850043" cy="646331"/>
          </a:xfrm>
          <a:prstGeom prst="rect">
            <a:avLst/>
          </a:prstGeom>
          <a:noFill/>
        </p:spPr>
        <p:txBody>
          <a:bodyPr wrap="square" rtlCol="0">
            <a:spAutoFit/>
          </a:bodyPr>
          <a:lstStyle/>
          <a:p>
            <a:r>
              <a:rPr lang="en-US" sz="900" b="1" i="0" kern="1200" dirty="0">
                <a:solidFill>
                  <a:schemeClr val="bg1"/>
                </a:solidFill>
                <a:effectLst/>
                <a:latin typeface="+mn-lt"/>
                <a:ea typeface="+mn-ea"/>
                <a:cs typeface="+mn-cs"/>
              </a:rPr>
              <a:t>© Copyright 2017, THE HOSPITAL FOR SICK CHILDREN AND THE COLLABORATING INSTITUTIONS.</a:t>
            </a:r>
            <a:r>
              <a:rPr lang="en-US" sz="900" b="0" i="0" kern="1200" dirty="0">
                <a:solidFill>
                  <a:schemeClr val="bg1"/>
                </a:solidFill>
                <a:effectLst/>
                <a:latin typeface="+mn-lt"/>
                <a:ea typeface="+mn-ea"/>
                <a:cs typeface="+mn-cs"/>
              </a:rPr>
              <a:t> </a:t>
            </a:r>
          </a:p>
          <a:p>
            <a:r>
              <a:rPr lang="en-US" sz="900" b="0" i="0" kern="1200" dirty="0">
                <a:solidFill>
                  <a:schemeClr val="bg1"/>
                </a:solidFill>
                <a:effectLst/>
                <a:latin typeface="+mn-lt"/>
                <a:ea typeface="+mn-ea"/>
                <a:cs typeface="+mn-cs"/>
              </a:rPr>
              <a:t>All rights reserved in Canada, the United States and worldwide. Copyright, trademarks, trade names and any and all associated intellectual property are exclusively owned by THE HOSPITAL FOR Sick CHILDREN and the collaborating institutions. These materials may be used, reproduced, modified, distributed and adapted with proper attribution.  </a:t>
            </a:r>
            <a:endParaRPr lang="en-GB" sz="900" dirty="0">
              <a:solidFill>
                <a:schemeClr val="bg1"/>
              </a:solidFill>
            </a:endParaRPr>
          </a:p>
        </p:txBody>
      </p:sp>
      <p:sp>
        <p:nvSpPr>
          <p:cNvPr id="25" name="Rectangle 24"/>
          <p:cNvSpPr/>
          <p:nvPr/>
        </p:nvSpPr>
        <p:spPr>
          <a:xfrm>
            <a:off x="1815058" y="620688"/>
            <a:ext cx="7308304" cy="1188132"/>
          </a:xfrm>
          <a:prstGeom prst="rect">
            <a:avLst/>
          </a:prstGeom>
          <a:solidFill>
            <a:srgbClr val="FEF8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4D99"/>
              </a:solidFill>
            </a:endParaRPr>
          </a:p>
        </p:txBody>
      </p:sp>
    </p:spTree>
    <p:extLst>
      <p:ext uri="{BB962C8B-B14F-4D97-AF65-F5344CB8AC3E}">
        <p14:creationId xmlns:p14="http://schemas.microsoft.com/office/powerpoint/2010/main" val="1077009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136"/>
        <p:cNvGrpSpPr/>
        <p:nvPr/>
      </p:nvGrpSpPr>
      <p:grpSpPr>
        <a:xfrm>
          <a:off x="0" y="0"/>
          <a:ext cx="0" cy="0"/>
          <a:chOff x="0" y="0"/>
          <a:chExt cx="0" cy="0"/>
        </a:xfrm>
      </p:grpSpPr>
      <p:sp>
        <p:nvSpPr>
          <p:cNvPr id="137" name="Shape 137"/>
          <p:cNvSpPr txBox="1">
            <a:spLocks noGrp="1"/>
          </p:cNvSpPr>
          <p:nvPr>
            <p:ph type="title"/>
          </p:nvPr>
        </p:nvSpPr>
        <p:spPr>
          <a:xfrm>
            <a:off x="671250" y="2855000"/>
            <a:ext cx="7852200" cy="1148100"/>
          </a:xfrm>
          <a:prstGeom prst="rect">
            <a:avLst/>
          </a:prstGeom>
        </p:spPr>
        <p:txBody>
          <a:bodyPr spcFirstLastPara="1" wrap="square" lIns="91425" tIns="91425" rIns="91425" bIns="91425" anchor="ctr" anchorCtr="0"/>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rPr lang="en-US"/>
              <a:t>Click to edit Master title style</a:t>
            </a:r>
            <a:endParaRPr/>
          </a:p>
        </p:txBody>
      </p:sp>
      <p:sp>
        <p:nvSpPr>
          <p:cNvPr id="138" name="Shape 138"/>
          <p:cNvSpPr txBox="1">
            <a:spLocks noGrp="1"/>
          </p:cNvSpPr>
          <p:nvPr>
            <p:ph type="sldNum" idx="12"/>
          </p:nvPr>
        </p:nvSpPr>
        <p:spPr>
          <a:xfrm>
            <a:off x="8490250" y="6241346"/>
            <a:ext cx="548700" cy="524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798D939-2D9E-2142-A80A-FFDECD1E5A9B}" type="slidenum">
              <a:rPr lang="en-US" smtClean="0"/>
              <a:t>‹#›</a:t>
            </a:fld>
            <a:endParaRPr lang="en-US"/>
          </a:p>
        </p:txBody>
      </p:sp>
    </p:spTree>
    <p:extLst>
      <p:ext uri="{BB962C8B-B14F-4D97-AF65-F5344CB8AC3E}">
        <p14:creationId xmlns:p14="http://schemas.microsoft.com/office/powerpoint/2010/main" val="4117150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71600" y="274638"/>
            <a:ext cx="7620000" cy="1143000"/>
          </a:xfrm>
          <a:prstGeom prst="rect">
            <a:avLst/>
          </a:prstGeom>
        </p:spPr>
        <p:txBody>
          <a:bodyPr vert="horz" lIns="91440" tIns="45720" rIns="91440" bIns="45720" rtlCol="0" anchor="ctr">
            <a:noAutofit/>
          </a:bodyPr>
          <a:lstStyle/>
          <a:p>
            <a:r>
              <a:rPr lang="nl-NL"/>
              <a:t>Titelstijl van model bewerken</a:t>
            </a:r>
            <a:endParaRPr lang="en-US" dirty="0"/>
          </a:p>
        </p:txBody>
      </p:sp>
      <p:sp>
        <p:nvSpPr>
          <p:cNvPr id="3" name="Text Placeholder 2"/>
          <p:cNvSpPr>
            <a:spLocks noGrp="1"/>
          </p:cNvSpPr>
          <p:nvPr>
            <p:ph type="body" idx="1"/>
          </p:nvPr>
        </p:nvSpPr>
        <p:spPr>
          <a:xfrm>
            <a:off x="984448" y="1600200"/>
            <a:ext cx="7620000" cy="4800600"/>
          </a:xfrm>
          <a:prstGeom prst="rect">
            <a:avLst/>
          </a:prstGeom>
        </p:spPr>
        <p:txBody>
          <a:bodyPr vert="horz" lIns="91440" tIns="45720" rIns="91440" bIns="45720" rtlCol="0">
            <a:normAutofit/>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Rectangle 6"/>
          <p:cNvSpPr/>
          <p:nvPr/>
        </p:nvSpPr>
        <p:spPr>
          <a:xfrm>
            <a:off x="-22817" y="0"/>
            <a:ext cx="685800" cy="6859728"/>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p:cNvSpPr>
            <a:spLocks noGrp="1"/>
          </p:cNvSpPr>
          <p:nvPr>
            <p:ph type="sldNum" sz="quarter" idx="4"/>
          </p:nvPr>
        </p:nvSpPr>
        <p:spPr>
          <a:xfrm>
            <a:off x="8559864" y="6453336"/>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009999"/>
                </a:solidFill>
              </a:defRPr>
            </a:lvl1pPr>
          </a:lstStyle>
          <a:p>
            <a:fld id="{0798D939-2D9E-2142-A80A-FFDECD1E5A9B}" type="slidenum">
              <a:rPr lang="en-US" smtClean="0"/>
              <a:t>‹#›</a:t>
            </a:fld>
            <a:endParaRPr lang="en-US"/>
          </a:p>
        </p:txBody>
      </p:sp>
      <p:sp>
        <p:nvSpPr>
          <p:cNvPr id="5" name="Footer Placeholder 4"/>
          <p:cNvSpPr>
            <a:spLocks noGrp="1"/>
          </p:cNvSpPr>
          <p:nvPr>
            <p:ph type="ftr" sz="quarter" idx="3"/>
          </p:nvPr>
        </p:nvSpPr>
        <p:spPr>
          <a:xfrm>
            <a:off x="649288" y="6481911"/>
            <a:ext cx="6298976" cy="374587"/>
          </a:xfrm>
          <a:prstGeom prst="rect">
            <a:avLst/>
          </a:prstGeom>
        </p:spPr>
        <p:txBody>
          <a:bodyPr vert="horz" lIns="91440" tIns="45720" rIns="91440" bIns="45720" rtlCol="0" anchor="ctr"/>
          <a:lstStyle>
            <a:lvl1pPr algn="l">
              <a:defRPr sz="1200">
                <a:solidFill>
                  <a:srgbClr val="009999"/>
                </a:solidFill>
              </a:defRPr>
            </a:lvl1pPr>
          </a:lstStyle>
          <a:p>
            <a:endParaRPr lang="en-US"/>
          </a:p>
        </p:txBody>
      </p:sp>
      <p:sp>
        <p:nvSpPr>
          <p:cNvPr id="4" name="Date Placeholder 3"/>
          <p:cNvSpPr>
            <a:spLocks noGrp="1"/>
          </p:cNvSpPr>
          <p:nvPr>
            <p:ph type="dt" sz="half" idx="2"/>
          </p:nvPr>
        </p:nvSpPr>
        <p:spPr>
          <a:xfrm rot="16200000">
            <a:off x="-912812" y="5303520"/>
            <a:ext cx="2438399" cy="365760"/>
          </a:xfrm>
          <a:prstGeom prst="rect">
            <a:avLst/>
          </a:prstGeom>
        </p:spPr>
        <p:txBody>
          <a:bodyPr vert="horz" lIns="91440" tIns="45720" rIns="91440" bIns="45720" rtlCol="0" anchor="ctr"/>
          <a:lstStyle>
            <a:lvl1pPr algn="l">
              <a:defRPr sz="1200">
                <a:solidFill>
                  <a:schemeClr val="bg1"/>
                </a:solidFill>
              </a:defRPr>
            </a:lvl1pPr>
          </a:lstStyle>
          <a:p>
            <a:fld id="{EB050224-42C9-F247-B0DF-50813A7CFE82}" type="datetime1">
              <a:rPr lang="en-US" smtClean="0"/>
              <a:t>2026-06-17</a:t>
            </a:fld>
            <a:endParaRPr lang="en-US"/>
          </a:p>
        </p:txBody>
      </p:sp>
    </p:spTree>
    <p:extLst>
      <p:ext uri="{BB962C8B-B14F-4D97-AF65-F5344CB8AC3E}">
        <p14:creationId xmlns:p14="http://schemas.microsoft.com/office/powerpoint/2010/main" val="2216530833"/>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6" r:id="rId17"/>
  </p:sldLayoutIdLst>
  <p:hf hdr="0" ftr="0" dt="0"/>
  <p:txStyles>
    <p:titleStyle>
      <a:lvl1pPr algn="l" defTabSz="914400" rtl="0" eaLnBrk="1" latinLnBrk="0" hangingPunct="1">
        <a:spcBef>
          <a:spcPct val="0"/>
        </a:spcBef>
        <a:buNone/>
        <a:defRPr sz="4600" kern="1200" cap="none" spc="-100" baseline="0">
          <a:ln>
            <a:noFill/>
          </a:ln>
          <a:solidFill>
            <a:schemeClr val="tx1"/>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SzPct val="100000"/>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SzPct val="100000"/>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SzPct val="100000"/>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SzPct val="100000"/>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SzPct val="100000"/>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hyperlink" Target="http://www.darthworkgroup.com/"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8.emf"/><Relationship Id="rId7" Type="http://schemas.openxmlformats.org/officeDocument/2006/relationships/image" Target="../media/image22.png"/><Relationship Id="rId2" Type="http://schemas.openxmlformats.org/officeDocument/2006/relationships/image" Target="../media/image17.emf"/><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emf"/><Relationship Id="rId4" Type="http://schemas.openxmlformats.org/officeDocument/2006/relationships/image" Target="../media/image19.emf"/><Relationship Id="rId9" Type="http://schemas.openxmlformats.org/officeDocument/2006/relationships/image" Target="../media/image24.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jp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jpg"/><Relationship Id="rId10" Type="http://schemas.openxmlformats.org/officeDocument/2006/relationships/image" Target="../media/image37.jpg"/><Relationship Id="rId4" Type="http://schemas.openxmlformats.org/officeDocument/2006/relationships/image" Target="../media/image31.jpg"/><Relationship Id="rId9"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8.jpg"/><Relationship Id="rId7"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7.jp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pic>
        <p:nvPicPr>
          <p:cNvPr id="951" name="Google Shape;951;p140"/>
          <p:cNvPicPr preferRelativeResize="0"/>
          <p:nvPr/>
        </p:nvPicPr>
        <p:blipFill>
          <a:blip r:embed="rId3">
            <a:alphaModFix/>
          </a:blip>
          <a:stretch>
            <a:fillRect/>
          </a:stretch>
        </p:blipFill>
        <p:spPr>
          <a:xfrm>
            <a:off x="7897386" y="946371"/>
            <a:ext cx="1101260" cy="962975"/>
          </a:xfrm>
          <a:prstGeom prst="rect">
            <a:avLst/>
          </a:prstGeom>
          <a:noFill/>
          <a:ln>
            <a:noFill/>
          </a:ln>
        </p:spPr>
      </p:pic>
      <p:sp>
        <p:nvSpPr>
          <p:cNvPr id="952" name="Google Shape;952;p140"/>
          <p:cNvSpPr txBox="1">
            <a:spLocks noGrp="1"/>
          </p:cNvSpPr>
          <p:nvPr>
            <p:ph type="ctrTitle"/>
          </p:nvPr>
        </p:nvSpPr>
        <p:spPr>
          <a:xfrm>
            <a:off x="1786800" y="806600"/>
            <a:ext cx="7357200" cy="2324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rgbClr val="000000"/>
              </a:buClr>
              <a:buSzPts val="1100"/>
              <a:buFont typeface="Arial"/>
              <a:buNone/>
            </a:pPr>
            <a:r>
              <a:rPr lang="nl-NL" sz="3600" dirty="0" err="1"/>
              <a:t>Introduction</a:t>
            </a:r>
            <a:r>
              <a:rPr lang="nl-NL" sz="3600" dirty="0"/>
              <a:t> </a:t>
            </a:r>
            <a:r>
              <a:rPr lang="nl-NL" sz="3600" dirty="0" err="1"/>
              <a:t>to</a:t>
            </a:r>
            <a:r>
              <a:rPr lang="nl-NL" sz="3600" dirty="0"/>
              <a:t> </a:t>
            </a:r>
            <a:r>
              <a:rPr lang="nl-NL" sz="3600" dirty="0" err="1"/>
              <a:t>the</a:t>
            </a:r>
            <a:r>
              <a:rPr lang="nl-NL" sz="3600" dirty="0"/>
              <a:t> course</a:t>
            </a:r>
            <a:endParaRPr sz="3600" dirty="0"/>
          </a:p>
        </p:txBody>
      </p:sp>
      <p:sp>
        <p:nvSpPr>
          <p:cNvPr id="3" name="Subtitle 2">
            <a:extLst>
              <a:ext uri="{FF2B5EF4-FFF2-40B4-BE49-F238E27FC236}">
                <a16:creationId xmlns:a16="http://schemas.microsoft.com/office/drawing/2014/main" id="{D39416C4-24ED-5849-BD52-BA5B9ECFBB18}"/>
              </a:ext>
            </a:extLst>
          </p:cNvPr>
          <p:cNvSpPr>
            <a:spLocks noGrp="1"/>
          </p:cNvSpPr>
          <p:nvPr>
            <p:ph type="subTitle" idx="1"/>
          </p:nvPr>
        </p:nvSpPr>
        <p:spPr>
          <a:xfrm>
            <a:off x="827584" y="3501007"/>
            <a:ext cx="6461760" cy="2207065"/>
          </a:xfrm>
        </p:spPr>
        <p:txBody>
          <a:bodyPr>
            <a:normAutofit/>
          </a:bodyPr>
          <a:lstStyle/>
          <a:p>
            <a:endParaRPr lang="en-US" sz="2400" dirty="0"/>
          </a:p>
          <a:p>
            <a:r>
              <a:rPr lang="en-US" sz="2400" dirty="0"/>
              <a:t>Decision Modeling in R workshop</a:t>
            </a:r>
          </a:p>
          <a:p>
            <a:endParaRPr lang="en-US" sz="2400" dirty="0"/>
          </a:p>
        </p:txBody>
      </p:sp>
      <p:sp>
        <p:nvSpPr>
          <p:cNvPr id="4" name="TextBox 3">
            <a:extLst>
              <a:ext uri="{FF2B5EF4-FFF2-40B4-BE49-F238E27FC236}">
                <a16:creationId xmlns:a16="http://schemas.microsoft.com/office/drawing/2014/main" id="{DD6972DB-55F3-274F-AE8F-6892B312C3D7}"/>
              </a:ext>
            </a:extLst>
          </p:cNvPr>
          <p:cNvSpPr txBox="1"/>
          <p:nvPr/>
        </p:nvSpPr>
        <p:spPr>
          <a:xfrm>
            <a:off x="3186545" y="379614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600573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0432" y="1795714"/>
            <a:ext cx="7891444" cy="4983162"/>
          </a:xfrm>
        </p:spPr>
        <p:txBody>
          <a:bodyPr>
            <a:normAutofit/>
          </a:bodyPr>
          <a:lstStyle/>
          <a:p>
            <a:pPr marL="114300" indent="0">
              <a:spcAft>
                <a:spcPts val="600"/>
              </a:spcAft>
              <a:buNone/>
            </a:pPr>
            <a:r>
              <a:rPr lang="en-US" b="1" dirty="0"/>
              <a:t>Instructors</a:t>
            </a:r>
          </a:p>
          <a:p>
            <a:pPr>
              <a:spcAft>
                <a:spcPts val="600"/>
              </a:spcAft>
            </a:pPr>
            <a:r>
              <a:rPr lang="en-GB" dirty="0"/>
              <a:t>David Ulises Garibay-Trevino</a:t>
            </a:r>
          </a:p>
          <a:p>
            <a:pPr>
              <a:spcAft>
                <a:spcPts val="600"/>
              </a:spcAft>
            </a:pPr>
            <a:r>
              <a:rPr lang="en-GB" dirty="0"/>
              <a:t>Alexandra Moskalewicz</a:t>
            </a:r>
            <a:r>
              <a:rPr lang="en-US" dirty="0"/>
              <a:t> </a:t>
            </a:r>
          </a:p>
          <a:p>
            <a:pPr>
              <a:spcAft>
                <a:spcPts val="600"/>
              </a:spcAft>
            </a:pPr>
            <a:r>
              <a:rPr lang="en-US" dirty="0"/>
              <a:t>Eline Krijkamp</a:t>
            </a:r>
          </a:p>
          <a:p>
            <a:pPr>
              <a:spcAft>
                <a:spcPts val="600"/>
              </a:spcAft>
            </a:pPr>
            <a:r>
              <a:rPr lang="en-US" dirty="0"/>
              <a:t>Petros Pechlivanoglou</a:t>
            </a:r>
          </a:p>
          <a:p>
            <a:pPr marL="114300" indent="0">
              <a:spcAft>
                <a:spcPts val="600"/>
              </a:spcAft>
              <a:buNone/>
            </a:pPr>
            <a:endParaRPr lang="en-US" dirty="0"/>
          </a:p>
          <a:p>
            <a:pPr marL="114300" indent="0">
              <a:spcAft>
                <a:spcPts val="1800"/>
              </a:spcAft>
              <a:buNone/>
            </a:pPr>
            <a:r>
              <a:rPr lang="nl-NL" dirty="0"/>
              <a:t>Special thank you to Ervin Wu and </a:t>
            </a:r>
            <a:r>
              <a:rPr lang="en-GB" dirty="0"/>
              <a:t>Navpreet Kaur</a:t>
            </a:r>
          </a:p>
          <a:p>
            <a:pPr marL="114300" indent="0">
              <a:spcAft>
                <a:spcPts val="1800"/>
              </a:spcAft>
              <a:buNone/>
            </a:pPr>
            <a:endParaRPr lang="en-US" dirty="0"/>
          </a:p>
        </p:txBody>
      </p:sp>
      <p:sp>
        <p:nvSpPr>
          <p:cNvPr id="4" name="Slide Number Placeholder 3">
            <a:extLst>
              <a:ext uri="{FF2B5EF4-FFF2-40B4-BE49-F238E27FC236}">
                <a16:creationId xmlns:a16="http://schemas.microsoft.com/office/drawing/2014/main" id="{2B9E9360-C40B-0741-AB0B-4CA6DAF37F75}"/>
              </a:ext>
            </a:extLst>
          </p:cNvPr>
          <p:cNvSpPr>
            <a:spLocks noGrp="1"/>
          </p:cNvSpPr>
          <p:nvPr>
            <p:ph type="sldNum" sz="quarter" idx="12"/>
          </p:nvPr>
        </p:nvSpPr>
        <p:spPr/>
        <p:txBody>
          <a:bodyPr/>
          <a:lstStyle/>
          <a:p>
            <a:fld id="{0798D939-2D9E-2142-A80A-FFDECD1E5A9B}" type="slidenum">
              <a:rPr lang="en-US" smtClean="0"/>
              <a:t>2</a:t>
            </a:fld>
            <a:endParaRPr lang="en-US"/>
          </a:p>
        </p:txBody>
      </p:sp>
      <p:pic>
        <p:nvPicPr>
          <p:cNvPr id="2052" name="Picture 4" descr="Team Teaching | PDST">
            <a:extLst>
              <a:ext uri="{FF2B5EF4-FFF2-40B4-BE49-F238E27FC236}">
                <a16:creationId xmlns:a16="http://schemas.microsoft.com/office/drawing/2014/main" id="{8B717B59-222A-C285-AADE-9DDF63EBA8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2610" y="107909"/>
            <a:ext cx="4131390" cy="2338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953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DARTH Workgroup</a:t>
            </a:r>
          </a:p>
        </p:txBody>
      </p:sp>
      <p:sp>
        <p:nvSpPr>
          <p:cNvPr id="3" name="Content Placeholder 2"/>
          <p:cNvSpPr>
            <a:spLocks noGrp="1"/>
          </p:cNvSpPr>
          <p:nvPr>
            <p:ph idx="1"/>
          </p:nvPr>
        </p:nvSpPr>
        <p:spPr>
          <a:xfrm>
            <a:off x="840432" y="1417638"/>
            <a:ext cx="7764306" cy="4983162"/>
          </a:xfrm>
        </p:spPr>
        <p:txBody>
          <a:bodyPr/>
          <a:lstStyle/>
          <a:p>
            <a:pPr>
              <a:spcAft>
                <a:spcPts val="1200"/>
              </a:spcAft>
            </a:pPr>
            <a:r>
              <a:rPr lang="en-US" dirty="0"/>
              <a:t>Materials for this course were largely developed by the Decision Analysis in R for Technologies in Health (DARTH) Workgroup</a:t>
            </a:r>
          </a:p>
          <a:p>
            <a:pPr>
              <a:spcAft>
                <a:spcPts val="1200"/>
              </a:spcAft>
            </a:pPr>
            <a:r>
              <a:rPr lang="en-US" dirty="0"/>
              <a:t>Goals: To expand knowledge in decision analysis using R and develop educational materials to empower people to construct R-based decision models.</a:t>
            </a:r>
          </a:p>
          <a:p>
            <a:pPr lvl="2">
              <a:spcAft>
                <a:spcPts val="1200"/>
              </a:spcAft>
            </a:pPr>
            <a:endParaRPr lang="en-US" dirty="0"/>
          </a:p>
          <a:p>
            <a:pPr marL="114300" indent="0" algn="ctr">
              <a:buNone/>
            </a:pPr>
            <a:r>
              <a:rPr lang="en-US" dirty="0"/>
              <a:t>For more information</a:t>
            </a:r>
          </a:p>
          <a:p>
            <a:pPr marL="114300" indent="0" algn="ctr">
              <a:buNone/>
            </a:pPr>
            <a:r>
              <a:rPr lang="en-US" dirty="0">
                <a:hlinkClick r:id="rId2"/>
              </a:rPr>
              <a:t>http://www.darthworkgroup.com/</a:t>
            </a:r>
            <a:endParaRPr lang="en-US" dirty="0"/>
          </a:p>
          <a:p>
            <a:endParaRPr lang="en-US" dirty="0"/>
          </a:p>
        </p:txBody>
      </p:sp>
      <p:sp>
        <p:nvSpPr>
          <p:cNvPr id="4" name="Slide Number Placeholder 3">
            <a:extLst>
              <a:ext uri="{FF2B5EF4-FFF2-40B4-BE49-F238E27FC236}">
                <a16:creationId xmlns:a16="http://schemas.microsoft.com/office/drawing/2014/main" id="{01719D6B-F471-6A43-8545-302A160AC80D}"/>
              </a:ext>
            </a:extLst>
          </p:cNvPr>
          <p:cNvSpPr>
            <a:spLocks noGrp="1"/>
          </p:cNvSpPr>
          <p:nvPr>
            <p:ph type="sldNum" sz="quarter" idx="12"/>
          </p:nvPr>
        </p:nvSpPr>
        <p:spPr/>
        <p:txBody>
          <a:bodyPr/>
          <a:lstStyle/>
          <a:p>
            <a:fld id="{0798D939-2D9E-2142-A80A-FFDECD1E5A9B}" type="slidenum">
              <a:rPr lang="en-US" smtClean="0"/>
              <a:t>3</a:t>
            </a:fld>
            <a:endParaRPr lang="en-US"/>
          </a:p>
        </p:txBody>
      </p:sp>
    </p:spTree>
    <p:extLst>
      <p:ext uri="{BB962C8B-B14F-4D97-AF65-F5344CB8AC3E}">
        <p14:creationId xmlns:p14="http://schemas.microsoft.com/office/powerpoint/2010/main" val="41175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llage of people in different poses&#10;&#10;AI-generated content may be incorrect.">
            <a:extLst>
              <a:ext uri="{FF2B5EF4-FFF2-40B4-BE49-F238E27FC236}">
                <a16:creationId xmlns:a16="http://schemas.microsoft.com/office/drawing/2014/main" id="{CC1F2588-D4DB-5118-9BED-018E26A3C45C}"/>
              </a:ext>
            </a:extLst>
          </p:cNvPr>
          <p:cNvPicPr>
            <a:picLocks noChangeAspect="1"/>
          </p:cNvPicPr>
          <p:nvPr/>
        </p:nvPicPr>
        <p:blipFill>
          <a:blip r:embed="rId2"/>
          <a:stretch>
            <a:fillRect/>
          </a:stretch>
        </p:blipFill>
        <p:spPr>
          <a:xfrm>
            <a:off x="971600" y="320040"/>
            <a:ext cx="7772400" cy="6217920"/>
          </a:xfrm>
          <a:prstGeom prst="rect">
            <a:avLst/>
          </a:prstGeom>
        </p:spPr>
      </p:pic>
      <p:sp>
        <p:nvSpPr>
          <p:cNvPr id="6" name="TextBox 5">
            <a:extLst>
              <a:ext uri="{FF2B5EF4-FFF2-40B4-BE49-F238E27FC236}">
                <a16:creationId xmlns:a16="http://schemas.microsoft.com/office/drawing/2014/main" id="{10542BE1-7B5B-C7CC-888D-1E2EFDDC13D8}"/>
              </a:ext>
            </a:extLst>
          </p:cNvPr>
          <p:cNvSpPr txBox="1"/>
          <p:nvPr/>
        </p:nvSpPr>
        <p:spPr>
          <a:xfrm>
            <a:off x="1327759" y="6726477"/>
            <a:ext cx="184731" cy="307777"/>
          </a:xfrm>
          <a:prstGeom prst="rect">
            <a:avLst/>
          </a:prstGeom>
          <a:noFill/>
        </p:spPr>
        <p:txBody>
          <a:bodyPr wrap="none" rtlCol="0">
            <a:spAutoFit/>
          </a:bodyPr>
          <a:lstStyle/>
          <a:p>
            <a:endParaRPr lang="en-NL" dirty="0"/>
          </a:p>
        </p:txBody>
      </p:sp>
      <p:pic>
        <p:nvPicPr>
          <p:cNvPr id="7" name="Picture 6" descr="A person in a suit smiling&#10;&#10;AI-generated content may be incorrect.">
            <a:extLst>
              <a:ext uri="{FF2B5EF4-FFF2-40B4-BE49-F238E27FC236}">
                <a16:creationId xmlns:a16="http://schemas.microsoft.com/office/drawing/2014/main" id="{0FD822D3-6B10-F6A3-05EF-215E6153AF46}"/>
              </a:ext>
            </a:extLst>
          </p:cNvPr>
          <p:cNvPicPr>
            <a:picLocks noChangeAspect="1"/>
          </p:cNvPicPr>
          <p:nvPr/>
        </p:nvPicPr>
        <p:blipFill>
          <a:blip r:embed="rId3"/>
          <a:stretch>
            <a:fillRect/>
          </a:stretch>
        </p:blipFill>
        <p:spPr>
          <a:xfrm>
            <a:off x="7513615" y="4073324"/>
            <a:ext cx="982204" cy="1309605"/>
          </a:xfrm>
          <a:prstGeom prst="rect">
            <a:avLst/>
          </a:prstGeom>
        </p:spPr>
      </p:pic>
    </p:spTree>
    <p:extLst>
      <p:ext uri="{BB962C8B-B14F-4D97-AF65-F5344CB8AC3E}">
        <p14:creationId xmlns:p14="http://schemas.microsoft.com/office/powerpoint/2010/main" val="1721561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DARTH Publications</a:t>
            </a:r>
          </a:p>
        </p:txBody>
      </p:sp>
      <p:grpSp>
        <p:nvGrpSpPr>
          <p:cNvPr id="19" name="Group 18"/>
          <p:cNvGrpSpPr/>
          <p:nvPr/>
        </p:nvGrpSpPr>
        <p:grpSpPr>
          <a:xfrm>
            <a:off x="840432" y="1226402"/>
            <a:ext cx="6183823" cy="1265559"/>
            <a:chOff x="4040831" y="-632780"/>
            <a:chExt cx="6183823" cy="1265559"/>
          </a:xfrm>
        </p:grpSpPr>
        <p:sp>
          <p:nvSpPr>
            <p:cNvPr id="20" name="Rectangle 19"/>
            <p:cNvSpPr/>
            <p:nvPr/>
          </p:nvSpPr>
          <p:spPr>
            <a:xfrm>
              <a:off x="4040831" y="-632780"/>
              <a:ext cx="6183823" cy="126555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p:cNvGrpSpPr/>
            <p:nvPr/>
          </p:nvGrpSpPr>
          <p:grpSpPr>
            <a:xfrm>
              <a:off x="4091092" y="-552346"/>
              <a:ext cx="6083300" cy="1104691"/>
              <a:chOff x="4040832" y="-541624"/>
              <a:chExt cx="6083300" cy="1104691"/>
            </a:xfrm>
          </p:grpSpPr>
          <p:grpSp>
            <p:nvGrpSpPr>
              <p:cNvPr id="16" name="Group 15"/>
              <p:cNvGrpSpPr/>
              <p:nvPr/>
            </p:nvGrpSpPr>
            <p:grpSpPr>
              <a:xfrm>
                <a:off x="4040832" y="-541624"/>
                <a:ext cx="6083300" cy="849619"/>
                <a:chOff x="-3526639" y="1488190"/>
                <a:chExt cx="6083300" cy="849619"/>
              </a:xfrm>
            </p:grpSpPr>
            <p:pic>
              <p:nvPicPr>
                <p:cNvPr id="14" name="Picture 13"/>
                <p:cNvPicPr>
                  <a:picLocks noChangeAspect="1"/>
                </p:cNvPicPr>
                <p:nvPr/>
              </p:nvPicPr>
              <p:blipFill>
                <a:blip r:embed="rId2"/>
                <a:stretch>
                  <a:fillRect/>
                </a:stretch>
              </p:blipFill>
              <p:spPr>
                <a:xfrm>
                  <a:off x="-3526639" y="1488190"/>
                  <a:ext cx="6083300" cy="368300"/>
                </a:xfrm>
                <a:prstGeom prst="rect">
                  <a:avLst/>
                </a:prstGeom>
              </p:spPr>
            </p:pic>
            <p:pic>
              <p:nvPicPr>
                <p:cNvPr id="15" name="Picture 14"/>
                <p:cNvPicPr>
                  <a:picLocks noChangeAspect="1"/>
                </p:cNvPicPr>
                <p:nvPr/>
              </p:nvPicPr>
              <p:blipFill>
                <a:blip r:embed="rId3"/>
                <a:stretch>
                  <a:fillRect/>
                </a:stretch>
              </p:blipFill>
              <p:spPr>
                <a:xfrm>
                  <a:off x="-3526639" y="1893309"/>
                  <a:ext cx="6083300" cy="444500"/>
                </a:xfrm>
                <a:prstGeom prst="rect">
                  <a:avLst/>
                </a:prstGeom>
              </p:spPr>
            </p:pic>
          </p:grpSp>
          <p:pic>
            <p:nvPicPr>
              <p:cNvPr id="17" name="Picture 16"/>
              <p:cNvPicPr>
                <a:picLocks noChangeAspect="1"/>
              </p:cNvPicPr>
              <p:nvPr/>
            </p:nvPicPr>
            <p:blipFill>
              <a:blip r:embed="rId4"/>
              <a:stretch>
                <a:fillRect/>
              </a:stretch>
            </p:blipFill>
            <p:spPr>
              <a:xfrm>
                <a:off x="7495232" y="359867"/>
                <a:ext cx="2628900" cy="203200"/>
              </a:xfrm>
              <a:prstGeom prst="rect">
                <a:avLst/>
              </a:prstGeom>
            </p:spPr>
          </p:pic>
        </p:grpSp>
      </p:grpSp>
      <p:pic>
        <p:nvPicPr>
          <p:cNvPr id="27" name="Picture 26">
            <a:extLst>
              <a:ext uri="{FF2B5EF4-FFF2-40B4-BE49-F238E27FC236}">
                <a16:creationId xmlns:a16="http://schemas.microsoft.com/office/drawing/2014/main" id="{9377B70A-BCE8-0949-A4E5-DD34EAC6E88D}"/>
              </a:ext>
            </a:extLst>
          </p:cNvPr>
          <p:cNvPicPr>
            <a:picLocks noChangeAspect="1"/>
          </p:cNvPicPr>
          <p:nvPr/>
        </p:nvPicPr>
        <p:blipFill rotWithShape="1">
          <a:blip r:embed="rId5"/>
          <a:srcRect t="19656" r="1772"/>
          <a:stretch/>
        </p:blipFill>
        <p:spPr>
          <a:xfrm>
            <a:off x="840432" y="5492444"/>
            <a:ext cx="6319990" cy="1229356"/>
          </a:xfrm>
          <a:prstGeom prst="rect">
            <a:avLst/>
          </a:prstGeom>
          <a:ln w="9525">
            <a:solidFill>
              <a:schemeClr val="tx1"/>
            </a:solidFill>
          </a:ln>
        </p:spPr>
      </p:pic>
      <p:pic>
        <p:nvPicPr>
          <p:cNvPr id="28" name="Picture 27">
            <a:extLst>
              <a:ext uri="{FF2B5EF4-FFF2-40B4-BE49-F238E27FC236}">
                <a16:creationId xmlns:a16="http://schemas.microsoft.com/office/drawing/2014/main" id="{E9AE16E6-77D2-E144-BFFC-ED4642FB77EF}"/>
              </a:ext>
            </a:extLst>
          </p:cNvPr>
          <p:cNvPicPr>
            <a:picLocks noChangeAspect="1"/>
          </p:cNvPicPr>
          <p:nvPr/>
        </p:nvPicPr>
        <p:blipFill>
          <a:blip r:embed="rId6"/>
          <a:stretch>
            <a:fillRect/>
          </a:stretch>
        </p:blipFill>
        <p:spPr>
          <a:xfrm>
            <a:off x="840432" y="3459602"/>
            <a:ext cx="4946952" cy="1790670"/>
          </a:xfrm>
          <a:prstGeom prst="rect">
            <a:avLst/>
          </a:prstGeom>
          <a:ln w="12700">
            <a:solidFill>
              <a:schemeClr val="tx1"/>
            </a:solidFill>
          </a:ln>
        </p:spPr>
      </p:pic>
      <p:pic>
        <p:nvPicPr>
          <p:cNvPr id="8" name="Picture 7">
            <a:extLst>
              <a:ext uri="{FF2B5EF4-FFF2-40B4-BE49-F238E27FC236}">
                <a16:creationId xmlns:a16="http://schemas.microsoft.com/office/drawing/2014/main" id="{D0A3918F-7E0A-8E43-A414-9954BA2E4EEC}"/>
              </a:ext>
            </a:extLst>
          </p:cNvPr>
          <p:cNvPicPr>
            <a:picLocks noChangeAspect="1"/>
          </p:cNvPicPr>
          <p:nvPr/>
        </p:nvPicPr>
        <p:blipFill rotWithShape="1">
          <a:blip r:embed="rId7"/>
          <a:srcRect b="20030"/>
          <a:stretch/>
        </p:blipFill>
        <p:spPr>
          <a:xfrm>
            <a:off x="4345093" y="4592807"/>
            <a:ext cx="4656667" cy="1441824"/>
          </a:xfrm>
          <a:prstGeom prst="rect">
            <a:avLst/>
          </a:prstGeom>
          <a:ln>
            <a:solidFill>
              <a:schemeClr val="tx1"/>
            </a:solidFill>
            <a:prstDash val="solid"/>
          </a:ln>
        </p:spPr>
      </p:pic>
      <p:grpSp>
        <p:nvGrpSpPr>
          <p:cNvPr id="13" name="Group 12"/>
          <p:cNvGrpSpPr/>
          <p:nvPr/>
        </p:nvGrpSpPr>
        <p:grpSpPr>
          <a:xfrm>
            <a:off x="2971145" y="2203588"/>
            <a:ext cx="5733017" cy="1274862"/>
            <a:chOff x="-2923309" y="-259424"/>
            <a:chExt cx="5902036" cy="1376764"/>
          </a:xfrm>
        </p:grpSpPr>
        <p:sp>
          <p:nvSpPr>
            <p:cNvPr id="12" name="Rectangle 11"/>
            <p:cNvSpPr/>
            <p:nvPr/>
          </p:nvSpPr>
          <p:spPr>
            <a:xfrm>
              <a:off x="-2923309" y="-259424"/>
              <a:ext cx="5902036" cy="137676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2858154" y="-236511"/>
              <a:ext cx="5771727" cy="1330939"/>
              <a:chOff x="-2805332" y="1417637"/>
              <a:chExt cx="5771727" cy="1330939"/>
            </a:xfrm>
          </p:grpSpPr>
          <p:grpSp>
            <p:nvGrpSpPr>
              <p:cNvPr id="9" name="Group 8"/>
              <p:cNvGrpSpPr/>
              <p:nvPr/>
            </p:nvGrpSpPr>
            <p:grpSpPr>
              <a:xfrm>
                <a:off x="-2805332" y="1528842"/>
                <a:ext cx="4462607" cy="1108529"/>
                <a:chOff x="-2805332" y="1517331"/>
                <a:chExt cx="4462607" cy="1108529"/>
              </a:xfrm>
            </p:grpSpPr>
            <p:pic>
              <p:nvPicPr>
                <p:cNvPr id="5" name="Picture 4"/>
                <p:cNvPicPr>
                  <a:picLocks noChangeAspect="1"/>
                </p:cNvPicPr>
                <p:nvPr/>
              </p:nvPicPr>
              <p:blipFill>
                <a:blip r:embed="rId8"/>
                <a:stretch>
                  <a:fillRect/>
                </a:stretch>
              </p:blipFill>
              <p:spPr>
                <a:xfrm>
                  <a:off x="-2805332" y="1517331"/>
                  <a:ext cx="3860800" cy="660400"/>
                </a:xfrm>
                <a:prstGeom prst="rect">
                  <a:avLst/>
                </a:prstGeom>
              </p:spPr>
            </p:pic>
            <p:pic>
              <p:nvPicPr>
                <p:cNvPr id="6" name="Picture 5"/>
                <p:cNvPicPr>
                  <a:picLocks noChangeAspect="1"/>
                </p:cNvPicPr>
                <p:nvPr/>
              </p:nvPicPr>
              <p:blipFill>
                <a:blip r:embed="rId9"/>
                <a:stretch>
                  <a:fillRect/>
                </a:stretch>
              </p:blipFill>
              <p:spPr>
                <a:xfrm>
                  <a:off x="-2673425" y="2206760"/>
                  <a:ext cx="4330700" cy="419100"/>
                </a:xfrm>
                <a:prstGeom prst="rect">
                  <a:avLst/>
                </a:prstGeom>
              </p:spPr>
            </p:pic>
          </p:grpSp>
          <p:pic>
            <p:nvPicPr>
              <p:cNvPr id="10" name="Picture 9"/>
              <p:cNvPicPr>
                <a:picLocks noChangeAspect="1"/>
              </p:cNvPicPr>
              <p:nvPr/>
            </p:nvPicPr>
            <p:blipFill>
              <a:blip r:embed="rId10"/>
              <a:stretch>
                <a:fillRect/>
              </a:stretch>
            </p:blipFill>
            <p:spPr>
              <a:xfrm>
                <a:off x="1657275" y="1417637"/>
                <a:ext cx="1309120" cy="1330939"/>
              </a:xfrm>
              <a:prstGeom prst="rect">
                <a:avLst/>
              </a:prstGeom>
            </p:spPr>
          </p:pic>
        </p:grpSp>
      </p:grpSp>
      <p:sp>
        <p:nvSpPr>
          <p:cNvPr id="22" name="Slide Number Placeholder 21">
            <a:extLst>
              <a:ext uri="{FF2B5EF4-FFF2-40B4-BE49-F238E27FC236}">
                <a16:creationId xmlns:a16="http://schemas.microsoft.com/office/drawing/2014/main" id="{43460BC2-6899-D846-8EE0-5D68EBFDBF7F}"/>
              </a:ext>
            </a:extLst>
          </p:cNvPr>
          <p:cNvSpPr>
            <a:spLocks noGrp="1"/>
          </p:cNvSpPr>
          <p:nvPr>
            <p:ph type="sldNum" sz="quarter" idx="12"/>
          </p:nvPr>
        </p:nvSpPr>
        <p:spPr/>
        <p:txBody>
          <a:bodyPr/>
          <a:lstStyle/>
          <a:p>
            <a:fld id="{0798D939-2D9E-2142-A80A-FFDECD1E5A9B}" type="slidenum">
              <a:rPr lang="en-US" smtClean="0"/>
              <a:t>5</a:t>
            </a:fld>
            <a:endParaRPr lang="en-US"/>
          </a:p>
        </p:txBody>
      </p:sp>
    </p:spTree>
    <p:extLst>
      <p:ext uri="{BB962C8B-B14F-4D97-AF65-F5344CB8AC3E}">
        <p14:creationId xmlns:p14="http://schemas.microsoft.com/office/powerpoint/2010/main" val="1595563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68"/>
          <p:cNvSpPr>
            <a:spLocks noGrp="1"/>
          </p:cNvSpPr>
          <p:nvPr>
            <p:ph type="sldNum" idx="12"/>
          </p:nvPr>
        </p:nvSpPr>
        <p:spPr>
          <a:xfrm>
            <a:off x="8559864" y="6453336"/>
            <a:ext cx="548700" cy="396300"/>
          </a:xfrm>
          <a:prstGeom prst="bracketPair">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nl-NL"/>
              <a:t>6</a:t>
            </a:fld>
            <a:endParaRPr/>
          </a:p>
        </p:txBody>
      </p:sp>
      <p:sp>
        <p:nvSpPr>
          <p:cNvPr id="1200" name="Google Shape;1200;p168"/>
          <p:cNvSpPr txBox="1">
            <a:spLocks noGrp="1"/>
          </p:cNvSpPr>
          <p:nvPr>
            <p:ph type="title"/>
          </p:nvPr>
        </p:nvSpPr>
        <p:spPr>
          <a:xfrm>
            <a:off x="3749225" y="1648900"/>
            <a:ext cx="5359200" cy="114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nl-NL" dirty="0" err="1"/>
              <a:t>This</a:t>
            </a:r>
            <a:r>
              <a:rPr lang="nl-NL" dirty="0"/>
              <a:t> course</a:t>
            </a:r>
            <a:endParaRPr dirty="0"/>
          </a:p>
        </p:txBody>
      </p:sp>
      <p:sp>
        <p:nvSpPr>
          <p:cNvPr id="1201" name="Google Shape;1201;p168"/>
          <p:cNvSpPr/>
          <p:nvPr/>
        </p:nvSpPr>
        <p:spPr>
          <a:xfrm rot="-5400000">
            <a:off x="947100" y="-947225"/>
            <a:ext cx="6926700" cy="8820900"/>
          </a:xfrm>
          <a:prstGeom prst="diagStripe">
            <a:avLst>
              <a:gd name="adj" fmla="val 41512"/>
            </a:avLst>
          </a:prstGeom>
          <a:solidFill>
            <a:srgbClr val="004D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683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C7C6AA-7E49-B359-FB9A-039841EECAF3}"/>
              </a:ext>
            </a:extLst>
          </p:cNvPr>
          <p:cNvSpPr>
            <a:spLocks noGrp="1"/>
          </p:cNvSpPr>
          <p:nvPr>
            <p:ph type="title"/>
          </p:nvPr>
        </p:nvSpPr>
        <p:spPr/>
        <p:txBody>
          <a:bodyPr/>
          <a:lstStyle/>
          <a:p>
            <a:r>
              <a:rPr lang="en-NL" dirty="0"/>
              <a:t>Practical </a:t>
            </a:r>
          </a:p>
        </p:txBody>
      </p:sp>
      <p:sp>
        <p:nvSpPr>
          <p:cNvPr id="4" name="Content Placeholder 3">
            <a:extLst>
              <a:ext uri="{FF2B5EF4-FFF2-40B4-BE49-F238E27FC236}">
                <a16:creationId xmlns:a16="http://schemas.microsoft.com/office/drawing/2014/main" id="{2ADAD27A-E494-4F7F-81E0-9E82E38F6CBE}"/>
              </a:ext>
            </a:extLst>
          </p:cNvPr>
          <p:cNvSpPr>
            <a:spLocks noGrp="1"/>
          </p:cNvSpPr>
          <p:nvPr>
            <p:ph sz="half" idx="1"/>
          </p:nvPr>
        </p:nvSpPr>
        <p:spPr>
          <a:xfrm>
            <a:off x="840432" y="1536192"/>
            <a:ext cx="7139002" cy="4590288"/>
          </a:xfrm>
        </p:spPr>
        <p:txBody>
          <a:bodyPr/>
          <a:lstStyle/>
          <a:p>
            <a:r>
              <a:rPr lang="en-NL" dirty="0"/>
              <a:t>Room </a:t>
            </a:r>
            <a:r>
              <a:rPr lang="en-US" dirty="0"/>
              <a:t>is the same </a:t>
            </a:r>
            <a:r>
              <a:rPr lang="en-NL" dirty="0"/>
              <a:t>every day</a:t>
            </a:r>
          </a:p>
          <a:p>
            <a:r>
              <a:rPr lang="en-NL" dirty="0"/>
              <a:t>Exit</a:t>
            </a:r>
            <a:r>
              <a:rPr lang="en-US" dirty="0"/>
              <a:t>s</a:t>
            </a:r>
            <a:endParaRPr lang="en-NL" dirty="0"/>
          </a:p>
          <a:p>
            <a:r>
              <a:rPr lang="en-GB" dirty="0"/>
              <a:t>W</a:t>
            </a:r>
            <a:r>
              <a:rPr lang="en-NL" dirty="0"/>
              <a:t>ashrooms </a:t>
            </a:r>
          </a:p>
          <a:p>
            <a:r>
              <a:rPr lang="en-US" dirty="0"/>
              <a:t>Breaks and </a:t>
            </a:r>
            <a:r>
              <a:rPr lang="en-NL" dirty="0"/>
              <a:t>Lunch </a:t>
            </a:r>
          </a:p>
          <a:p>
            <a:r>
              <a:rPr lang="en-NL" dirty="0"/>
              <a:t>Partner with buddy</a:t>
            </a:r>
          </a:p>
        </p:txBody>
      </p:sp>
      <p:sp>
        <p:nvSpPr>
          <p:cNvPr id="2" name="Slide Number Placeholder 1">
            <a:extLst>
              <a:ext uri="{FF2B5EF4-FFF2-40B4-BE49-F238E27FC236}">
                <a16:creationId xmlns:a16="http://schemas.microsoft.com/office/drawing/2014/main" id="{6F960569-0FF2-331F-DC89-583AEED29370}"/>
              </a:ext>
            </a:extLst>
          </p:cNvPr>
          <p:cNvSpPr>
            <a:spLocks noGrp="1"/>
          </p:cNvSpPr>
          <p:nvPr>
            <p:ph type="sldNum" sz="quarter" idx="12"/>
          </p:nvPr>
        </p:nvSpPr>
        <p:spPr/>
        <p:txBody>
          <a:bodyPr/>
          <a:lstStyle/>
          <a:p>
            <a:fld id="{0798D939-2D9E-2142-A80A-FFDECD1E5A9B}" type="slidenum">
              <a:rPr lang="en-US" smtClean="0"/>
              <a:t>7</a:t>
            </a:fld>
            <a:endParaRPr lang="en-US"/>
          </a:p>
        </p:txBody>
      </p:sp>
    </p:spTree>
    <p:extLst>
      <p:ext uri="{BB962C8B-B14F-4D97-AF65-F5344CB8AC3E}">
        <p14:creationId xmlns:p14="http://schemas.microsoft.com/office/powerpoint/2010/main" val="1747507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9DCFC-26E6-4940-92C2-93BBEAEFCF8F}"/>
              </a:ext>
            </a:extLst>
          </p:cNvPr>
          <p:cNvSpPr>
            <a:spLocks noGrp="1"/>
          </p:cNvSpPr>
          <p:nvPr>
            <p:ph type="title"/>
          </p:nvPr>
        </p:nvSpPr>
        <p:spPr>
          <a:xfrm>
            <a:off x="840431" y="274638"/>
            <a:ext cx="7829115" cy="1143000"/>
          </a:xfrm>
        </p:spPr>
        <p:txBody>
          <a:bodyPr anchor="ctr">
            <a:normAutofit/>
          </a:bodyPr>
          <a:lstStyle/>
          <a:p>
            <a:r>
              <a:rPr lang="en-US" dirty="0"/>
              <a:t>Logistics – Course Website </a:t>
            </a:r>
          </a:p>
        </p:txBody>
      </p:sp>
      <p:sp>
        <p:nvSpPr>
          <p:cNvPr id="4" name="Slide Number Placeholder 3">
            <a:extLst>
              <a:ext uri="{FF2B5EF4-FFF2-40B4-BE49-F238E27FC236}">
                <a16:creationId xmlns:a16="http://schemas.microsoft.com/office/drawing/2014/main" id="{ACBBFB1B-CBE8-FD4C-BEB8-CFE0E8217881}"/>
              </a:ext>
            </a:extLst>
          </p:cNvPr>
          <p:cNvSpPr>
            <a:spLocks noGrp="1"/>
          </p:cNvSpPr>
          <p:nvPr>
            <p:ph type="sldNum" sz="quarter" idx="12"/>
          </p:nvPr>
        </p:nvSpPr>
        <p:spPr>
          <a:xfrm>
            <a:off x="8559864" y="6453336"/>
            <a:ext cx="548640" cy="396240"/>
          </a:xfrm>
        </p:spPr>
        <p:txBody>
          <a:bodyPr anchor="ctr">
            <a:normAutofit/>
          </a:bodyPr>
          <a:lstStyle/>
          <a:p>
            <a:pPr>
              <a:spcAft>
                <a:spcPts val="600"/>
              </a:spcAft>
            </a:pPr>
            <a:fld id="{0798D939-2D9E-2142-A80A-FFDECD1E5A9B}" type="slidenum">
              <a:rPr lang="en-US" smtClean="0"/>
              <a:pPr>
                <a:spcAft>
                  <a:spcPts val="600"/>
                </a:spcAft>
              </a:pPr>
              <a:t>8</a:t>
            </a:fld>
            <a:endParaRPr lang="en-US"/>
          </a:p>
        </p:txBody>
      </p:sp>
      <p:pic>
        <p:nvPicPr>
          <p:cNvPr id="5" name="Picture 4">
            <a:extLst>
              <a:ext uri="{FF2B5EF4-FFF2-40B4-BE49-F238E27FC236}">
                <a16:creationId xmlns:a16="http://schemas.microsoft.com/office/drawing/2014/main" id="{B874CCDA-DE2C-2A17-0369-BE01EA70403D}"/>
              </a:ext>
            </a:extLst>
          </p:cNvPr>
          <p:cNvPicPr>
            <a:picLocks noChangeAspect="1"/>
          </p:cNvPicPr>
          <p:nvPr/>
        </p:nvPicPr>
        <p:blipFill>
          <a:blip r:embed="rId2"/>
          <a:stretch>
            <a:fillRect/>
          </a:stretch>
        </p:blipFill>
        <p:spPr>
          <a:xfrm>
            <a:off x="1084762" y="1630392"/>
            <a:ext cx="6974476" cy="4169626"/>
          </a:xfrm>
          <a:prstGeom prst="rect">
            <a:avLst/>
          </a:prstGeom>
        </p:spPr>
      </p:pic>
      <p:cxnSp>
        <p:nvCxnSpPr>
          <p:cNvPr id="11" name="Straight Arrow Connector 10">
            <a:extLst>
              <a:ext uri="{FF2B5EF4-FFF2-40B4-BE49-F238E27FC236}">
                <a16:creationId xmlns:a16="http://schemas.microsoft.com/office/drawing/2014/main" id="{3A993345-8624-E279-BDF4-3594A2622230}"/>
              </a:ext>
            </a:extLst>
          </p:cNvPr>
          <p:cNvCxnSpPr>
            <a:cxnSpLocks/>
          </p:cNvCxnSpPr>
          <p:nvPr/>
        </p:nvCxnSpPr>
        <p:spPr>
          <a:xfrm flipH="1" flipV="1">
            <a:off x="2251494" y="4459856"/>
            <a:ext cx="672861" cy="363087"/>
          </a:xfrm>
          <a:prstGeom prst="straightConnector1">
            <a:avLst/>
          </a:prstGeom>
          <a:ln w="666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3916139-8BB7-A31F-82ED-A74DD2283C85}"/>
              </a:ext>
            </a:extLst>
          </p:cNvPr>
          <p:cNvCxnSpPr>
            <a:cxnSpLocks/>
          </p:cNvCxnSpPr>
          <p:nvPr/>
        </p:nvCxnSpPr>
        <p:spPr>
          <a:xfrm flipH="1">
            <a:off x="2208363" y="3646195"/>
            <a:ext cx="940281" cy="0"/>
          </a:xfrm>
          <a:prstGeom prst="straightConnector1">
            <a:avLst/>
          </a:prstGeom>
          <a:ln w="666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6AE7281-D176-2CDA-5F19-ADC859855B90}"/>
              </a:ext>
            </a:extLst>
          </p:cNvPr>
          <p:cNvSpPr txBox="1"/>
          <p:nvPr/>
        </p:nvSpPr>
        <p:spPr>
          <a:xfrm>
            <a:off x="3534673" y="1261060"/>
            <a:ext cx="6293273" cy="369332"/>
          </a:xfrm>
          <a:prstGeom prst="rect">
            <a:avLst/>
          </a:prstGeom>
          <a:noFill/>
        </p:spPr>
        <p:txBody>
          <a:bodyPr wrap="square">
            <a:spAutoFit/>
          </a:bodyPr>
          <a:lstStyle/>
          <a:p>
            <a:r>
              <a:rPr lang="en-US" dirty="0"/>
              <a:t>https://darth-git.github.io/OSLO2026/</a:t>
            </a:r>
          </a:p>
        </p:txBody>
      </p:sp>
    </p:spTree>
    <p:extLst>
      <p:ext uri="{BB962C8B-B14F-4D97-AF65-F5344CB8AC3E}">
        <p14:creationId xmlns:p14="http://schemas.microsoft.com/office/powerpoint/2010/main" val="3053072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Attribution and Acknowledgement</a:t>
            </a:r>
          </a:p>
        </p:txBody>
      </p:sp>
      <p:sp>
        <p:nvSpPr>
          <p:cNvPr id="3" name="Content Placeholder 2"/>
          <p:cNvSpPr>
            <a:spLocks noGrp="1"/>
          </p:cNvSpPr>
          <p:nvPr>
            <p:ph idx="1"/>
          </p:nvPr>
        </p:nvSpPr>
        <p:spPr/>
        <p:txBody>
          <a:bodyPr>
            <a:normAutofit/>
          </a:bodyPr>
          <a:lstStyle/>
          <a:p>
            <a:pPr>
              <a:spcAft>
                <a:spcPts val="1200"/>
              </a:spcAft>
            </a:pPr>
            <a:r>
              <a:rPr lang="en-US" dirty="0"/>
              <a:t>R code provided with this course are yours to reuse and modify</a:t>
            </a:r>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a:p>
            <a:pPr>
              <a:spcAft>
                <a:spcPts val="1200"/>
              </a:spcAft>
            </a:pPr>
            <a:endParaRPr lang="en-US" dirty="0"/>
          </a:p>
        </p:txBody>
      </p:sp>
      <p:pic>
        <p:nvPicPr>
          <p:cNvPr id="4" name="Picture 3">
            <a:extLst>
              <a:ext uri="{FF2B5EF4-FFF2-40B4-BE49-F238E27FC236}">
                <a16:creationId xmlns:a16="http://schemas.microsoft.com/office/drawing/2014/main" id="{440AF431-ECAD-FB4D-8977-127A55D9FDCF}"/>
              </a:ext>
            </a:extLst>
          </p:cNvPr>
          <p:cNvPicPr>
            <a:picLocks noChangeAspect="1"/>
          </p:cNvPicPr>
          <p:nvPr/>
        </p:nvPicPr>
        <p:blipFill rotWithShape="1">
          <a:blip r:embed="rId2"/>
          <a:srcRect l="340" b="1716"/>
          <a:stretch/>
        </p:blipFill>
        <p:spPr>
          <a:xfrm>
            <a:off x="946297" y="2221979"/>
            <a:ext cx="6528391" cy="3764152"/>
          </a:xfrm>
          <a:prstGeom prst="rect">
            <a:avLst/>
          </a:prstGeom>
        </p:spPr>
      </p:pic>
      <p:sp>
        <p:nvSpPr>
          <p:cNvPr id="7" name="Rectangle 6"/>
          <p:cNvSpPr/>
          <p:nvPr/>
        </p:nvSpPr>
        <p:spPr>
          <a:xfrm>
            <a:off x="944937" y="5321458"/>
            <a:ext cx="6274570" cy="696570"/>
          </a:xfrm>
          <a:prstGeom prst="rect">
            <a:avLst/>
          </a:prstGeom>
          <a:solidFill>
            <a:schemeClr val="accent5">
              <a:lumMod val="20000"/>
              <a:lumOff val="80000"/>
              <a:alpha val="25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985046" y="3458385"/>
            <a:ext cx="2063262" cy="1077218"/>
          </a:xfrm>
          <a:prstGeom prst="rect">
            <a:avLst/>
          </a:prstGeom>
          <a:noFill/>
        </p:spPr>
        <p:txBody>
          <a:bodyPr wrap="square" rtlCol="0">
            <a:spAutoFit/>
          </a:bodyPr>
          <a:lstStyle/>
          <a:p>
            <a:pPr algn="ctr"/>
            <a:r>
              <a:rPr lang="en-US" sz="1600" dirty="0"/>
              <a:t>Acknowledgement and citation information in code headers</a:t>
            </a:r>
          </a:p>
        </p:txBody>
      </p:sp>
      <p:cxnSp>
        <p:nvCxnSpPr>
          <p:cNvPr id="10" name="Curved Connector 9"/>
          <p:cNvCxnSpPr>
            <a:stCxn id="8" idx="0"/>
          </p:cNvCxnSpPr>
          <p:nvPr/>
        </p:nvCxnSpPr>
        <p:spPr>
          <a:xfrm rot="16200000" flipV="1">
            <a:off x="7110418" y="2552126"/>
            <a:ext cx="780888" cy="1031630"/>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E5C9E240-EC73-1D4B-B1E5-61FD18052203}"/>
              </a:ext>
            </a:extLst>
          </p:cNvPr>
          <p:cNvSpPr>
            <a:spLocks noGrp="1"/>
          </p:cNvSpPr>
          <p:nvPr>
            <p:ph type="sldNum" sz="quarter" idx="12"/>
          </p:nvPr>
        </p:nvSpPr>
        <p:spPr/>
        <p:txBody>
          <a:bodyPr/>
          <a:lstStyle/>
          <a:p>
            <a:fld id="{0798D939-2D9E-2142-A80A-FFDECD1E5A9B}" type="slidenum">
              <a:rPr lang="en-US" smtClean="0"/>
              <a:t>9</a:t>
            </a:fld>
            <a:endParaRPr lang="en-US"/>
          </a:p>
        </p:txBody>
      </p:sp>
    </p:spTree>
    <p:extLst>
      <p:ext uri="{BB962C8B-B14F-4D97-AF65-F5344CB8AC3E}">
        <p14:creationId xmlns:p14="http://schemas.microsoft.com/office/powerpoint/2010/main" val="41021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4B1BA-FF1D-6226-EDEF-A82E4C345AE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B14C211-DA09-E0E4-F54C-5295488BE621}"/>
              </a:ext>
            </a:extLst>
          </p:cNvPr>
          <p:cNvSpPr>
            <a:spLocks noGrp="1"/>
          </p:cNvSpPr>
          <p:nvPr>
            <p:ph sz="half" idx="1"/>
          </p:nvPr>
        </p:nvSpPr>
        <p:spPr/>
        <p:txBody>
          <a:bodyPr/>
          <a:lstStyle/>
          <a:p>
            <a:endParaRPr lang="en-NL"/>
          </a:p>
        </p:txBody>
      </p:sp>
      <p:sp>
        <p:nvSpPr>
          <p:cNvPr id="4" name="Content Placeholder 3">
            <a:extLst>
              <a:ext uri="{FF2B5EF4-FFF2-40B4-BE49-F238E27FC236}">
                <a16:creationId xmlns:a16="http://schemas.microsoft.com/office/drawing/2014/main" id="{66153EE8-555C-A181-3EC1-58BCA2F752CF}"/>
              </a:ext>
            </a:extLst>
          </p:cNvPr>
          <p:cNvSpPr>
            <a:spLocks noGrp="1"/>
          </p:cNvSpPr>
          <p:nvPr>
            <p:ph sz="half" idx="2"/>
          </p:nvPr>
        </p:nvSpPr>
        <p:spPr/>
        <p:txBody>
          <a:bodyPr/>
          <a:lstStyle/>
          <a:p>
            <a:endParaRPr lang="en-NL"/>
          </a:p>
        </p:txBody>
      </p:sp>
      <p:sp>
        <p:nvSpPr>
          <p:cNvPr id="5" name="Slide Number Placeholder 4">
            <a:extLst>
              <a:ext uri="{FF2B5EF4-FFF2-40B4-BE49-F238E27FC236}">
                <a16:creationId xmlns:a16="http://schemas.microsoft.com/office/drawing/2014/main" id="{36828784-FC8A-EB3B-2E86-C3D0C8B8F94F}"/>
              </a:ext>
            </a:extLst>
          </p:cNvPr>
          <p:cNvSpPr>
            <a:spLocks noGrp="1"/>
          </p:cNvSpPr>
          <p:nvPr>
            <p:ph type="sldNum" sz="quarter" idx="12"/>
          </p:nvPr>
        </p:nvSpPr>
        <p:spPr/>
        <p:txBody>
          <a:bodyPr/>
          <a:lstStyle/>
          <a:p>
            <a:fld id="{0798D939-2D9E-2142-A80A-FFDECD1E5A9B}" type="slidenum">
              <a:rPr lang="en-US" smtClean="0"/>
              <a:t>10</a:t>
            </a:fld>
            <a:endParaRPr lang="en-US"/>
          </a:p>
        </p:txBody>
      </p:sp>
      <p:pic>
        <p:nvPicPr>
          <p:cNvPr id="6" name="Picture 4" descr="Ice Breaker&quot; Images – Browse 17,414 Stock Photos, Vectors ...">
            <a:extLst>
              <a:ext uri="{FF2B5EF4-FFF2-40B4-BE49-F238E27FC236}">
                <a16:creationId xmlns:a16="http://schemas.microsoft.com/office/drawing/2014/main" id="{1A26562F-DEF4-F695-F740-A36B94C2E1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762" y="107431"/>
            <a:ext cx="8200658" cy="6150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7811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2E27A3-1225-723E-6C8C-A8DA3856D636}"/>
              </a:ext>
            </a:extLst>
          </p:cNvPr>
          <p:cNvSpPr>
            <a:spLocks noGrp="1"/>
          </p:cNvSpPr>
          <p:nvPr>
            <p:ph type="sldNum" sz="quarter" idx="10"/>
          </p:nvPr>
        </p:nvSpPr>
        <p:spPr/>
        <p:txBody>
          <a:bodyPr/>
          <a:lstStyle/>
          <a:p>
            <a:fld id="{0798D939-2D9E-2142-A80A-FFDECD1E5A9B}" type="slidenum">
              <a:rPr lang="en-US" smtClean="0"/>
              <a:t>11</a:t>
            </a:fld>
            <a:endParaRPr lang="en-US"/>
          </a:p>
        </p:txBody>
      </p:sp>
      <p:sp>
        <p:nvSpPr>
          <p:cNvPr id="7" name="TextBox 6">
            <a:extLst>
              <a:ext uri="{FF2B5EF4-FFF2-40B4-BE49-F238E27FC236}">
                <a16:creationId xmlns:a16="http://schemas.microsoft.com/office/drawing/2014/main" id="{726CEAD1-3707-1561-0E2B-6154BEFCC01A}"/>
              </a:ext>
            </a:extLst>
          </p:cNvPr>
          <p:cNvSpPr txBox="1"/>
          <p:nvPr/>
        </p:nvSpPr>
        <p:spPr>
          <a:xfrm>
            <a:off x="1766421" y="2391837"/>
            <a:ext cx="5028079" cy="2308324"/>
          </a:xfrm>
          <a:prstGeom prst="rect">
            <a:avLst/>
          </a:prstGeom>
          <a:noFill/>
        </p:spPr>
        <p:txBody>
          <a:bodyPr wrap="square" rtlCol="0">
            <a:spAutoFit/>
          </a:bodyPr>
          <a:lstStyle/>
          <a:p>
            <a:endParaRPr lang="en-NL" sz="2400" b="1" dirty="0">
              <a:solidFill>
                <a:schemeClr val="accent3"/>
              </a:solidFill>
            </a:endParaRPr>
          </a:p>
          <a:p>
            <a:r>
              <a:rPr lang="en-NL" sz="2400" dirty="0"/>
              <a:t>Make groups of </a:t>
            </a:r>
            <a:r>
              <a:rPr lang="en-US" sz="2400" dirty="0"/>
              <a:t>2-3</a:t>
            </a:r>
            <a:endParaRPr lang="en-NL" sz="2400" dirty="0"/>
          </a:p>
          <a:p>
            <a:r>
              <a:rPr lang="nl-NL" sz="2400" dirty="0" err="1"/>
              <a:t>Use</a:t>
            </a:r>
            <a:r>
              <a:rPr lang="nl-NL" sz="2400" dirty="0"/>
              <a:t> </a:t>
            </a:r>
            <a:r>
              <a:rPr lang="nl-NL" sz="2400" dirty="0" err="1"/>
              <a:t>the</a:t>
            </a:r>
            <a:r>
              <a:rPr lang="nl-NL" sz="2400" dirty="0"/>
              <a:t> cards</a:t>
            </a:r>
          </a:p>
          <a:p>
            <a:r>
              <a:rPr lang="nl-NL" sz="2400" dirty="0" err="1"/>
              <a:t>Ask</a:t>
            </a:r>
            <a:r>
              <a:rPr lang="nl-NL" sz="2400" dirty="0"/>
              <a:t> </a:t>
            </a:r>
            <a:r>
              <a:rPr lang="nl-NL" sz="2400" dirty="0" err="1"/>
              <a:t>the</a:t>
            </a:r>
            <a:r>
              <a:rPr lang="nl-NL" sz="2400" dirty="0"/>
              <a:t> question. </a:t>
            </a:r>
            <a:endParaRPr lang="en-NL" sz="2400" dirty="0"/>
          </a:p>
          <a:p>
            <a:endParaRPr lang="en-NL" sz="2400" dirty="0"/>
          </a:p>
          <a:p>
            <a:endParaRPr lang="en-NL" sz="2400" dirty="0"/>
          </a:p>
        </p:txBody>
      </p:sp>
      <p:pic>
        <p:nvPicPr>
          <p:cNvPr id="2054" name="Picture 6" descr="Online Learning vs Classroom Learning - What is Better for You? -  GeeksforGeeks">
            <a:extLst>
              <a:ext uri="{FF2B5EF4-FFF2-40B4-BE49-F238E27FC236}">
                <a16:creationId xmlns:a16="http://schemas.microsoft.com/office/drawing/2014/main" id="{D2F9442E-2696-A095-D54A-EC902781C1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393" t="-938" r="-61393" b="938"/>
          <a:stretch>
            <a:fillRect/>
          </a:stretch>
        </p:blipFill>
        <p:spPr bwMode="auto">
          <a:xfrm>
            <a:off x="5339751" y="2245188"/>
            <a:ext cx="44450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354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R?</a:t>
            </a:r>
          </a:p>
        </p:txBody>
      </p:sp>
      <p:sp>
        <p:nvSpPr>
          <p:cNvPr id="3" name="Content Placeholder 2"/>
          <p:cNvSpPr>
            <a:spLocks noGrp="1"/>
          </p:cNvSpPr>
          <p:nvPr>
            <p:ph idx="1"/>
          </p:nvPr>
        </p:nvSpPr>
        <p:spPr/>
        <p:txBody>
          <a:bodyPr>
            <a:normAutofit/>
          </a:bodyPr>
          <a:lstStyle/>
          <a:p>
            <a:pPr>
              <a:spcBef>
                <a:spcPts val="1800"/>
              </a:spcBef>
            </a:pPr>
            <a:r>
              <a:rPr lang="en-US" b="1" dirty="0"/>
              <a:t>Freely</a:t>
            </a:r>
            <a:r>
              <a:rPr lang="en-US" dirty="0"/>
              <a:t> available and </a:t>
            </a:r>
            <a:r>
              <a:rPr lang="en-US" b="1" dirty="0"/>
              <a:t>open-source</a:t>
            </a:r>
          </a:p>
          <a:p>
            <a:pPr>
              <a:spcBef>
                <a:spcPts val="1800"/>
              </a:spcBef>
            </a:pPr>
            <a:r>
              <a:rPr lang="en-US" b="1" dirty="0"/>
              <a:t>Flexibility</a:t>
            </a:r>
            <a:r>
              <a:rPr lang="en-US" dirty="0"/>
              <a:t> to implement any desired modeling structure</a:t>
            </a:r>
          </a:p>
          <a:p>
            <a:pPr lvl="1">
              <a:spcBef>
                <a:spcPts val="600"/>
              </a:spcBef>
            </a:pPr>
            <a:r>
              <a:rPr lang="en-US" dirty="0"/>
              <a:t>Computationally efficient</a:t>
            </a:r>
          </a:p>
          <a:p>
            <a:pPr>
              <a:spcBef>
                <a:spcPts val="1800"/>
              </a:spcBef>
            </a:pPr>
            <a:r>
              <a:rPr lang="en-US" dirty="0"/>
              <a:t>Results are </a:t>
            </a:r>
            <a:r>
              <a:rPr lang="en-US" b="1" dirty="0"/>
              <a:t>reproducible</a:t>
            </a:r>
          </a:p>
          <a:p>
            <a:pPr lvl="1">
              <a:spcBef>
                <a:spcPts val="600"/>
              </a:spcBef>
            </a:pPr>
            <a:r>
              <a:rPr lang="en-US" dirty="0"/>
              <a:t>no “point-and-click” steps</a:t>
            </a:r>
          </a:p>
          <a:p>
            <a:pPr>
              <a:spcBef>
                <a:spcPts val="1800"/>
              </a:spcBef>
            </a:pPr>
            <a:r>
              <a:rPr lang="en-US" dirty="0"/>
              <a:t>Integrate </a:t>
            </a:r>
            <a:r>
              <a:rPr lang="en-US" b="1" dirty="0"/>
              <a:t>statistical</a:t>
            </a:r>
            <a:r>
              <a:rPr lang="en-US" dirty="0"/>
              <a:t> analyses with modeling</a:t>
            </a:r>
          </a:p>
          <a:p>
            <a:pPr lvl="1">
              <a:spcBef>
                <a:spcPts val="600"/>
              </a:spcBef>
            </a:pPr>
            <a:r>
              <a:rPr lang="en-US" dirty="0"/>
              <a:t>Parameter estimation</a:t>
            </a:r>
          </a:p>
          <a:p>
            <a:pPr lvl="1">
              <a:spcBef>
                <a:spcPts val="600"/>
              </a:spcBef>
            </a:pPr>
            <a:r>
              <a:rPr lang="en-US" dirty="0"/>
              <a:t>Analysis / visualization of results</a:t>
            </a:r>
          </a:p>
        </p:txBody>
      </p:sp>
      <p:sp>
        <p:nvSpPr>
          <p:cNvPr id="4" name="Slide Number Placeholder 3">
            <a:extLst>
              <a:ext uri="{FF2B5EF4-FFF2-40B4-BE49-F238E27FC236}">
                <a16:creationId xmlns:a16="http://schemas.microsoft.com/office/drawing/2014/main" id="{27D693FD-8BA1-C941-9B89-DE04265DA3ED}"/>
              </a:ext>
            </a:extLst>
          </p:cNvPr>
          <p:cNvSpPr>
            <a:spLocks noGrp="1"/>
          </p:cNvSpPr>
          <p:nvPr>
            <p:ph type="sldNum" sz="quarter" idx="12"/>
          </p:nvPr>
        </p:nvSpPr>
        <p:spPr/>
        <p:txBody>
          <a:bodyPr/>
          <a:lstStyle/>
          <a:p>
            <a:fld id="{0798D939-2D9E-2142-A80A-FFDECD1E5A9B}" type="slidenum">
              <a:rPr lang="en-US" smtClean="0"/>
              <a:t>12</a:t>
            </a:fld>
            <a:endParaRPr lang="en-US"/>
          </a:p>
        </p:txBody>
      </p:sp>
    </p:spTree>
    <p:extLst>
      <p:ext uri="{BB962C8B-B14F-4D97-AF65-F5344CB8AC3E}">
        <p14:creationId xmlns:p14="http://schemas.microsoft.com/office/powerpoint/2010/main" val="1881448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148"/>
          <p:cNvSpPr txBox="1">
            <a:spLocks noGrp="1"/>
          </p:cNvSpPr>
          <p:nvPr>
            <p:ph type="title"/>
          </p:nvPr>
        </p:nvSpPr>
        <p:spPr>
          <a:xfrm>
            <a:off x="992832"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nl-NL"/>
              <a:t>Conventional Decision Modeling Process</a:t>
            </a:r>
            <a:endParaRPr/>
          </a:p>
        </p:txBody>
      </p:sp>
      <p:pic>
        <p:nvPicPr>
          <p:cNvPr id="1016" name="Google Shape;1016;p148" descr="https://lh5.googleusercontent.com/gbXt9VN5WyuMGNcYzTJkzKJPStG1Tilx4HnDsIRyvBF1WaCQl7N5sIM1Cvv25PGA0HfP9kkQxxVT8YrlRN192mWaCQcVOFx9O1-x3HPVwTSk5-d-SldOGUSsS5LZimSVKc4N6vQYipc"/>
          <p:cNvPicPr preferRelativeResize="0"/>
          <p:nvPr/>
        </p:nvPicPr>
        <p:blipFill rotWithShape="1">
          <a:blip r:embed="rId3">
            <a:alphaModFix/>
          </a:blip>
          <a:srcRect/>
          <a:stretch/>
        </p:blipFill>
        <p:spPr>
          <a:xfrm>
            <a:off x="3708797" y="1419225"/>
            <a:ext cx="3607594" cy="4029075"/>
          </a:xfrm>
          <a:prstGeom prst="rect">
            <a:avLst/>
          </a:prstGeom>
          <a:noFill/>
          <a:ln>
            <a:noFill/>
          </a:ln>
        </p:spPr>
      </p:pic>
      <p:pic>
        <p:nvPicPr>
          <p:cNvPr id="1017" name="Google Shape;1017;p148" descr="Image result for treeage"/>
          <p:cNvPicPr preferRelativeResize="0">
            <a:picLocks noGrp="1"/>
          </p:cNvPicPr>
          <p:nvPr>
            <p:ph type="body" idx="1"/>
          </p:nvPr>
        </p:nvPicPr>
        <p:blipFill rotWithShape="1">
          <a:blip r:embed="rId4">
            <a:alphaModFix/>
          </a:blip>
          <a:srcRect/>
          <a:stretch/>
        </p:blipFill>
        <p:spPr>
          <a:xfrm>
            <a:off x="1076394" y="4345179"/>
            <a:ext cx="2139600" cy="659700"/>
          </a:xfrm>
          <a:prstGeom prst="rect">
            <a:avLst/>
          </a:prstGeom>
          <a:noFill/>
          <a:ln>
            <a:noFill/>
          </a:ln>
        </p:spPr>
      </p:pic>
      <p:pic>
        <p:nvPicPr>
          <p:cNvPr id="1018" name="Google Shape;1018;p148" descr="A picture containing clipart&#10;&#10;Description automatically generated"/>
          <p:cNvPicPr preferRelativeResize="0"/>
          <p:nvPr/>
        </p:nvPicPr>
        <p:blipFill rotWithShape="1">
          <a:blip r:embed="rId5">
            <a:alphaModFix/>
          </a:blip>
          <a:srcRect t="25404" r="-9505" b="25722"/>
          <a:stretch/>
        </p:blipFill>
        <p:spPr>
          <a:xfrm>
            <a:off x="7501975" y="2517700"/>
            <a:ext cx="1216500" cy="723900"/>
          </a:xfrm>
          <a:prstGeom prst="rect">
            <a:avLst/>
          </a:prstGeom>
          <a:noFill/>
          <a:ln w="9525" cap="flat" cmpd="sng">
            <a:solidFill>
              <a:srgbClr val="002060"/>
            </a:solidFill>
            <a:prstDash val="solid"/>
            <a:round/>
            <a:headEnd type="none" w="sm" len="sm"/>
            <a:tailEnd type="none" w="sm" len="sm"/>
          </a:ln>
        </p:spPr>
      </p:pic>
      <p:pic>
        <p:nvPicPr>
          <p:cNvPr id="1019" name="Google Shape;1019;p148" descr="Image result for revman"/>
          <p:cNvPicPr preferRelativeResize="0"/>
          <p:nvPr/>
        </p:nvPicPr>
        <p:blipFill rotWithShape="1">
          <a:blip r:embed="rId6">
            <a:alphaModFix/>
          </a:blip>
          <a:srcRect t="26777" b="28777"/>
          <a:stretch/>
        </p:blipFill>
        <p:spPr>
          <a:xfrm>
            <a:off x="1316175" y="2456412"/>
            <a:ext cx="2044375" cy="853238"/>
          </a:xfrm>
          <a:prstGeom prst="rect">
            <a:avLst/>
          </a:prstGeom>
          <a:noFill/>
          <a:ln w="9525" cap="flat" cmpd="sng">
            <a:solidFill>
              <a:srgbClr val="002060"/>
            </a:solidFill>
            <a:prstDash val="solid"/>
            <a:round/>
            <a:headEnd type="none" w="sm" len="sm"/>
            <a:tailEnd type="none" w="sm" len="sm"/>
          </a:ln>
        </p:spPr>
      </p:pic>
      <p:pic>
        <p:nvPicPr>
          <p:cNvPr id="1020" name="Google Shape;1020;p148" descr="Image result for @risk"/>
          <p:cNvPicPr preferRelativeResize="0"/>
          <p:nvPr/>
        </p:nvPicPr>
        <p:blipFill rotWithShape="1">
          <a:blip r:embed="rId7">
            <a:alphaModFix/>
          </a:blip>
          <a:srcRect/>
          <a:stretch/>
        </p:blipFill>
        <p:spPr>
          <a:xfrm>
            <a:off x="1815423" y="5068599"/>
            <a:ext cx="629284" cy="761927"/>
          </a:xfrm>
          <a:prstGeom prst="rect">
            <a:avLst/>
          </a:prstGeom>
          <a:noFill/>
          <a:ln>
            <a:noFill/>
          </a:ln>
        </p:spPr>
      </p:pic>
      <p:pic>
        <p:nvPicPr>
          <p:cNvPr id="1021" name="Google Shape;1021;p148" descr="A close up of a sign&#10;&#10;Description automatically generated"/>
          <p:cNvPicPr preferRelativeResize="0"/>
          <p:nvPr/>
        </p:nvPicPr>
        <p:blipFill rotWithShape="1">
          <a:blip r:embed="rId8">
            <a:alphaModFix/>
          </a:blip>
          <a:srcRect/>
          <a:stretch/>
        </p:blipFill>
        <p:spPr>
          <a:xfrm>
            <a:off x="2579032" y="5203487"/>
            <a:ext cx="602601" cy="570465"/>
          </a:xfrm>
          <a:prstGeom prst="rect">
            <a:avLst/>
          </a:prstGeom>
          <a:noFill/>
          <a:ln>
            <a:noFill/>
          </a:ln>
        </p:spPr>
      </p:pic>
      <p:pic>
        <p:nvPicPr>
          <p:cNvPr id="1022" name="Google Shape;1022;p148"/>
          <p:cNvPicPr preferRelativeResize="0"/>
          <p:nvPr/>
        </p:nvPicPr>
        <p:blipFill rotWithShape="1">
          <a:blip r:embed="rId9">
            <a:alphaModFix/>
          </a:blip>
          <a:srcRect/>
          <a:stretch/>
        </p:blipFill>
        <p:spPr>
          <a:xfrm>
            <a:off x="800744" y="5203487"/>
            <a:ext cx="964672" cy="587573"/>
          </a:xfrm>
          <a:prstGeom prst="rect">
            <a:avLst/>
          </a:prstGeom>
          <a:noFill/>
          <a:ln>
            <a:noFill/>
          </a:ln>
        </p:spPr>
      </p:pic>
      <p:pic>
        <p:nvPicPr>
          <p:cNvPr id="1023" name="Google Shape;1023;p148" descr="Image result for R"/>
          <p:cNvPicPr preferRelativeResize="0"/>
          <p:nvPr/>
        </p:nvPicPr>
        <p:blipFill rotWithShape="1">
          <a:blip r:embed="rId10">
            <a:alphaModFix/>
          </a:blip>
          <a:srcRect/>
          <a:stretch/>
        </p:blipFill>
        <p:spPr>
          <a:xfrm>
            <a:off x="6651957" y="4537484"/>
            <a:ext cx="912709" cy="707349"/>
          </a:xfrm>
          <a:prstGeom prst="rect">
            <a:avLst/>
          </a:prstGeom>
          <a:noFill/>
          <a:ln w="9525" cap="flat" cmpd="sng">
            <a:solidFill>
              <a:srgbClr val="0070C0"/>
            </a:solidFill>
            <a:prstDash val="solid"/>
            <a:round/>
            <a:headEnd type="none" w="sm" len="sm"/>
            <a:tailEnd type="none" w="sm" len="sm"/>
          </a:ln>
        </p:spPr>
      </p:pic>
      <p:sp>
        <p:nvSpPr>
          <p:cNvPr id="1024" name="Google Shape;1024;p148"/>
          <p:cNvSpPr/>
          <p:nvPr/>
        </p:nvSpPr>
        <p:spPr>
          <a:xfrm>
            <a:off x="736777" y="3988455"/>
            <a:ext cx="2754000" cy="2343300"/>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025" name="Google Shape;1025;p148"/>
          <p:cNvCxnSpPr/>
          <p:nvPr/>
        </p:nvCxnSpPr>
        <p:spPr>
          <a:xfrm rot="10800000" flipH="1">
            <a:off x="3503325" y="3906850"/>
            <a:ext cx="1252500" cy="3396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26" name="Google Shape;1026;p148"/>
          <p:cNvCxnSpPr>
            <a:stCxn id="1023" idx="1"/>
          </p:cNvCxnSpPr>
          <p:nvPr/>
        </p:nvCxnSpPr>
        <p:spPr>
          <a:xfrm rot="10800000">
            <a:off x="5392857" y="4607359"/>
            <a:ext cx="1259100" cy="2838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27" name="Google Shape;1027;p148"/>
          <p:cNvCxnSpPr>
            <a:stCxn id="1023" idx="1"/>
          </p:cNvCxnSpPr>
          <p:nvPr/>
        </p:nvCxnSpPr>
        <p:spPr>
          <a:xfrm flipH="1">
            <a:off x="5435457" y="4891159"/>
            <a:ext cx="1216500" cy="1197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28" name="Google Shape;1028;p148"/>
          <p:cNvCxnSpPr>
            <a:stCxn id="1018" idx="1"/>
          </p:cNvCxnSpPr>
          <p:nvPr/>
        </p:nvCxnSpPr>
        <p:spPr>
          <a:xfrm rot="10800000">
            <a:off x="7188175" y="2879650"/>
            <a:ext cx="3138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29" name="Google Shape;1029;p148"/>
          <p:cNvCxnSpPr>
            <a:stCxn id="1019" idx="3"/>
          </p:cNvCxnSpPr>
          <p:nvPr/>
        </p:nvCxnSpPr>
        <p:spPr>
          <a:xfrm>
            <a:off x="3360550" y="2883031"/>
            <a:ext cx="631200" cy="33000"/>
          </a:xfrm>
          <a:prstGeom prst="straightConnector1">
            <a:avLst/>
          </a:prstGeom>
          <a:noFill/>
          <a:ln w="9525" cap="flat" cmpd="sng">
            <a:solidFill>
              <a:schemeClr val="accent1"/>
            </a:solidFill>
            <a:prstDash val="solid"/>
            <a:miter lim="800000"/>
            <a:headEnd type="none" w="sm" len="sm"/>
            <a:tailEnd type="triangle" w="med" len="med"/>
          </a:ln>
        </p:spPr>
      </p:cxnSp>
    </p:spTree>
    <p:extLst>
      <p:ext uri="{BB962C8B-B14F-4D97-AF65-F5344CB8AC3E}">
        <p14:creationId xmlns:p14="http://schemas.microsoft.com/office/powerpoint/2010/main" val="228317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p149"/>
          <p:cNvSpPr txBox="1">
            <a:spLocks noGrp="1"/>
          </p:cNvSpPr>
          <p:nvPr>
            <p:ph type="title"/>
          </p:nvPr>
        </p:nvSpPr>
        <p:spPr>
          <a:xfrm>
            <a:off x="840432" y="274638"/>
            <a:ext cx="7620000" cy="11430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nl-NL" dirty="0" err="1"/>
              <a:t>Streamlining</a:t>
            </a:r>
            <a:r>
              <a:rPr lang="nl-NL" dirty="0"/>
              <a:t> </a:t>
            </a:r>
            <a:r>
              <a:rPr lang="nl-NL" dirty="0" err="1"/>
              <a:t>Decision</a:t>
            </a:r>
            <a:r>
              <a:rPr lang="nl-NL" dirty="0"/>
              <a:t> </a:t>
            </a:r>
            <a:r>
              <a:rPr lang="nl-NL" dirty="0" err="1"/>
              <a:t>Modeling</a:t>
            </a:r>
            <a:r>
              <a:rPr lang="nl-NL" dirty="0"/>
              <a:t> </a:t>
            </a:r>
            <a:endParaRPr dirty="0"/>
          </a:p>
        </p:txBody>
      </p:sp>
      <p:pic>
        <p:nvPicPr>
          <p:cNvPr id="1036" name="Google Shape;1036;p149" descr="A drawing of a person&#10;&#10;Description automatically generated"/>
          <p:cNvPicPr preferRelativeResize="0">
            <a:picLocks noGrp="1"/>
          </p:cNvPicPr>
          <p:nvPr>
            <p:ph type="body" idx="1"/>
          </p:nvPr>
        </p:nvPicPr>
        <p:blipFill rotWithShape="1">
          <a:blip r:embed="rId3">
            <a:alphaModFix/>
          </a:blip>
          <a:srcRect l="12171" r="11329"/>
          <a:stretch/>
        </p:blipFill>
        <p:spPr>
          <a:xfrm>
            <a:off x="2121400" y="2870021"/>
            <a:ext cx="802200" cy="1398000"/>
          </a:xfrm>
          <a:prstGeom prst="rect">
            <a:avLst/>
          </a:prstGeom>
          <a:noFill/>
          <a:ln>
            <a:noFill/>
          </a:ln>
        </p:spPr>
      </p:pic>
      <p:pic>
        <p:nvPicPr>
          <p:cNvPr id="1037" name="Google Shape;1037;p149" descr="https://lh6.googleusercontent.com/KsJGy4kP0sN-_Pv-_Zv0ZpGpFPdbC04Rnramof-6p3JJNOpiY1mHhM39bJKua4ajE05Ly74zkWpLoWMpllbxAMEohMU4iMLsV7O5StOxSBYmWmgRDpj6i-qRqgYXh6aY6lbVF4gQyao"/>
          <p:cNvPicPr preferRelativeResize="0"/>
          <p:nvPr/>
        </p:nvPicPr>
        <p:blipFill rotWithShape="1">
          <a:blip r:embed="rId4">
            <a:alphaModFix/>
          </a:blip>
          <a:srcRect/>
          <a:stretch/>
        </p:blipFill>
        <p:spPr>
          <a:xfrm>
            <a:off x="3629025" y="1538288"/>
            <a:ext cx="3328988" cy="3857625"/>
          </a:xfrm>
          <a:prstGeom prst="rect">
            <a:avLst/>
          </a:prstGeom>
          <a:noFill/>
          <a:ln>
            <a:noFill/>
          </a:ln>
        </p:spPr>
      </p:pic>
      <p:pic>
        <p:nvPicPr>
          <p:cNvPr id="1038" name="Google Shape;1038;p149" descr="Image result for R"/>
          <p:cNvPicPr preferRelativeResize="0"/>
          <p:nvPr/>
        </p:nvPicPr>
        <p:blipFill rotWithShape="1">
          <a:blip r:embed="rId5">
            <a:alphaModFix/>
          </a:blip>
          <a:srcRect/>
          <a:stretch/>
        </p:blipFill>
        <p:spPr>
          <a:xfrm>
            <a:off x="1038708" y="3097463"/>
            <a:ext cx="1009102" cy="782054"/>
          </a:xfrm>
          <a:prstGeom prst="rect">
            <a:avLst/>
          </a:prstGeom>
          <a:noFill/>
          <a:ln>
            <a:noFill/>
          </a:ln>
        </p:spPr>
      </p:pic>
      <p:pic>
        <p:nvPicPr>
          <p:cNvPr id="1039" name="Google Shape;1039;p149" descr="Image result for python"/>
          <p:cNvPicPr preferRelativeResize="0"/>
          <p:nvPr/>
        </p:nvPicPr>
        <p:blipFill rotWithShape="1">
          <a:blip r:embed="rId6">
            <a:alphaModFix/>
          </a:blip>
          <a:srcRect/>
          <a:stretch/>
        </p:blipFill>
        <p:spPr>
          <a:xfrm>
            <a:off x="748766" y="4322833"/>
            <a:ext cx="2315340" cy="782054"/>
          </a:xfrm>
          <a:prstGeom prst="rect">
            <a:avLst/>
          </a:prstGeom>
          <a:noFill/>
          <a:ln>
            <a:noFill/>
          </a:ln>
        </p:spPr>
      </p:pic>
      <p:sp>
        <p:nvSpPr>
          <p:cNvPr id="1040" name="Google Shape;1040;p149"/>
          <p:cNvSpPr/>
          <p:nvPr/>
        </p:nvSpPr>
        <p:spPr>
          <a:xfrm>
            <a:off x="854744" y="2845118"/>
            <a:ext cx="2209200" cy="2529900"/>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41" name="Google Shape;1041;p149"/>
          <p:cNvCxnSpPr>
            <a:stCxn id="1040" idx="3"/>
          </p:cNvCxnSpPr>
          <p:nvPr/>
        </p:nvCxnSpPr>
        <p:spPr>
          <a:xfrm>
            <a:off x="3063944" y="4110068"/>
            <a:ext cx="524100" cy="9000"/>
          </a:xfrm>
          <a:prstGeom prst="straightConnector1">
            <a:avLst/>
          </a:prstGeom>
          <a:noFill/>
          <a:ln w="9525" cap="flat" cmpd="sng">
            <a:solidFill>
              <a:schemeClr val="accent1"/>
            </a:solidFill>
            <a:prstDash val="solid"/>
            <a:miter lim="800000"/>
            <a:headEnd type="none" w="sm" len="sm"/>
            <a:tailEnd type="triangle" w="med" len="med"/>
          </a:ln>
        </p:spPr>
      </p:cxnSp>
      <p:pic>
        <p:nvPicPr>
          <p:cNvPr id="2" name="Picture 1" descr="A diagram of a diagram&#10;&#10;AI-generated content may be incorrect.">
            <a:extLst>
              <a:ext uri="{FF2B5EF4-FFF2-40B4-BE49-F238E27FC236}">
                <a16:creationId xmlns:a16="http://schemas.microsoft.com/office/drawing/2014/main" id="{AAF3D4DB-E65E-476D-4263-ED7AFDD8E5C2}"/>
              </a:ext>
            </a:extLst>
          </p:cNvPr>
          <p:cNvPicPr>
            <a:picLocks noChangeAspect="1"/>
          </p:cNvPicPr>
          <p:nvPr/>
        </p:nvPicPr>
        <p:blipFill>
          <a:blip r:embed="rId7"/>
          <a:srcRect l="65463" t="40950" r="21894" b="35460"/>
          <a:stretch>
            <a:fillRect/>
          </a:stretch>
        </p:blipFill>
        <p:spPr>
          <a:xfrm>
            <a:off x="5396648" y="5752811"/>
            <a:ext cx="948266" cy="982134"/>
          </a:xfrm>
          <a:prstGeom prst="rect">
            <a:avLst/>
          </a:prstGeom>
        </p:spPr>
      </p:pic>
      <p:pic>
        <p:nvPicPr>
          <p:cNvPr id="3" name="Picture 2" descr="A diagram of a diagram&#10;&#10;AI-generated content may be incorrect.">
            <a:extLst>
              <a:ext uri="{FF2B5EF4-FFF2-40B4-BE49-F238E27FC236}">
                <a16:creationId xmlns:a16="http://schemas.microsoft.com/office/drawing/2014/main" id="{9AF1BF53-D500-FF7E-F58C-48FB10152E3D}"/>
              </a:ext>
            </a:extLst>
          </p:cNvPr>
          <p:cNvPicPr>
            <a:picLocks noChangeAspect="1"/>
          </p:cNvPicPr>
          <p:nvPr/>
        </p:nvPicPr>
        <p:blipFill>
          <a:blip r:embed="rId7"/>
          <a:srcRect l="82675" t="63300" r="2134" b="9246"/>
          <a:stretch>
            <a:fillRect/>
          </a:stretch>
        </p:blipFill>
        <p:spPr>
          <a:xfrm>
            <a:off x="4216400" y="5689311"/>
            <a:ext cx="1139267" cy="1143001"/>
          </a:xfrm>
          <a:prstGeom prst="rect">
            <a:avLst/>
          </a:prstGeom>
        </p:spPr>
      </p:pic>
      <p:sp>
        <p:nvSpPr>
          <p:cNvPr id="4" name="Google Shape;1040;p149">
            <a:extLst>
              <a:ext uri="{FF2B5EF4-FFF2-40B4-BE49-F238E27FC236}">
                <a16:creationId xmlns:a16="http://schemas.microsoft.com/office/drawing/2014/main" id="{43A0E83E-39DC-1797-9A4B-93FE6D858EE5}"/>
              </a:ext>
            </a:extLst>
          </p:cNvPr>
          <p:cNvSpPr/>
          <p:nvPr/>
        </p:nvSpPr>
        <p:spPr>
          <a:xfrm>
            <a:off x="4292048" y="5718945"/>
            <a:ext cx="2209200" cy="1062568"/>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5" name="Google Shape;1041;p149">
            <a:extLst>
              <a:ext uri="{FF2B5EF4-FFF2-40B4-BE49-F238E27FC236}">
                <a16:creationId xmlns:a16="http://schemas.microsoft.com/office/drawing/2014/main" id="{0EB41381-C9C4-E8C3-5179-48EAC5E83B0A}"/>
              </a:ext>
            </a:extLst>
          </p:cNvPr>
          <p:cNvCxnSpPr>
            <a:cxnSpLocks/>
          </p:cNvCxnSpPr>
          <p:nvPr/>
        </p:nvCxnSpPr>
        <p:spPr>
          <a:xfrm>
            <a:off x="5293519" y="5398474"/>
            <a:ext cx="0" cy="240038"/>
          </a:xfrm>
          <a:prstGeom prst="straightConnector1">
            <a:avLst/>
          </a:prstGeom>
          <a:noFill/>
          <a:ln w="9525" cap="flat" cmpd="sng">
            <a:solidFill>
              <a:schemeClr val="accent1"/>
            </a:solidFill>
            <a:prstDash val="solid"/>
            <a:miter lim="800000"/>
            <a:headEnd type="none" w="sm" len="sm"/>
            <a:tailEnd type="triangle" w="med" len="med"/>
          </a:ln>
        </p:spPr>
      </p:cxnSp>
    </p:spTree>
    <p:extLst>
      <p:ext uri="{BB962C8B-B14F-4D97-AF65-F5344CB8AC3E}">
        <p14:creationId xmlns:p14="http://schemas.microsoft.com/office/powerpoint/2010/main" val="234572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D2782-ECE7-431D-4DCE-4A30A8987C21}"/>
              </a:ext>
            </a:extLst>
          </p:cNvPr>
          <p:cNvSpPr>
            <a:spLocks noGrp="1"/>
          </p:cNvSpPr>
          <p:nvPr>
            <p:ph type="title"/>
          </p:nvPr>
        </p:nvSpPr>
        <p:spPr/>
        <p:txBody>
          <a:bodyPr/>
          <a:lstStyle/>
          <a:p>
            <a:r>
              <a:rPr lang="en-GB" sz="3600" dirty="0"/>
              <a:t>The growing role of R in HTA research</a:t>
            </a:r>
            <a:endParaRPr lang="en-NL" sz="3600" dirty="0"/>
          </a:p>
        </p:txBody>
      </p:sp>
      <p:sp>
        <p:nvSpPr>
          <p:cNvPr id="3" name="Content Placeholder 2">
            <a:extLst>
              <a:ext uri="{FF2B5EF4-FFF2-40B4-BE49-F238E27FC236}">
                <a16:creationId xmlns:a16="http://schemas.microsoft.com/office/drawing/2014/main" id="{1F5B2266-54EE-AAB5-C6CC-1833AA5FC77D}"/>
              </a:ext>
            </a:extLst>
          </p:cNvPr>
          <p:cNvSpPr>
            <a:spLocks noGrp="1"/>
          </p:cNvSpPr>
          <p:nvPr>
            <p:ph idx="1"/>
          </p:nvPr>
        </p:nvSpPr>
        <p:spPr>
          <a:xfrm>
            <a:off x="840432" y="1859280"/>
            <a:ext cx="8120688" cy="4541520"/>
          </a:xfrm>
        </p:spPr>
        <p:txBody>
          <a:bodyPr>
            <a:normAutofit/>
          </a:bodyPr>
          <a:lstStyle/>
          <a:p>
            <a:pPr marL="114300" indent="0">
              <a:buNone/>
            </a:pPr>
            <a:r>
              <a:rPr lang="en-GB" b="1" dirty="0">
                <a:solidFill>
                  <a:schemeClr val="accent5"/>
                </a:solidFill>
              </a:rPr>
              <a:t>Early barriers</a:t>
            </a:r>
            <a:endParaRPr lang="en-GB" dirty="0">
              <a:solidFill>
                <a:schemeClr val="accent5"/>
              </a:solidFill>
            </a:endParaRPr>
          </a:p>
          <a:p>
            <a:r>
              <a:rPr lang="en-GB" dirty="0"/>
              <a:t>Steep learning curve </a:t>
            </a:r>
          </a:p>
          <a:p>
            <a:r>
              <a:rPr lang="en-GB" dirty="0"/>
              <a:t>Lack of guideline endorsement for R-based analyses</a:t>
            </a:r>
          </a:p>
          <a:p>
            <a:pPr marL="114300" indent="0">
              <a:buNone/>
            </a:pPr>
            <a:endParaRPr lang="en-GB" b="1" dirty="0"/>
          </a:p>
          <a:p>
            <a:pPr marL="114300" indent="0">
              <a:buNone/>
            </a:pPr>
            <a:r>
              <a:rPr lang="en-GB" b="1" dirty="0">
                <a:solidFill>
                  <a:schemeClr val="accent2"/>
                </a:solidFill>
              </a:rPr>
              <a:t>Recent shifts</a:t>
            </a:r>
            <a:endParaRPr lang="en-GB" dirty="0">
              <a:solidFill>
                <a:schemeClr val="accent2"/>
              </a:solidFill>
            </a:endParaRPr>
          </a:p>
          <a:p>
            <a:r>
              <a:rPr lang="en-GB" dirty="0"/>
              <a:t>Increasing guideline acceptance of R-based models</a:t>
            </a:r>
          </a:p>
          <a:p>
            <a:r>
              <a:rPr lang="en-GB" dirty="0"/>
              <a:t>Broader adoption due to trend in open science</a:t>
            </a:r>
            <a:r>
              <a:rPr lang="en-GB" baseline="30000" dirty="0">
                <a:solidFill>
                  <a:schemeClr val="accent6"/>
                </a:solidFill>
              </a:rPr>
              <a:t>1</a:t>
            </a:r>
            <a:r>
              <a:rPr lang="en-GB" dirty="0"/>
              <a:t> </a:t>
            </a:r>
          </a:p>
          <a:p>
            <a:r>
              <a:rPr lang="en-GB" dirty="0"/>
              <a:t>Expansion of R packages and educational materials (</a:t>
            </a:r>
            <a:r>
              <a:rPr lang="en-GB" dirty="0" err="1"/>
              <a:t>e.g</a:t>
            </a:r>
            <a:r>
              <a:rPr lang="en-GB" dirty="0"/>
              <a:t> </a:t>
            </a:r>
            <a:r>
              <a:rPr lang="en-GB" dirty="0" err="1"/>
              <a:t>dampack</a:t>
            </a:r>
            <a:r>
              <a:rPr lang="en-GB" dirty="0"/>
              <a:t>, </a:t>
            </a:r>
            <a:r>
              <a:rPr lang="en-GB" dirty="0" err="1"/>
              <a:t>hesim</a:t>
            </a:r>
            <a:r>
              <a:rPr lang="en-GB" dirty="0"/>
              <a:t>, R for HTA book)</a:t>
            </a:r>
            <a:r>
              <a:rPr lang="en-GB" baseline="30000" dirty="0">
                <a:solidFill>
                  <a:schemeClr val="accent6"/>
                </a:solidFill>
              </a:rPr>
              <a:t>2 </a:t>
            </a:r>
            <a:endParaRPr lang="en-GB" b="1" baseline="30000" dirty="0">
              <a:solidFill>
                <a:schemeClr val="accent6"/>
              </a:solidFill>
            </a:endParaRPr>
          </a:p>
          <a:p>
            <a:r>
              <a:rPr lang="en-GB" dirty="0"/>
              <a:t>Artificial intelligence help (e.g. copilot )</a:t>
            </a:r>
          </a:p>
        </p:txBody>
      </p:sp>
      <p:sp>
        <p:nvSpPr>
          <p:cNvPr id="4" name="Slide Number Placeholder 3">
            <a:extLst>
              <a:ext uri="{FF2B5EF4-FFF2-40B4-BE49-F238E27FC236}">
                <a16:creationId xmlns:a16="http://schemas.microsoft.com/office/drawing/2014/main" id="{06606112-8C25-AF99-0248-1FE75C5F01A1}"/>
              </a:ext>
            </a:extLst>
          </p:cNvPr>
          <p:cNvSpPr>
            <a:spLocks noGrp="1"/>
          </p:cNvSpPr>
          <p:nvPr>
            <p:ph type="sldNum" sz="quarter" idx="12"/>
          </p:nvPr>
        </p:nvSpPr>
        <p:spPr/>
        <p:txBody>
          <a:bodyPr/>
          <a:lstStyle/>
          <a:p>
            <a:fld id="{0798D939-2D9E-2142-A80A-FFDECD1E5A9B}" type="slidenum">
              <a:rPr lang="en-US" smtClean="0"/>
              <a:t>15</a:t>
            </a:fld>
            <a:endParaRPr lang="en-US"/>
          </a:p>
        </p:txBody>
      </p:sp>
      <p:sp>
        <p:nvSpPr>
          <p:cNvPr id="5" name="TextBox 4">
            <a:extLst>
              <a:ext uri="{FF2B5EF4-FFF2-40B4-BE49-F238E27FC236}">
                <a16:creationId xmlns:a16="http://schemas.microsoft.com/office/drawing/2014/main" id="{B81FCBF1-CCFB-FCCB-9FCF-0FFFCEE0E051}"/>
              </a:ext>
            </a:extLst>
          </p:cNvPr>
          <p:cNvSpPr txBox="1"/>
          <p:nvPr/>
        </p:nvSpPr>
        <p:spPr>
          <a:xfrm>
            <a:off x="676617" y="6429473"/>
            <a:ext cx="8589211" cy="523220"/>
          </a:xfrm>
          <a:prstGeom prst="rect">
            <a:avLst/>
          </a:prstGeom>
          <a:noFill/>
        </p:spPr>
        <p:txBody>
          <a:bodyPr wrap="none" rtlCol="0">
            <a:spAutoFit/>
          </a:bodyPr>
          <a:lstStyle/>
          <a:p>
            <a:r>
              <a:rPr lang="en-GB" sz="700" dirty="0">
                <a:solidFill>
                  <a:schemeClr val="accent6"/>
                </a:solidFill>
              </a:rPr>
              <a:t>1. Raymond H. Henderson et al., Mapping the Landscape of Open Source Health Economic Models: A Systematic Database Review and Analysis: An ISPOR Special Interest Group Report,</a:t>
            </a:r>
          </a:p>
          <a:p>
            <a:r>
              <a:rPr lang="en-GB" sz="700" dirty="0">
                <a:solidFill>
                  <a:schemeClr val="accent6"/>
                </a:solidFill>
              </a:rPr>
              <a:t>Value in Health, Volume 28, Issue 6, 2025</a:t>
            </a:r>
            <a:br>
              <a:rPr lang="en-GB" sz="700" dirty="0">
                <a:solidFill>
                  <a:schemeClr val="accent6"/>
                </a:solidFill>
              </a:rPr>
            </a:br>
            <a:r>
              <a:rPr lang="en-GB" sz="700" dirty="0">
                <a:solidFill>
                  <a:schemeClr val="accent6"/>
                </a:solidFill>
              </a:rPr>
              <a:t>2. among others, Book R for Health Technology Assessment, DARTH, </a:t>
            </a:r>
            <a:r>
              <a:rPr lang="en-GB" sz="700" dirty="0" err="1">
                <a:solidFill>
                  <a:schemeClr val="accent6"/>
                </a:solidFill>
              </a:rPr>
              <a:t>darkpeak</a:t>
            </a:r>
            <a:r>
              <a:rPr lang="en-GB" sz="700" dirty="0">
                <a:solidFill>
                  <a:schemeClr val="accent6"/>
                </a:solidFill>
              </a:rPr>
              <a:t> analytics, R for HTA, several package on </a:t>
            </a:r>
            <a:r>
              <a:rPr lang="en-GB" sz="700" dirty="0" err="1">
                <a:solidFill>
                  <a:schemeClr val="accent6"/>
                </a:solidFill>
              </a:rPr>
              <a:t>Github</a:t>
            </a:r>
            <a:r>
              <a:rPr lang="en-GB" sz="700" dirty="0">
                <a:solidFill>
                  <a:schemeClr val="accent6"/>
                </a:solidFill>
              </a:rPr>
              <a:t> and Cran</a:t>
            </a:r>
          </a:p>
          <a:p>
            <a:endParaRPr lang="en-NL" sz="700" dirty="0">
              <a:solidFill>
                <a:schemeClr val="accent6"/>
              </a:solidFill>
            </a:endParaRPr>
          </a:p>
        </p:txBody>
      </p:sp>
      <p:pic>
        <p:nvPicPr>
          <p:cNvPr id="1026" name="Picture 2" descr="219+ Thousand Skeleton Icon Royalty-Free Images, Stock Photos &amp; Pictures |  Shutterstock">
            <a:extLst>
              <a:ext uri="{FF2B5EF4-FFF2-40B4-BE49-F238E27FC236}">
                <a16:creationId xmlns:a16="http://schemas.microsoft.com/office/drawing/2014/main" id="{69AC0954-A91E-3A6B-3E68-E3C0389B852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3846"/>
          <a:stretch>
            <a:fillRect/>
          </a:stretch>
        </p:blipFill>
        <p:spPr bwMode="auto">
          <a:xfrm>
            <a:off x="6832600" y="5350934"/>
            <a:ext cx="584200" cy="592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374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01B82DD-1235-E201-3469-B5DBA058C9FA}"/>
              </a:ext>
            </a:extLst>
          </p:cNvPr>
          <p:cNvSpPr/>
          <p:nvPr/>
        </p:nvSpPr>
        <p:spPr>
          <a:xfrm rot="16200000">
            <a:off x="-3327469" y="2909393"/>
            <a:ext cx="7245702" cy="120015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2" name="Title 1">
            <a:extLst>
              <a:ext uri="{FF2B5EF4-FFF2-40B4-BE49-F238E27FC236}">
                <a16:creationId xmlns:a16="http://schemas.microsoft.com/office/drawing/2014/main" id="{8F5F1DD4-983B-3C48-E936-C2FFBEA86BF3}"/>
              </a:ext>
            </a:extLst>
          </p:cNvPr>
          <p:cNvSpPr>
            <a:spLocks noGrp="1"/>
          </p:cNvSpPr>
          <p:nvPr>
            <p:ph type="title"/>
          </p:nvPr>
        </p:nvSpPr>
        <p:spPr/>
        <p:txBody>
          <a:bodyPr/>
          <a:lstStyle/>
          <a:p>
            <a:r>
              <a:rPr lang="en-NL" dirty="0"/>
              <a:t>Broad modeling methods categories </a:t>
            </a:r>
            <a:r>
              <a:rPr lang="en-NL" i="1" dirty="0"/>
              <a:t>(</a:t>
            </a:r>
            <a:r>
              <a:rPr lang="en-GB" i="1" dirty="0"/>
              <a:t>non-exhaustive</a:t>
            </a:r>
            <a:r>
              <a:rPr lang="en-NL" i="1" dirty="0"/>
              <a:t>)</a:t>
            </a:r>
          </a:p>
        </p:txBody>
      </p:sp>
      <p:sp>
        <p:nvSpPr>
          <p:cNvPr id="4" name="Rounded Rectangle 3">
            <a:extLst>
              <a:ext uri="{FF2B5EF4-FFF2-40B4-BE49-F238E27FC236}">
                <a16:creationId xmlns:a16="http://schemas.microsoft.com/office/drawing/2014/main" id="{1CD82EE9-1C83-D0D7-7B70-EF32E3008966}"/>
              </a:ext>
            </a:extLst>
          </p:cNvPr>
          <p:cNvSpPr/>
          <p:nvPr/>
        </p:nvSpPr>
        <p:spPr>
          <a:xfrm>
            <a:off x="2339752" y="2084832"/>
            <a:ext cx="6696744" cy="1200152"/>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Recurring events</a:t>
            </a:r>
          </a:p>
        </p:txBody>
      </p:sp>
      <p:sp>
        <p:nvSpPr>
          <p:cNvPr id="5" name="Rounded Rectangle 4">
            <a:extLst>
              <a:ext uri="{FF2B5EF4-FFF2-40B4-BE49-F238E27FC236}">
                <a16:creationId xmlns:a16="http://schemas.microsoft.com/office/drawing/2014/main" id="{A5BA1789-29C3-C0E0-86A7-08122F541157}"/>
              </a:ext>
            </a:extLst>
          </p:cNvPr>
          <p:cNvSpPr/>
          <p:nvPr/>
        </p:nvSpPr>
        <p:spPr>
          <a:xfrm>
            <a:off x="251520" y="2106832"/>
            <a:ext cx="1872208" cy="1178152"/>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Evaluate trade-offs </a:t>
            </a:r>
          </a:p>
        </p:txBody>
      </p:sp>
      <p:sp>
        <p:nvSpPr>
          <p:cNvPr id="7" name="Rounded Rectangle 6">
            <a:extLst>
              <a:ext uri="{FF2B5EF4-FFF2-40B4-BE49-F238E27FC236}">
                <a16:creationId xmlns:a16="http://schemas.microsoft.com/office/drawing/2014/main" id="{E2203045-E866-B93F-1A03-8236D0427B66}"/>
              </a:ext>
            </a:extLst>
          </p:cNvPr>
          <p:cNvSpPr/>
          <p:nvPr/>
        </p:nvSpPr>
        <p:spPr>
          <a:xfrm>
            <a:off x="323528" y="3429000"/>
            <a:ext cx="1626440" cy="1178152"/>
          </a:xfrm>
          <a:prstGeom prst="roundRect">
            <a:avLst/>
          </a:prstGeom>
          <a:solidFill>
            <a:schemeClr val="accent1">
              <a:lumMod val="60000"/>
              <a:lumOff val="4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solidFill>
                  <a:schemeClr val="tx1"/>
                </a:solidFill>
              </a:rPr>
              <a:t>Balance sheet</a:t>
            </a:r>
          </a:p>
        </p:txBody>
      </p:sp>
      <p:sp>
        <p:nvSpPr>
          <p:cNvPr id="10" name="Rounded Rectangle 9">
            <a:extLst>
              <a:ext uri="{FF2B5EF4-FFF2-40B4-BE49-F238E27FC236}">
                <a16:creationId xmlns:a16="http://schemas.microsoft.com/office/drawing/2014/main" id="{137EC0ED-BEBF-883B-2F94-74862CF488A0}"/>
              </a:ext>
            </a:extLst>
          </p:cNvPr>
          <p:cNvSpPr/>
          <p:nvPr/>
        </p:nvSpPr>
        <p:spPr>
          <a:xfrm>
            <a:off x="3311642" y="4989292"/>
            <a:ext cx="2340478" cy="551401"/>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800" dirty="0">
                <a:solidFill>
                  <a:schemeClr val="tx1"/>
                </a:solidFill>
              </a:rPr>
              <a:t>Partition survival model</a:t>
            </a:r>
          </a:p>
        </p:txBody>
      </p:sp>
      <p:sp>
        <p:nvSpPr>
          <p:cNvPr id="12" name="Rounded Rectangle 11">
            <a:extLst>
              <a:ext uri="{FF2B5EF4-FFF2-40B4-BE49-F238E27FC236}">
                <a16:creationId xmlns:a16="http://schemas.microsoft.com/office/drawing/2014/main" id="{F9E91778-1C15-FE1F-FFC1-ADC4C9B3ABA9}"/>
              </a:ext>
            </a:extLst>
          </p:cNvPr>
          <p:cNvSpPr/>
          <p:nvPr/>
        </p:nvSpPr>
        <p:spPr>
          <a:xfrm>
            <a:off x="3251948" y="3360719"/>
            <a:ext cx="2501270" cy="504055"/>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Cohort based</a:t>
            </a:r>
          </a:p>
        </p:txBody>
      </p:sp>
      <p:sp>
        <p:nvSpPr>
          <p:cNvPr id="13" name="Rounded Rectangle 12">
            <a:extLst>
              <a:ext uri="{FF2B5EF4-FFF2-40B4-BE49-F238E27FC236}">
                <a16:creationId xmlns:a16="http://schemas.microsoft.com/office/drawing/2014/main" id="{C2524F59-437B-B4A2-DB88-B9E28D889251}"/>
              </a:ext>
            </a:extLst>
          </p:cNvPr>
          <p:cNvSpPr/>
          <p:nvPr/>
        </p:nvSpPr>
        <p:spPr>
          <a:xfrm>
            <a:off x="6012162" y="3356993"/>
            <a:ext cx="2964138" cy="504055"/>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Individual-level based</a:t>
            </a:r>
          </a:p>
        </p:txBody>
      </p:sp>
      <p:sp>
        <p:nvSpPr>
          <p:cNvPr id="15" name="Rounded Rectangle 14">
            <a:extLst>
              <a:ext uri="{FF2B5EF4-FFF2-40B4-BE49-F238E27FC236}">
                <a16:creationId xmlns:a16="http://schemas.microsoft.com/office/drawing/2014/main" id="{E60CBBED-D118-5576-F30E-418E913B8B7D}"/>
              </a:ext>
            </a:extLst>
          </p:cNvPr>
          <p:cNvSpPr/>
          <p:nvPr/>
        </p:nvSpPr>
        <p:spPr>
          <a:xfrm>
            <a:off x="2303965" y="3360719"/>
            <a:ext cx="827875" cy="2074524"/>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NL" dirty="0"/>
              <a:t>Discete time</a:t>
            </a:r>
          </a:p>
        </p:txBody>
      </p:sp>
      <p:sp>
        <p:nvSpPr>
          <p:cNvPr id="16" name="Rounded Rectangle 15">
            <a:extLst>
              <a:ext uri="{FF2B5EF4-FFF2-40B4-BE49-F238E27FC236}">
                <a16:creationId xmlns:a16="http://schemas.microsoft.com/office/drawing/2014/main" id="{554EA70E-6851-8124-38CF-4F58FEBC7024}"/>
              </a:ext>
            </a:extLst>
          </p:cNvPr>
          <p:cNvSpPr/>
          <p:nvPr/>
        </p:nvSpPr>
        <p:spPr>
          <a:xfrm>
            <a:off x="339108" y="4751168"/>
            <a:ext cx="1626440" cy="117815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solidFill>
                  <a:schemeClr val="tx1"/>
                </a:solidFill>
              </a:rPr>
              <a:t>Decision tree</a:t>
            </a:r>
          </a:p>
        </p:txBody>
      </p:sp>
      <p:sp>
        <p:nvSpPr>
          <p:cNvPr id="17" name="Rounded Rectangle 16">
            <a:extLst>
              <a:ext uri="{FF2B5EF4-FFF2-40B4-BE49-F238E27FC236}">
                <a16:creationId xmlns:a16="http://schemas.microsoft.com/office/drawing/2014/main" id="{BEB1E05A-D2E2-5BEF-3466-7E2D9E58A661}"/>
              </a:ext>
            </a:extLst>
          </p:cNvPr>
          <p:cNvSpPr/>
          <p:nvPr/>
        </p:nvSpPr>
        <p:spPr>
          <a:xfrm>
            <a:off x="2303965" y="5517232"/>
            <a:ext cx="827875" cy="1320744"/>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NL" dirty="0"/>
              <a:t>Continuos time</a:t>
            </a:r>
          </a:p>
        </p:txBody>
      </p:sp>
      <p:sp>
        <p:nvSpPr>
          <p:cNvPr id="18" name="Rounded Rectangle 17">
            <a:extLst>
              <a:ext uri="{FF2B5EF4-FFF2-40B4-BE49-F238E27FC236}">
                <a16:creationId xmlns:a16="http://schemas.microsoft.com/office/drawing/2014/main" id="{80AAE86E-B66D-AC80-2907-2C4B99574212}"/>
              </a:ext>
            </a:extLst>
          </p:cNvPr>
          <p:cNvSpPr/>
          <p:nvPr/>
        </p:nvSpPr>
        <p:spPr>
          <a:xfrm>
            <a:off x="6020428" y="5517233"/>
            <a:ext cx="2955872" cy="755551"/>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solidFill>
                  <a:schemeClr val="tx1"/>
                </a:solidFill>
              </a:rPr>
              <a:t>Discrete event simulations</a:t>
            </a:r>
          </a:p>
        </p:txBody>
      </p:sp>
      <p:sp>
        <p:nvSpPr>
          <p:cNvPr id="3" name="Rounded Rectangle 2">
            <a:extLst>
              <a:ext uri="{FF2B5EF4-FFF2-40B4-BE49-F238E27FC236}">
                <a16:creationId xmlns:a16="http://schemas.microsoft.com/office/drawing/2014/main" id="{940DE771-705D-91D7-93E3-703FEFFBB6C9}"/>
              </a:ext>
            </a:extLst>
          </p:cNvPr>
          <p:cNvSpPr/>
          <p:nvPr/>
        </p:nvSpPr>
        <p:spPr>
          <a:xfrm>
            <a:off x="3304100" y="3933056"/>
            <a:ext cx="5672200" cy="993431"/>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State-transition models</a:t>
            </a:r>
          </a:p>
          <a:p>
            <a:pPr algn="ctr"/>
            <a:endParaRPr lang="en-NL" dirty="0"/>
          </a:p>
          <a:p>
            <a:pPr algn="ctr"/>
            <a:endParaRPr lang="en-NL" dirty="0"/>
          </a:p>
        </p:txBody>
      </p:sp>
      <p:sp>
        <p:nvSpPr>
          <p:cNvPr id="14" name="Rounded Rectangle 13">
            <a:extLst>
              <a:ext uri="{FF2B5EF4-FFF2-40B4-BE49-F238E27FC236}">
                <a16:creationId xmlns:a16="http://schemas.microsoft.com/office/drawing/2014/main" id="{767BADEB-8AC1-14F7-9D6C-EC7BB16394CE}"/>
              </a:ext>
            </a:extLst>
          </p:cNvPr>
          <p:cNvSpPr/>
          <p:nvPr/>
        </p:nvSpPr>
        <p:spPr>
          <a:xfrm>
            <a:off x="6020428" y="4336402"/>
            <a:ext cx="2955872" cy="604766"/>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2000" dirty="0">
                <a:solidFill>
                  <a:schemeClr val="tx1"/>
                </a:solidFill>
              </a:rPr>
              <a:t>iSTM/</a:t>
            </a:r>
          </a:p>
          <a:p>
            <a:pPr algn="ctr"/>
            <a:r>
              <a:rPr lang="en-NL" sz="2000" dirty="0">
                <a:solidFill>
                  <a:schemeClr val="tx1"/>
                </a:solidFill>
              </a:rPr>
              <a:t>Microsimulation</a:t>
            </a:r>
          </a:p>
        </p:txBody>
      </p:sp>
      <p:sp>
        <p:nvSpPr>
          <p:cNvPr id="9" name="Rounded Rectangle 8">
            <a:extLst>
              <a:ext uri="{FF2B5EF4-FFF2-40B4-BE49-F238E27FC236}">
                <a16:creationId xmlns:a16="http://schemas.microsoft.com/office/drawing/2014/main" id="{6228C6DD-5ABF-6DA7-97EE-894E68D2974E}"/>
              </a:ext>
            </a:extLst>
          </p:cNvPr>
          <p:cNvSpPr/>
          <p:nvPr/>
        </p:nvSpPr>
        <p:spPr>
          <a:xfrm>
            <a:off x="3304100" y="4319007"/>
            <a:ext cx="2340478" cy="604767"/>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600" dirty="0">
                <a:solidFill>
                  <a:schemeClr val="tx1"/>
                </a:solidFill>
              </a:rPr>
              <a:t>cSTM</a:t>
            </a:r>
          </a:p>
          <a:p>
            <a:pPr algn="ctr"/>
            <a:r>
              <a:rPr lang="en-NL" sz="1600" dirty="0">
                <a:solidFill>
                  <a:schemeClr val="tx1"/>
                </a:solidFill>
              </a:rPr>
              <a:t>Markov model</a:t>
            </a:r>
          </a:p>
        </p:txBody>
      </p:sp>
    </p:spTree>
    <p:extLst>
      <p:ext uri="{BB962C8B-B14F-4D97-AF65-F5344CB8AC3E}">
        <p14:creationId xmlns:p14="http://schemas.microsoft.com/office/powerpoint/2010/main" val="3002751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10" grpId="0" animBg="1"/>
      <p:bldP spid="12" grpId="0" animBg="1"/>
      <p:bldP spid="13" grpId="0" animBg="1"/>
      <p:bldP spid="15" grpId="0" animBg="1"/>
      <p:bldP spid="16" grpId="0" animBg="1"/>
      <p:bldP spid="17" grpId="0" animBg="1"/>
      <p:bldP spid="18" grpId="0" animBg="1"/>
      <p:bldP spid="3" grpId="0" animBg="1"/>
      <p:bldP spid="14"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7152D-BA2F-6CF2-0CCA-B01503C1A650}"/>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B157EA7B-2340-1371-EC8D-28FF4B81D6FA}"/>
              </a:ext>
            </a:extLst>
          </p:cNvPr>
          <p:cNvSpPr/>
          <p:nvPr/>
        </p:nvSpPr>
        <p:spPr>
          <a:xfrm rot="16200000">
            <a:off x="-3327469" y="2828924"/>
            <a:ext cx="7245702" cy="120015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2" name="Title 1">
            <a:extLst>
              <a:ext uri="{FF2B5EF4-FFF2-40B4-BE49-F238E27FC236}">
                <a16:creationId xmlns:a16="http://schemas.microsoft.com/office/drawing/2014/main" id="{8063E641-5E4B-62BA-42BB-0961216B6DC6}"/>
              </a:ext>
            </a:extLst>
          </p:cNvPr>
          <p:cNvSpPr>
            <a:spLocks noGrp="1"/>
          </p:cNvSpPr>
          <p:nvPr>
            <p:ph type="title"/>
          </p:nvPr>
        </p:nvSpPr>
        <p:spPr/>
        <p:txBody>
          <a:bodyPr/>
          <a:lstStyle/>
          <a:p>
            <a:r>
              <a:rPr lang="en-NL" dirty="0"/>
              <a:t>Broad modeling methods categories </a:t>
            </a:r>
            <a:r>
              <a:rPr lang="en-NL" i="1" dirty="0"/>
              <a:t>(</a:t>
            </a:r>
            <a:r>
              <a:rPr lang="en-GB" i="1" dirty="0">
                <a:solidFill>
                  <a:srgbClr val="C00000"/>
                </a:solidFill>
              </a:rPr>
              <a:t>non-exhaustive</a:t>
            </a:r>
            <a:r>
              <a:rPr lang="en-NL" i="1" dirty="0"/>
              <a:t>)</a:t>
            </a:r>
          </a:p>
        </p:txBody>
      </p:sp>
      <p:sp>
        <p:nvSpPr>
          <p:cNvPr id="4" name="Rounded Rectangle 3">
            <a:extLst>
              <a:ext uri="{FF2B5EF4-FFF2-40B4-BE49-F238E27FC236}">
                <a16:creationId xmlns:a16="http://schemas.microsoft.com/office/drawing/2014/main" id="{1100A6C0-049F-7C2A-3E52-22640F43A012}"/>
              </a:ext>
            </a:extLst>
          </p:cNvPr>
          <p:cNvSpPr/>
          <p:nvPr/>
        </p:nvSpPr>
        <p:spPr>
          <a:xfrm>
            <a:off x="2339752" y="2084832"/>
            <a:ext cx="6696744" cy="1200152"/>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Recurring events</a:t>
            </a:r>
          </a:p>
        </p:txBody>
      </p:sp>
      <p:sp>
        <p:nvSpPr>
          <p:cNvPr id="5" name="Rounded Rectangle 4">
            <a:extLst>
              <a:ext uri="{FF2B5EF4-FFF2-40B4-BE49-F238E27FC236}">
                <a16:creationId xmlns:a16="http://schemas.microsoft.com/office/drawing/2014/main" id="{0BB101C3-E42C-6620-EB7D-68EAFE0C09DE}"/>
              </a:ext>
            </a:extLst>
          </p:cNvPr>
          <p:cNvSpPr/>
          <p:nvPr/>
        </p:nvSpPr>
        <p:spPr>
          <a:xfrm>
            <a:off x="251520" y="2106832"/>
            <a:ext cx="1872208" cy="1178152"/>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Evaluate trade-offs </a:t>
            </a:r>
          </a:p>
        </p:txBody>
      </p:sp>
      <p:sp>
        <p:nvSpPr>
          <p:cNvPr id="7" name="Rounded Rectangle 6">
            <a:extLst>
              <a:ext uri="{FF2B5EF4-FFF2-40B4-BE49-F238E27FC236}">
                <a16:creationId xmlns:a16="http://schemas.microsoft.com/office/drawing/2014/main" id="{F8CC57F7-B8FE-1C77-D320-E16A6980737B}"/>
              </a:ext>
            </a:extLst>
          </p:cNvPr>
          <p:cNvSpPr/>
          <p:nvPr/>
        </p:nvSpPr>
        <p:spPr>
          <a:xfrm>
            <a:off x="323528" y="3429000"/>
            <a:ext cx="1626440" cy="1178152"/>
          </a:xfrm>
          <a:prstGeom prst="roundRect">
            <a:avLst/>
          </a:prstGeom>
          <a:solidFill>
            <a:schemeClr val="accent1">
              <a:lumMod val="60000"/>
              <a:lumOff val="4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solidFill>
                  <a:schemeClr val="tx1"/>
                </a:solidFill>
              </a:rPr>
              <a:t>Balance sheet</a:t>
            </a:r>
          </a:p>
        </p:txBody>
      </p:sp>
      <p:sp>
        <p:nvSpPr>
          <p:cNvPr id="10" name="Rounded Rectangle 9">
            <a:extLst>
              <a:ext uri="{FF2B5EF4-FFF2-40B4-BE49-F238E27FC236}">
                <a16:creationId xmlns:a16="http://schemas.microsoft.com/office/drawing/2014/main" id="{5B5CB841-A74B-BE31-C356-1DFFA590ADB6}"/>
              </a:ext>
            </a:extLst>
          </p:cNvPr>
          <p:cNvSpPr/>
          <p:nvPr/>
        </p:nvSpPr>
        <p:spPr>
          <a:xfrm>
            <a:off x="3311642" y="5023158"/>
            <a:ext cx="2340478" cy="535963"/>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800" dirty="0">
                <a:solidFill>
                  <a:schemeClr val="tx1"/>
                </a:solidFill>
              </a:rPr>
              <a:t>Partition survival model</a:t>
            </a:r>
          </a:p>
        </p:txBody>
      </p:sp>
      <p:sp>
        <p:nvSpPr>
          <p:cNvPr id="12" name="Rounded Rectangle 11">
            <a:extLst>
              <a:ext uri="{FF2B5EF4-FFF2-40B4-BE49-F238E27FC236}">
                <a16:creationId xmlns:a16="http://schemas.microsoft.com/office/drawing/2014/main" id="{FDE5FD40-52B4-7334-35DD-882E142502A5}"/>
              </a:ext>
            </a:extLst>
          </p:cNvPr>
          <p:cNvSpPr/>
          <p:nvPr/>
        </p:nvSpPr>
        <p:spPr>
          <a:xfrm>
            <a:off x="3251948" y="3360719"/>
            <a:ext cx="2501270" cy="504055"/>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Cohort based</a:t>
            </a:r>
          </a:p>
        </p:txBody>
      </p:sp>
      <p:sp>
        <p:nvSpPr>
          <p:cNvPr id="13" name="Rounded Rectangle 12">
            <a:extLst>
              <a:ext uri="{FF2B5EF4-FFF2-40B4-BE49-F238E27FC236}">
                <a16:creationId xmlns:a16="http://schemas.microsoft.com/office/drawing/2014/main" id="{2D12302D-5395-9463-BC03-8481563C3C99}"/>
              </a:ext>
            </a:extLst>
          </p:cNvPr>
          <p:cNvSpPr/>
          <p:nvPr/>
        </p:nvSpPr>
        <p:spPr>
          <a:xfrm>
            <a:off x="6012162" y="3356993"/>
            <a:ext cx="2964138" cy="504055"/>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Individual-level based</a:t>
            </a:r>
          </a:p>
        </p:txBody>
      </p:sp>
      <p:sp>
        <p:nvSpPr>
          <p:cNvPr id="15" name="Rounded Rectangle 14">
            <a:extLst>
              <a:ext uri="{FF2B5EF4-FFF2-40B4-BE49-F238E27FC236}">
                <a16:creationId xmlns:a16="http://schemas.microsoft.com/office/drawing/2014/main" id="{958E89AA-5662-E4E9-ED1B-EF283EE3E629}"/>
              </a:ext>
            </a:extLst>
          </p:cNvPr>
          <p:cNvSpPr/>
          <p:nvPr/>
        </p:nvSpPr>
        <p:spPr>
          <a:xfrm>
            <a:off x="2303965" y="3360719"/>
            <a:ext cx="827875" cy="2074524"/>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NL" dirty="0"/>
              <a:t>Discete time</a:t>
            </a:r>
          </a:p>
        </p:txBody>
      </p:sp>
      <p:sp>
        <p:nvSpPr>
          <p:cNvPr id="16" name="Rounded Rectangle 15">
            <a:extLst>
              <a:ext uri="{FF2B5EF4-FFF2-40B4-BE49-F238E27FC236}">
                <a16:creationId xmlns:a16="http://schemas.microsoft.com/office/drawing/2014/main" id="{6F3C32FF-1E7C-54B7-F218-F88112D92034}"/>
              </a:ext>
            </a:extLst>
          </p:cNvPr>
          <p:cNvSpPr/>
          <p:nvPr/>
        </p:nvSpPr>
        <p:spPr>
          <a:xfrm>
            <a:off x="339108" y="4751168"/>
            <a:ext cx="1626440" cy="117815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solidFill>
                  <a:schemeClr val="tx1"/>
                </a:solidFill>
              </a:rPr>
              <a:t>Decision tree</a:t>
            </a:r>
          </a:p>
        </p:txBody>
      </p:sp>
      <p:sp>
        <p:nvSpPr>
          <p:cNvPr id="17" name="Rounded Rectangle 16">
            <a:extLst>
              <a:ext uri="{FF2B5EF4-FFF2-40B4-BE49-F238E27FC236}">
                <a16:creationId xmlns:a16="http://schemas.microsoft.com/office/drawing/2014/main" id="{08D59E83-2BB8-CBA4-FED1-9BE12F434F2A}"/>
              </a:ext>
            </a:extLst>
          </p:cNvPr>
          <p:cNvSpPr/>
          <p:nvPr/>
        </p:nvSpPr>
        <p:spPr>
          <a:xfrm>
            <a:off x="2303965" y="5517232"/>
            <a:ext cx="827875" cy="1320744"/>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NL" dirty="0"/>
              <a:t>Continuos time</a:t>
            </a:r>
          </a:p>
        </p:txBody>
      </p:sp>
      <p:sp>
        <p:nvSpPr>
          <p:cNvPr id="18" name="Rounded Rectangle 17">
            <a:extLst>
              <a:ext uri="{FF2B5EF4-FFF2-40B4-BE49-F238E27FC236}">
                <a16:creationId xmlns:a16="http://schemas.microsoft.com/office/drawing/2014/main" id="{A056120E-F199-8A96-005C-D947EABFACDC}"/>
              </a:ext>
            </a:extLst>
          </p:cNvPr>
          <p:cNvSpPr/>
          <p:nvPr/>
        </p:nvSpPr>
        <p:spPr>
          <a:xfrm>
            <a:off x="6020428" y="5517233"/>
            <a:ext cx="2955872" cy="755551"/>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solidFill>
                  <a:schemeClr val="tx1"/>
                </a:solidFill>
              </a:rPr>
              <a:t>Discrete event simulations</a:t>
            </a:r>
          </a:p>
        </p:txBody>
      </p:sp>
      <p:sp>
        <p:nvSpPr>
          <p:cNvPr id="3" name="Rounded Rectangle 2">
            <a:extLst>
              <a:ext uri="{FF2B5EF4-FFF2-40B4-BE49-F238E27FC236}">
                <a16:creationId xmlns:a16="http://schemas.microsoft.com/office/drawing/2014/main" id="{58150BA5-7EA5-5B2F-5947-FC6177A51EC8}"/>
              </a:ext>
            </a:extLst>
          </p:cNvPr>
          <p:cNvSpPr/>
          <p:nvPr/>
        </p:nvSpPr>
        <p:spPr>
          <a:xfrm>
            <a:off x="3304100" y="3933056"/>
            <a:ext cx="5672200" cy="993431"/>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State-transition models</a:t>
            </a:r>
          </a:p>
          <a:p>
            <a:pPr algn="ctr"/>
            <a:endParaRPr lang="en-NL" dirty="0"/>
          </a:p>
          <a:p>
            <a:pPr algn="ctr"/>
            <a:endParaRPr lang="en-NL" dirty="0"/>
          </a:p>
        </p:txBody>
      </p:sp>
      <p:sp>
        <p:nvSpPr>
          <p:cNvPr id="14" name="Rounded Rectangle 13">
            <a:extLst>
              <a:ext uri="{FF2B5EF4-FFF2-40B4-BE49-F238E27FC236}">
                <a16:creationId xmlns:a16="http://schemas.microsoft.com/office/drawing/2014/main" id="{B98A90B6-9217-0773-7524-6FF6F2CDF1E8}"/>
              </a:ext>
            </a:extLst>
          </p:cNvPr>
          <p:cNvSpPr/>
          <p:nvPr/>
        </p:nvSpPr>
        <p:spPr>
          <a:xfrm>
            <a:off x="6020428" y="4332677"/>
            <a:ext cx="2955872" cy="604766"/>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2000" dirty="0">
                <a:solidFill>
                  <a:schemeClr val="tx1"/>
                </a:solidFill>
              </a:rPr>
              <a:t>iSTM/</a:t>
            </a:r>
          </a:p>
          <a:p>
            <a:pPr algn="ctr"/>
            <a:r>
              <a:rPr lang="en-NL" sz="2000" dirty="0">
                <a:solidFill>
                  <a:schemeClr val="tx1"/>
                </a:solidFill>
              </a:rPr>
              <a:t>Microsimulation</a:t>
            </a:r>
          </a:p>
        </p:txBody>
      </p:sp>
      <p:sp>
        <p:nvSpPr>
          <p:cNvPr id="9" name="Rounded Rectangle 8">
            <a:extLst>
              <a:ext uri="{FF2B5EF4-FFF2-40B4-BE49-F238E27FC236}">
                <a16:creationId xmlns:a16="http://schemas.microsoft.com/office/drawing/2014/main" id="{BD39DA41-93FC-E8AC-38B7-59893BA51561}"/>
              </a:ext>
            </a:extLst>
          </p:cNvPr>
          <p:cNvSpPr/>
          <p:nvPr/>
        </p:nvSpPr>
        <p:spPr>
          <a:xfrm>
            <a:off x="3304100" y="4319007"/>
            <a:ext cx="2340478" cy="604767"/>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600" dirty="0">
                <a:solidFill>
                  <a:schemeClr val="tx1"/>
                </a:solidFill>
              </a:rPr>
              <a:t>cSTM</a:t>
            </a:r>
          </a:p>
          <a:p>
            <a:pPr algn="ctr"/>
            <a:r>
              <a:rPr lang="en-NL" sz="1600" dirty="0">
                <a:solidFill>
                  <a:schemeClr val="tx1"/>
                </a:solidFill>
              </a:rPr>
              <a:t>Markov model</a:t>
            </a:r>
          </a:p>
        </p:txBody>
      </p:sp>
      <p:sp>
        <p:nvSpPr>
          <p:cNvPr id="6" name="TextBox 5">
            <a:extLst>
              <a:ext uri="{FF2B5EF4-FFF2-40B4-BE49-F238E27FC236}">
                <a16:creationId xmlns:a16="http://schemas.microsoft.com/office/drawing/2014/main" id="{214CDE62-9446-7545-C42D-641CFE116F6B}"/>
              </a:ext>
            </a:extLst>
          </p:cNvPr>
          <p:cNvSpPr txBox="1"/>
          <p:nvPr/>
        </p:nvSpPr>
        <p:spPr>
          <a:xfrm>
            <a:off x="5268913" y="1407905"/>
            <a:ext cx="3875088" cy="830997"/>
          </a:xfrm>
          <a:prstGeom prst="rect">
            <a:avLst/>
          </a:prstGeom>
          <a:solidFill>
            <a:schemeClr val="bg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a:spAutoFit/>
          </a:bodyPr>
          <a:lstStyle/>
          <a:p>
            <a:r>
              <a:rPr lang="en-NL" b="1" i="1" dirty="0">
                <a:solidFill>
                  <a:schemeClr val="accent3">
                    <a:lumMod val="50000"/>
                  </a:schemeClr>
                </a:solidFill>
              </a:rPr>
              <a:t>Infectious disease models and more</a:t>
            </a:r>
          </a:p>
        </p:txBody>
      </p:sp>
      <p:pic>
        <p:nvPicPr>
          <p:cNvPr id="8" name="Picture 2" descr="Covid-19 - Free healthcare and medical icons">
            <a:extLst>
              <a:ext uri="{FF2B5EF4-FFF2-40B4-BE49-F238E27FC236}">
                <a16:creationId xmlns:a16="http://schemas.microsoft.com/office/drawing/2014/main" id="{D7413740-DCF3-FB2D-DAE0-0F019BD4870D}"/>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83828" y="1298879"/>
            <a:ext cx="663439" cy="663439"/>
          </a:xfrm>
          <a:prstGeom prst="rect">
            <a:avLst/>
          </a:prstGeom>
          <a:solidFill>
            <a:schemeClr val="bg1"/>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Tree>
    <p:extLst>
      <p:ext uri="{BB962C8B-B14F-4D97-AF65-F5344CB8AC3E}">
        <p14:creationId xmlns:p14="http://schemas.microsoft.com/office/powerpoint/2010/main" val="1096392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FF9D1-96AC-278C-AB11-D3049F9F8E45}"/>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5FD37C78-7337-87DA-C074-86FBB6AED18A}"/>
              </a:ext>
            </a:extLst>
          </p:cNvPr>
          <p:cNvSpPr/>
          <p:nvPr/>
        </p:nvSpPr>
        <p:spPr>
          <a:xfrm rot="16200000">
            <a:off x="-3299323" y="2972941"/>
            <a:ext cx="7245702" cy="120015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2" name="Title 1">
            <a:extLst>
              <a:ext uri="{FF2B5EF4-FFF2-40B4-BE49-F238E27FC236}">
                <a16:creationId xmlns:a16="http://schemas.microsoft.com/office/drawing/2014/main" id="{C4531D36-51E4-2CC3-5229-A7BF1890F3D6}"/>
              </a:ext>
            </a:extLst>
          </p:cNvPr>
          <p:cNvSpPr>
            <a:spLocks noGrp="1"/>
          </p:cNvSpPr>
          <p:nvPr>
            <p:ph type="title"/>
          </p:nvPr>
        </p:nvSpPr>
        <p:spPr/>
        <p:txBody>
          <a:bodyPr/>
          <a:lstStyle/>
          <a:p>
            <a:r>
              <a:rPr lang="en-NL" dirty="0"/>
              <a:t>Broad modeling methods categories </a:t>
            </a:r>
            <a:r>
              <a:rPr lang="en-NL" i="1" dirty="0"/>
              <a:t>(</a:t>
            </a:r>
            <a:r>
              <a:rPr lang="en-GB" i="1" dirty="0"/>
              <a:t>non-exhaustive</a:t>
            </a:r>
            <a:r>
              <a:rPr lang="en-NL" i="1" dirty="0"/>
              <a:t>)</a:t>
            </a:r>
          </a:p>
        </p:txBody>
      </p:sp>
      <p:sp>
        <p:nvSpPr>
          <p:cNvPr id="4" name="Rounded Rectangle 3">
            <a:extLst>
              <a:ext uri="{FF2B5EF4-FFF2-40B4-BE49-F238E27FC236}">
                <a16:creationId xmlns:a16="http://schemas.microsoft.com/office/drawing/2014/main" id="{A06EC6EF-B95F-6A46-DCD5-343483694289}"/>
              </a:ext>
            </a:extLst>
          </p:cNvPr>
          <p:cNvSpPr/>
          <p:nvPr/>
        </p:nvSpPr>
        <p:spPr>
          <a:xfrm>
            <a:off x="2339752" y="2084832"/>
            <a:ext cx="6696744" cy="1200152"/>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Recurring events</a:t>
            </a:r>
          </a:p>
        </p:txBody>
      </p:sp>
      <p:sp>
        <p:nvSpPr>
          <p:cNvPr id="5" name="Rounded Rectangle 4">
            <a:extLst>
              <a:ext uri="{FF2B5EF4-FFF2-40B4-BE49-F238E27FC236}">
                <a16:creationId xmlns:a16="http://schemas.microsoft.com/office/drawing/2014/main" id="{016A2A02-94D0-7556-3191-BF2B36F4698F}"/>
              </a:ext>
            </a:extLst>
          </p:cNvPr>
          <p:cNvSpPr/>
          <p:nvPr/>
        </p:nvSpPr>
        <p:spPr>
          <a:xfrm>
            <a:off x="251520" y="2106832"/>
            <a:ext cx="1872208" cy="1178152"/>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Evaluate trade-offs </a:t>
            </a:r>
          </a:p>
        </p:txBody>
      </p:sp>
      <p:sp>
        <p:nvSpPr>
          <p:cNvPr id="7" name="Rounded Rectangle 6">
            <a:extLst>
              <a:ext uri="{FF2B5EF4-FFF2-40B4-BE49-F238E27FC236}">
                <a16:creationId xmlns:a16="http://schemas.microsoft.com/office/drawing/2014/main" id="{67C43ACC-4A0F-B83A-48CF-C809276FCEAA}"/>
              </a:ext>
            </a:extLst>
          </p:cNvPr>
          <p:cNvSpPr/>
          <p:nvPr/>
        </p:nvSpPr>
        <p:spPr>
          <a:xfrm>
            <a:off x="323528" y="3429000"/>
            <a:ext cx="1626440" cy="1178152"/>
          </a:xfrm>
          <a:prstGeom prst="roundRect">
            <a:avLst/>
          </a:prstGeom>
          <a:solidFill>
            <a:schemeClr val="accent1">
              <a:lumMod val="60000"/>
              <a:lumOff val="4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solidFill>
                  <a:schemeClr val="tx1"/>
                </a:solidFill>
              </a:rPr>
              <a:t>Balance sheet</a:t>
            </a:r>
          </a:p>
        </p:txBody>
      </p:sp>
      <p:sp>
        <p:nvSpPr>
          <p:cNvPr id="10" name="Rounded Rectangle 9">
            <a:extLst>
              <a:ext uri="{FF2B5EF4-FFF2-40B4-BE49-F238E27FC236}">
                <a16:creationId xmlns:a16="http://schemas.microsoft.com/office/drawing/2014/main" id="{EC945B56-9E5F-2411-8F57-811E148FDBDC}"/>
              </a:ext>
            </a:extLst>
          </p:cNvPr>
          <p:cNvSpPr/>
          <p:nvPr/>
        </p:nvSpPr>
        <p:spPr>
          <a:xfrm>
            <a:off x="3311642" y="5023158"/>
            <a:ext cx="2340478" cy="548685"/>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800" dirty="0">
                <a:solidFill>
                  <a:schemeClr val="tx1"/>
                </a:solidFill>
              </a:rPr>
              <a:t>Partition survival model</a:t>
            </a:r>
          </a:p>
        </p:txBody>
      </p:sp>
      <p:sp>
        <p:nvSpPr>
          <p:cNvPr id="12" name="Rounded Rectangle 11">
            <a:extLst>
              <a:ext uri="{FF2B5EF4-FFF2-40B4-BE49-F238E27FC236}">
                <a16:creationId xmlns:a16="http://schemas.microsoft.com/office/drawing/2014/main" id="{EF6546A2-BE47-CB9B-A9CD-A8E5DA0A789E}"/>
              </a:ext>
            </a:extLst>
          </p:cNvPr>
          <p:cNvSpPr/>
          <p:nvPr/>
        </p:nvSpPr>
        <p:spPr>
          <a:xfrm>
            <a:off x="3251948" y="3360719"/>
            <a:ext cx="2501270" cy="504055"/>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Cohort based</a:t>
            </a:r>
          </a:p>
        </p:txBody>
      </p:sp>
      <p:sp>
        <p:nvSpPr>
          <p:cNvPr id="13" name="Rounded Rectangle 12">
            <a:extLst>
              <a:ext uri="{FF2B5EF4-FFF2-40B4-BE49-F238E27FC236}">
                <a16:creationId xmlns:a16="http://schemas.microsoft.com/office/drawing/2014/main" id="{F3FE1119-0E0C-4EB5-6CB4-1BB5D6DC1511}"/>
              </a:ext>
            </a:extLst>
          </p:cNvPr>
          <p:cNvSpPr/>
          <p:nvPr/>
        </p:nvSpPr>
        <p:spPr>
          <a:xfrm>
            <a:off x="6012162" y="3356993"/>
            <a:ext cx="2964138" cy="504055"/>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Individual-level based</a:t>
            </a:r>
          </a:p>
        </p:txBody>
      </p:sp>
      <p:sp>
        <p:nvSpPr>
          <p:cNvPr id="15" name="Rounded Rectangle 14">
            <a:extLst>
              <a:ext uri="{FF2B5EF4-FFF2-40B4-BE49-F238E27FC236}">
                <a16:creationId xmlns:a16="http://schemas.microsoft.com/office/drawing/2014/main" id="{28D68394-9792-7061-A3A8-A35D3B6D3E6D}"/>
              </a:ext>
            </a:extLst>
          </p:cNvPr>
          <p:cNvSpPr/>
          <p:nvPr/>
        </p:nvSpPr>
        <p:spPr>
          <a:xfrm>
            <a:off x="2303965" y="3360719"/>
            <a:ext cx="827875" cy="2074524"/>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NL" dirty="0"/>
              <a:t>Discete time</a:t>
            </a:r>
          </a:p>
        </p:txBody>
      </p:sp>
      <p:sp>
        <p:nvSpPr>
          <p:cNvPr id="16" name="Rounded Rectangle 15">
            <a:extLst>
              <a:ext uri="{FF2B5EF4-FFF2-40B4-BE49-F238E27FC236}">
                <a16:creationId xmlns:a16="http://schemas.microsoft.com/office/drawing/2014/main" id="{3CEEF4F0-5DA3-192F-1718-A9221EFB4FF6}"/>
              </a:ext>
            </a:extLst>
          </p:cNvPr>
          <p:cNvSpPr/>
          <p:nvPr/>
        </p:nvSpPr>
        <p:spPr>
          <a:xfrm>
            <a:off x="339108" y="4751168"/>
            <a:ext cx="1626440" cy="1178152"/>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solidFill>
                  <a:schemeClr val="bg1"/>
                </a:solidFill>
              </a:rPr>
              <a:t>Decision tree</a:t>
            </a:r>
          </a:p>
        </p:txBody>
      </p:sp>
      <p:sp>
        <p:nvSpPr>
          <p:cNvPr id="17" name="Rounded Rectangle 16">
            <a:extLst>
              <a:ext uri="{FF2B5EF4-FFF2-40B4-BE49-F238E27FC236}">
                <a16:creationId xmlns:a16="http://schemas.microsoft.com/office/drawing/2014/main" id="{77636BD9-B392-E901-1016-1203DB1B7974}"/>
              </a:ext>
            </a:extLst>
          </p:cNvPr>
          <p:cNvSpPr/>
          <p:nvPr/>
        </p:nvSpPr>
        <p:spPr>
          <a:xfrm>
            <a:off x="2303965" y="5517232"/>
            <a:ext cx="827875" cy="1320744"/>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NL" dirty="0"/>
              <a:t>Continuos time</a:t>
            </a:r>
          </a:p>
        </p:txBody>
      </p:sp>
      <p:sp>
        <p:nvSpPr>
          <p:cNvPr id="18" name="Rounded Rectangle 17">
            <a:extLst>
              <a:ext uri="{FF2B5EF4-FFF2-40B4-BE49-F238E27FC236}">
                <a16:creationId xmlns:a16="http://schemas.microsoft.com/office/drawing/2014/main" id="{24C048DA-7726-8BD5-9098-F19F3311CF6B}"/>
              </a:ext>
            </a:extLst>
          </p:cNvPr>
          <p:cNvSpPr/>
          <p:nvPr/>
        </p:nvSpPr>
        <p:spPr>
          <a:xfrm>
            <a:off x="6020428" y="5481765"/>
            <a:ext cx="2955872" cy="755547"/>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solidFill>
                  <a:schemeClr val="tx1"/>
                </a:solidFill>
              </a:rPr>
              <a:t>Discrete event simulations</a:t>
            </a:r>
          </a:p>
        </p:txBody>
      </p:sp>
      <p:sp>
        <p:nvSpPr>
          <p:cNvPr id="3" name="Rounded Rectangle 2">
            <a:extLst>
              <a:ext uri="{FF2B5EF4-FFF2-40B4-BE49-F238E27FC236}">
                <a16:creationId xmlns:a16="http://schemas.microsoft.com/office/drawing/2014/main" id="{464302F1-97F5-4352-EDC1-5BC7BC25401F}"/>
              </a:ext>
            </a:extLst>
          </p:cNvPr>
          <p:cNvSpPr/>
          <p:nvPr/>
        </p:nvSpPr>
        <p:spPr>
          <a:xfrm>
            <a:off x="3304100" y="3933056"/>
            <a:ext cx="5672200" cy="993431"/>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dirty="0"/>
              <a:t>State-transition models</a:t>
            </a:r>
          </a:p>
          <a:p>
            <a:pPr algn="ctr"/>
            <a:endParaRPr lang="en-NL" dirty="0"/>
          </a:p>
          <a:p>
            <a:pPr algn="ctr"/>
            <a:endParaRPr lang="en-NL" dirty="0"/>
          </a:p>
        </p:txBody>
      </p:sp>
      <p:sp>
        <p:nvSpPr>
          <p:cNvPr id="14" name="Rounded Rectangle 13">
            <a:extLst>
              <a:ext uri="{FF2B5EF4-FFF2-40B4-BE49-F238E27FC236}">
                <a16:creationId xmlns:a16="http://schemas.microsoft.com/office/drawing/2014/main" id="{9481736D-0BF8-2D85-EF18-3F114FC76DE1}"/>
              </a:ext>
            </a:extLst>
          </p:cNvPr>
          <p:cNvSpPr/>
          <p:nvPr/>
        </p:nvSpPr>
        <p:spPr>
          <a:xfrm>
            <a:off x="6020428" y="4332677"/>
            <a:ext cx="2955872" cy="60476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2000" dirty="0">
                <a:solidFill>
                  <a:schemeClr val="bg1"/>
                </a:solidFill>
              </a:rPr>
              <a:t>iSTM/</a:t>
            </a:r>
          </a:p>
          <a:p>
            <a:pPr algn="ctr"/>
            <a:r>
              <a:rPr lang="en-NL" sz="2000" dirty="0">
                <a:solidFill>
                  <a:schemeClr val="bg1"/>
                </a:solidFill>
              </a:rPr>
              <a:t>Microsimulation</a:t>
            </a:r>
          </a:p>
        </p:txBody>
      </p:sp>
      <p:sp>
        <p:nvSpPr>
          <p:cNvPr id="9" name="Rounded Rectangle 8">
            <a:extLst>
              <a:ext uri="{FF2B5EF4-FFF2-40B4-BE49-F238E27FC236}">
                <a16:creationId xmlns:a16="http://schemas.microsoft.com/office/drawing/2014/main" id="{EFA51587-EB80-C061-0379-159D406DF9FB}"/>
              </a:ext>
            </a:extLst>
          </p:cNvPr>
          <p:cNvSpPr/>
          <p:nvPr/>
        </p:nvSpPr>
        <p:spPr>
          <a:xfrm>
            <a:off x="3304100" y="4319007"/>
            <a:ext cx="2340478" cy="604767"/>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600" dirty="0">
                <a:solidFill>
                  <a:schemeClr val="bg1"/>
                </a:solidFill>
              </a:rPr>
              <a:t>cSTM</a:t>
            </a:r>
          </a:p>
          <a:p>
            <a:pPr algn="ctr"/>
            <a:r>
              <a:rPr lang="en-NL" sz="1600" dirty="0">
                <a:solidFill>
                  <a:schemeClr val="bg1"/>
                </a:solidFill>
              </a:rPr>
              <a:t>Markov model</a:t>
            </a:r>
          </a:p>
        </p:txBody>
      </p:sp>
    </p:spTree>
    <p:extLst>
      <p:ext uri="{BB962C8B-B14F-4D97-AF65-F5344CB8AC3E}">
        <p14:creationId xmlns:p14="http://schemas.microsoft.com/office/powerpoint/2010/main" val="2863780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D34BF-34FD-B847-FE04-28420DB40388}"/>
              </a:ext>
            </a:extLst>
          </p:cNvPr>
          <p:cNvSpPr>
            <a:spLocks noGrp="1"/>
          </p:cNvSpPr>
          <p:nvPr>
            <p:ph type="title"/>
          </p:nvPr>
        </p:nvSpPr>
        <p:spPr/>
        <p:txBody>
          <a:bodyPr/>
          <a:lstStyle/>
          <a:p>
            <a:r>
              <a:rPr lang="en-NL" dirty="0"/>
              <a:t>Expectations – course flow </a:t>
            </a:r>
          </a:p>
        </p:txBody>
      </p:sp>
      <p:sp>
        <p:nvSpPr>
          <p:cNvPr id="4" name="Slide Number Placeholder 3">
            <a:extLst>
              <a:ext uri="{FF2B5EF4-FFF2-40B4-BE49-F238E27FC236}">
                <a16:creationId xmlns:a16="http://schemas.microsoft.com/office/drawing/2014/main" id="{E1165234-BAB4-80DD-8247-32F772A13D57}"/>
              </a:ext>
            </a:extLst>
          </p:cNvPr>
          <p:cNvSpPr>
            <a:spLocks noGrp="1"/>
          </p:cNvSpPr>
          <p:nvPr>
            <p:ph type="sldNum" sz="quarter" idx="12"/>
          </p:nvPr>
        </p:nvSpPr>
        <p:spPr/>
        <p:txBody>
          <a:bodyPr/>
          <a:lstStyle/>
          <a:p>
            <a:fld id="{0798D939-2D9E-2142-A80A-FFDECD1E5A9B}" type="slidenum">
              <a:rPr lang="en-US" smtClean="0"/>
              <a:t>19</a:t>
            </a:fld>
            <a:endParaRPr lang="en-US"/>
          </a:p>
        </p:txBody>
      </p:sp>
      <p:pic>
        <p:nvPicPr>
          <p:cNvPr id="4098" name="Picture 2" descr="Buy Great Expectations in Nepal | Thuprai">
            <a:extLst>
              <a:ext uri="{FF2B5EF4-FFF2-40B4-BE49-F238E27FC236}">
                <a16:creationId xmlns:a16="http://schemas.microsoft.com/office/drawing/2014/main" id="{62AEA3E0-9798-8ED4-D1E0-F93557C726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6175" y="1271588"/>
            <a:ext cx="3455988" cy="5497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873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B70A1A-8855-254F-B21C-0F9AC5EDA927}"/>
              </a:ext>
            </a:extLst>
          </p:cNvPr>
          <p:cNvSpPr>
            <a:spLocks noGrp="1"/>
          </p:cNvSpPr>
          <p:nvPr>
            <p:ph type="sldNum" sz="quarter" idx="11"/>
          </p:nvPr>
        </p:nvSpPr>
        <p:spPr/>
        <p:txBody>
          <a:bodyPr/>
          <a:lstStyle/>
          <a:p>
            <a:fld id="{0798D939-2D9E-2142-A80A-FFDECD1E5A9B}" type="slidenum">
              <a:rPr lang="en-US" smtClean="0"/>
              <a:t>20</a:t>
            </a:fld>
            <a:endParaRPr lang="en-US"/>
          </a:p>
        </p:txBody>
      </p:sp>
    </p:spTree>
    <p:extLst>
      <p:ext uri="{BB962C8B-B14F-4D97-AF65-F5344CB8AC3E}">
        <p14:creationId xmlns:p14="http://schemas.microsoft.com/office/powerpoint/2010/main" val="17374126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DARTH_updates">
  <a:themeElements>
    <a:clrScheme name="DARTH">
      <a:dk1>
        <a:sysClr val="windowText" lastClr="000000"/>
      </a:dk1>
      <a:lt1>
        <a:sysClr val="window" lastClr="FFFFFF"/>
      </a:lt1>
      <a:dk2>
        <a:srgbClr val="696367"/>
      </a:dk2>
      <a:lt2>
        <a:srgbClr val="D9CFC5"/>
      </a:lt2>
      <a:accent1>
        <a:srgbClr val="009999"/>
      </a:accent1>
      <a:accent2>
        <a:srgbClr val="64B636"/>
      </a:accent2>
      <a:accent3>
        <a:srgbClr val="004D99"/>
      </a:accent3>
      <a:accent4>
        <a:srgbClr val="378369"/>
      </a:accent4>
      <a:accent5>
        <a:srgbClr val="F7730B"/>
      </a:accent5>
      <a:accent6>
        <a:srgbClr val="C19859"/>
      </a:accent6>
      <a:hlink>
        <a:srgbClr val="6B9F25"/>
      </a:hlink>
      <a:folHlink>
        <a:srgbClr val="FDAD1E"/>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ThemeDARTH_updates" id="{A88DC74F-817B-2443-A1BF-C7546F4BD305}" vid="{9B2F99B3-81E4-7643-8B10-E59ED8FCBA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ARTH">
    <a:dk1>
      <a:sysClr val="windowText" lastClr="000000"/>
    </a:dk1>
    <a:lt1>
      <a:sysClr val="window" lastClr="FFFFFF"/>
    </a:lt1>
    <a:dk2>
      <a:srgbClr val="696367"/>
    </a:dk2>
    <a:lt2>
      <a:srgbClr val="D9CFC5"/>
    </a:lt2>
    <a:accent1>
      <a:srgbClr val="009999"/>
    </a:accent1>
    <a:accent2>
      <a:srgbClr val="64B636"/>
    </a:accent2>
    <a:accent3>
      <a:srgbClr val="004D99"/>
    </a:accent3>
    <a:accent4>
      <a:srgbClr val="378369"/>
    </a:accent4>
    <a:accent5>
      <a:srgbClr val="F7730B"/>
    </a:accent5>
    <a:accent6>
      <a:srgbClr val="C19859"/>
    </a:accent6>
    <a:hlink>
      <a:srgbClr val="6B9F25"/>
    </a:hlink>
    <a:folHlink>
      <a:srgbClr val="FDAD1E"/>
    </a:folHlink>
  </a:clrScheme>
</a:themeOverride>
</file>

<file path=docProps/app.xml><?xml version="1.0" encoding="utf-8"?>
<Properties xmlns="http://schemas.openxmlformats.org/officeDocument/2006/extended-properties" xmlns:vt="http://schemas.openxmlformats.org/officeDocument/2006/docPropsVTypes">
  <Template>ThemeDARTH_updates</Template>
  <TotalTime>4014</TotalTime>
  <Words>822</Words>
  <Application>Microsoft Office PowerPoint</Application>
  <PresentationFormat>On-screen Show (4:3)</PresentationFormat>
  <Paragraphs>185</Paragraphs>
  <Slides>20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.SF NS</vt:lpstr>
      <vt:lpstr>Arial</vt:lpstr>
      <vt:lpstr>Calibri</vt:lpstr>
      <vt:lpstr>Verdana</vt:lpstr>
      <vt:lpstr>ThemeDARTH_updates</vt:lpstr>
      <vt:lpstr>Introduction to the course</vt:lpstr>
      <vt:lpstr>PowerPoint Presentation</vt:lpstr>
      <vt:lpstr>The DARTH Workgroup</vt:lpstr>
      <vt:lpstr>PowerPoint Presentation</vt:lpstr>
      <vt:lpstr>DARTH Publications</vt:lpstr>
      <vt:lpstr>This course</vt:lpstr>
      <vt:lpstr>Practical </vt:lpstr>
      <vt:lpstr>Logistics – Course Website </vt:lpstr>
      <vt:lpstr>Attribution and Acknowledgement</vt:lpstr>
      <vt:lpstr>PowerPoint Presentation</vt:lpstr>
      <vt:lpstr>PowerPoint Presentation</vt:lpstr>
      <vt:lpstr>Why R?</vt:lpstr>
      <vt:lpstr>Conventional Decision Modeling Process</vt:lpstr>
      <vt:lpstr>Streamlining Decision Modeling </vt:lpstr>
      <vt:lpstr>The growing role of R in HTA research</vt:lpstr>
      <vt:lpstr>Broad modeling methods categories (non-exhaustive)</vt:lpstr>
      <vt:lpstr>Broad modeling methods categories (non-exhaustive)</vt:lpstr>
      <vt:lpstr>Broad modeling methods categories (non-exhaustive)</vt:lpstr>
      <vt:lpstr>Expectations – course flow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Cost-effectiveness and Decision Modeling</dc:title>
  <dc:creator>Eva Enns</dc:creator>
  <cp:lastModifiedBy>Alexandra Moskalewicz</cp:lastModifiedBy>
  <cp:revision>111</cp:revision>
  <cp:lastPrinted>2020-02-03T06:55:24Z</cp:lastPrinted>
  <dcterms:created xsi:type="dcterms:W3CDTF">2018-07-06T17:43:18Z</dcterms:created>
  <dcterms:modified xsi:type="dcterms:W3CDTF">2026-06-17T22:24:52Z</dcterms:modified>
</cp:coreProperties>
</file>