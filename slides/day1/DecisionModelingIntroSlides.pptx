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E4_C45C7259.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12_E32543BE.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7" r:id="rId5"/>
    <p:sldId id="693" r:id="rId6"/>
    <p:sldId id="621" r:id="rId7"/>
    <p:sldId id="484" r:id="rId8"/>
    <p:sldId id="622" r:id="rId9"/>
    <p:sldId id="626" r:id="rId10"/>
    <p:sldId id="694" r:id="rId11"/>
    <p:sldId id="623" r:id="rId12"/>
    <p:sldId id="274" r:id="rId13"/>
    <p:sldId id="624" r:id="rId14"/>
    <p:sldId id="695" r:id="rId15"/>
    <p:sldId id="62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B2DA6E-7F16-14EF-55DC-72DE7E9D5845}" name="Ervin Wu" initials="EW" userId="S::ervin.wu@sickkids.ca::b814461c-38d6-4828-86f6-53426b2039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70" d="100"/>
          <a:sy n="70" d="100"/>
        </p:scale>
        <p:origin x="42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omments/modernComment_1E4_C45C7259.xml><?xml version="1.0" encoding="utf-8"?>
<p188:cmLst xmlns:a="http://schemas.openxmlformats.org/drawingml/2006/main" xmlns:r="http://schemas.openxmlformats.org/officeDocument/2006/relationships" xmlns:p188="http://schemas.microsoft.com/office/powerpoint/2018/8/main">
  <p188:cm id="{41FB4D5F-1B52-43AC-B96B-F0CD0B0919C9}" authorId="{DAB2DA6E-7F16-14EF-55DC-72DE7E9D5845}" created="2026-02-02T21:54:15.059">
    <pc:sldMkLst xmlns:pc="http://schemas.microsoft.com/office/powerpoint/2013/main/command">
      <pc:docMk/>
      <pc:sldMk cId="3294392921" sldId="484"/>
    </pc:sldMkLst>
    <p188:txBody>
      <a:bodyPr/>
      <a:lstStyle/>
      <a:p>
        <a:r>
          <a:rPr lang="en-US"/>
          <a:t>I think it might be better to go through page 4 before page 3</a:t>
        </a:r>
      </a:p>
    </p188:txBody>
  </p188:cm>
</p188:cmLst>
</file>

<file path=ppt/comments/modernComment_112_E32543BE.xml><?xml version="1.0" encoding="utf-8"?>
<p188:cmLst xmlns:a="http://schemas.openxmlformats.org/drawingml/2006/main" xmlns:r="http://schemas.openxmlformats.org/officeDocument/2006/relationships" xmlns:p188="http://schemas.microsoft.com/office/powerpoint/2018/8/main">
  <p188:cm id="{B07CC477-234F-4995-88D8-0613272093C5}" authorId="{DAB2DA6E-7F16-14EF-55DC-72DE7E9D5845}" created="2026-02-02T21:39:22.693">
    <pc:sldMkLst xmlns:pc="http://schemas.microsoft.com/office/powerpoint/2013/main/command">
      <pc:docMk/>
      <pc:sldMk cId="3810870206" sldId="274"/>
    </pc:sldMkLst>
    <p188:txBody>
      <a:bodyPr/>
      <a:lstStyle/>
      <a:p>
        <a:r>
          <a:rPr lang="en-US"/>
          <a:t>If the students include people encountering QALYs for the first time, it may help to provide a brief explanation of what the values mean. For example, utility values such as 1, 0.7, 0.3, or 0.9, where 1 corresponds to perfect health, 0 represents death...
It might be good to mention that while a single QALY cannot exceed 1, the total QALYs accumulated over time or across more than 1 person can exceed 1.</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91F0A7-DCDB-44C4-B965-14ABA0B9E469}" type="datetimeFigureOut">
              <a:rPr lang="en-US" smtClean="0"/>
              <a:t>2026-06-10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952E25-0039-4A12-8324-E49B45606BD9}" type="slidenum">
              <a:rPr lang="en-US" smtClean="0"/>
              <a:t>‹#›</a:t>
            </a:fld>
            <a:endParaRPr lang="en-US"/>
          </a:p>
        </p:txBody>
      </p:sp>
    </p:spTree>
    <p:extLst>
      <p:ext uri="{BB962C8B-B14F-4D97-AF65-F5344CB8AC3E}">
        <p14:creationId xmlns:p14="http://schemas.microsoft.com/office/powerpoint/2010/main" val="2091700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Date Placeholder 4"/>
          <p:cNvSpPr>
            <a:spLocks noGrp="1"/>
          </p:cNvSpPr>
          <p:nvPr>
            <p:ph type="dt"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248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Shape 9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30" name="Shape 930"/>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nl-NL"/>
              <a:t>Part 1 = Showing code 3 state model</a:t>
            </a:r>
            <a:endParaRPr/>
          </a:p>
          <a:p>
            <a:pPr marL="0" lvl="0" indent="0" rtl="0">
              <a:spcBef>
                <a:spcPts val="0"/>
              </a:spcBef>
              <a:spcAft>
                <a:spcPts val="0"/>
              </a:spcAft>
              <a:buNone/>
            </a:pPr>
            <a:r>
              <a:rPr lang="nl-NL"/>
              <a:t>Part 2 = Exercise build Sick-Sicker model </a:t>
            </a:r>
            <a:endParaRPr/>
          </a:p>
          <a:p>
            <a:pPr marL="0" lvl="0" indent="0" rtl="0">
              <a:spcBef>
                <a:spcPts val="0"/>
              </a:spcBef>
              <a:spcAft>
                <a:spcPts val="0"/>
              </a:spcAft>
              <a:buNone/>
            </a:pPr>
            <a:r>
              <a:rPr lang="nl-NL"/>
              <a:t>Part 3 = Show answers of Sick-Sicker </a:t>
            </a:r>
            <a:endParaRPr/>
          </a:p>
        </p:txBody>
      </p:sp>
    </p:spTree>
    <p:extLst>
      <p:ext uri="{BB962C8B-B14F-4D97-AF65-F5344CB8AC3E}">
        <p14:creationId xmlns:p14="http://schemas.microsoft.com/office/powerpoint/2010/main" val="2310496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81850B-F20C-4032-B7AB-033B61453A23}" type="slidenum">
              <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978" name="Rectangle 2"/>
          <p:cNvSpPr>
            <a:spLocks noGrp="1" noRot="1" noChangeAspect="1" noChangeArrowheads="1" noTextEdit="1"/>
          </p:cNvSpPr>
          <p:nvPr>
            <p:ph type="sldImg"/>
          </p:nvPr>
        </p:nvSpPr>
        <p:spPr>
          <a:xfrm>
            <a:off x="381000" y="685800"/>
            <a:ext cx="6096000" cy="3429000"/>
          </a:xfrm>
          <a:ln/>
        </p:spPr>
      </p:sp>
      <p:sp>
        <p:nvSpPr>
          <p:cNvPr id="3829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54843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Shape 92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30" name="Shape 930"/>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nl-NL" dirty="0"/>
              <a:t>Part 1 = Showing code 3 state model</a:t>
            </a:r>
            <a:endParaRPr dirty="0"/>
          </a:p>
          <a:p>
            <a:pPr marL="0" lvl="0" indent="0" rtl="0">
              <a:spcBef>
                <a:spcPts val="0"/>
              </a:spcBef>
              <a:spcAft>
                <a:spcPts val="0"/>
              </a:spcAft>
              <a:buNone/>
            </a:pPr>
            <a:r>
              <a:rPr lang="nl-NL" dirty="0"/>
              <a:t>Part 2 = Exercise build Sick-Sicker model </a:t>
            </a:r>
            <a:endParaRPr dirty="0"/>
          </a:p>
          <a:p>
            <a:pPr marL="0" lvl="0" indent="0" rtl="0">
              <a:spcBef>
                <a:spcPts val="0"/>
              </a:spcBef>
              <a:spcAft>
                <a:spcPts val="0"/>
              </a:spcAft>
              <a:buNone/>
            </a:pPr>
            <a:r>
              <a:rPr lang="nl-NL" dirty="0"/>
              <a:t>Part 3 = Show answers of Sick-Sicker </a:t>
            </a:r>
            <a:endParaRPr dirty="0"/>
          </a:p>
        </p:txBody>
      </p:sp>
    </p:spTree>
    <p:extLst>
      <p:ext uri="{BB962C8B-B14F-4D97-AF65-F5344CB8AC3E}">
        <p14:creationId xmlns:p14="http://schemas.microsoft.com/office/powerpoint/2010/main" val="2161339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5B3103-5B14-46BF-93AD-1DE092D551A4}" type="slidenum">
              <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6882" name="Rectangle 2"/>
          <p:cNvSpPr>
            <a:spLocks noGrp="1" noRot="1" noChangeAspect="1" noChangeArrowheads="1" noTextEdit="1"/>
          </p:cNvSpPr>
          <p:nvPr>
            <p:ph type="sldImg"/>
          </p:nvPr>
        </p:nvSpPr>
        <p:spPr bwMode="auto">
          <a:xfrm>
            <a:off x="393700" y="692150"/>
            <a:ext cx="6070600"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6883" name="Rectangle 3"/>
          <p:cNvSpPr>
            <a:spLocks noGrp="1" noChangeArrowheads="1"/>
          </p:cNvSpPr>
          <p:nvPr>
            <p:ph type="body" idx="1"/>
          </p:nvPr>
        </p:nvSpPr>
        <p:spPr bwMode="auto">
          <a:xfrm>
            <a:off x="914400" y="4337050"/>
            <a:ext cx="5029200" cy="4624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p>
        </p:txBody>
      </p:sp>
    </p:spTree>
    <p:extLst>
      <p:ext uri="{BB962C8B-B14F-4D97-AF65-F5344CB8AC3E}">
        <p14:creationId xmlns:p14="http://schemas.microsoft.com/office/powerpoint/2010/main" val="3108097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8.gi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bg>
      <p:bgPr>
        <a:solidFill>
          <a:srgbClr val="009999"/>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03445" y="3501008"/>
            <a:ext cx="8615680" cy="1066800"/>
          </a:xfrm>
        </p:spPr>
        <p:txBody>
          <a:bodyPr anchor="t">
            <a:normAutofit/>
          </a:bodyPr>
          <a:lstStyle>
            <a:lvl1pPr marL="0" indent="0" algn="l">
              <a:buNone/>
              <a:defRPr sz="2000">
                <a:solidFill>
                  <a:srgbClr val="FEF8F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5"/>
          <p:cNvSpPr>
            <a:spLocks noGrp="1"/>
          </p:cNvSpPr>
          <p:nvPr>
            <p:ph type="sldNum" sz="quarter" idx="12"/>
          </p:nvPr>
        </p:nvSpPr>
        <p:spPr>
          <a:ln>
            <a:noFill/>
          </a:ln>
        </p:spPr>
        <p:txBody>
          <a:bodyPr/>
          <a:lstStyle/>
          <a:p>
            <a:fld id="{0798D939-2D9E-2142-A80A-FFDECD1E5A9B}" type="slidenum">
              <a:rPr lang="en-US" smtClean="0"/>
              <a:t>‹#›</a:t>
            </a:fld>
            <a:endParaRPr lang="en-US"/>
          </a:p>
        </p:txBody>
      </p:sp>
      <p:sp>
        <p:nvSpPr>
          <p:cNvPr id="8" name="Footer Placeholder 4"/>
          <p:cNvSpPr>
            <a:spLocks noGrp="1"/>
          </p:cNvSpPr>
          <p:nvPr>
            <p:ph type="ftr" sz="quarter" idx="3"/>
          </p:nvPr>
        </p:nvSpPr>
        <p:spPr>
          <a:xfrm>
            <a:off x="865717" y="6453337"/>
            <a:ext cx="6382411" cy="374587"/>
          </a:xfrm>
          <a:prstGeom prst="rect">
            <a:avLst/>
          </a:prstGeom>
          <a:noFill/>
        </p:spPr>
        <p:txBody>
          <a:bodyPr vert="horz" lIns="91440" tIns="45720" rIns="91440" bIns="45720" rtlCol="0" anchor="ctr"/>
          <a:lstStyle>
            <a:lvl1pPr algn="l">
              <a:defRPr sz="1200">
                <a:solidFill>
                  <a:schemeClr val="bg1"/>
                </a:solidFill>
              </a:defRPr>
            </a:lvl1pPr>
          </a:lstStyle>
          <a:p>
            <a:endParaRPr lang="en-US"/>
          </a:p>
        </p:txBody>
      </p:sp>
      <p:sp>
        <p:nvSpPr>
          <p:cNvPr id="11" name="Rectangle 10"/>
          <p:cNvSpPr/>
          <p:nvPr/>
        </p:nvSpPr>
        <p:spPr>
          <a:xfrm>
            <a:off x="2421136" y="764704"/>
            <a:ext cx="9744405" cy="23762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rgbClr val="004D99"/>
              </a:solidFill>
            </a:endParaRPr>
          </a:p>
        </p:txBody>
      </p:sp>
      <p:sp>
        <p:nvSpPr>
          <p:cNvPr id="2" name="Title 1"/>
          <p:cNvSpPr>
            <a:spLocks noGrp="1"/>
          </p:cNvSpPr>
          <p:nvPr>
            <p:ph type="ctrTitle"/>
          </p:nvPr>
        </p:nvSpPr>
        <p:spPr>
          <a:xfrm>
            <a:off x="2421136" y="764705"/>
            <a:ext cx="9809493" cy="2384623"/>
          </a:xfrm>
        </p:spPr>
        <p:txBody>
          <a:bodyPr anchor="b"/>
          <a:lstStyle>
            <a:lvl1pPr>
              <a:defRPr sz="6600">
                <a:ln>
                  <a:noFill/>
                </a:ln>
                <a:solidFill>
                  <a:srgbClr val="004D99"/>
                </a:solidFill>
              </a:defRPr>
            </a:lvl1pPr>
          </a:lstStyle>
          <a:p>
            <a:r>
              <a:rPr lang="en-US"/>
              <a:t>Click to edit Master title style</a:t>
            </a:r>
            <a:endParaRPr lang="en-US" dirty="0"/>
          </a:p>
        </p:txBody>
      </p:sp>
      <p:sp>
        <p:nvSpPr>
          <p:cNvPr id="7" name="TextBox 6"/>
          <p:cNvSpPr txBox="1"/>
          <p:nvPr/>
        </p:nvSpPr>
        <p:spPr>
          <a:xfrm>
            <a:off x="871763" y="5807006"/>
            <a:ext cx="10466724" cy="5078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 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a:t>
            </a:r>
            <a:endParaRPr lang="en-GB" sz="900" dirty="0">
              <a:solidFill>
                <a:schemeClr val="bg1"/>
              </a:solidFill>
            </a:endParaRPr>
          </a:p>
        </p:txBody>
      </p:sp>
    </p:spTree>
    <p:extLst>
      <p:ext uri="{BB962C8B-B14F-4D97-AF65-F5344CB8AC3E}">
        <p14:creationId xmlns:p14="http://schemas.microsoft.com/office/powerpoint/2010/main" val="158409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nd_First slide">
    <p:bg>
      <p:bgPr>
        <a:solidFill>
          <a:srgbClr val="009999"/>
        </a:solidFill>
        <a:effectLst/>
      </p:bgPr>
    </p:bg>
    <p:spTree>
      <p:nvGrpSpPr>
        <p:cNvPr id="1" name=""/>
        <p:cNvGrpSpPr/>
        <p:nvPr/>
      </p:nvGrpSpPr>
      <p:grpSpPr>
        <a:xfrm>
          <a:off x="0" y="0"/>
          <a:ext cx="0" cy="0"/>
          <a:chOff x="0" y="0"/>
          <a:chExt cx="0" cy="0"/>
        </a:xfrm>
      </p:grpSpPr>
      <p:sp>
        <p:nvSpPr>
          <p:cNvPr id="20" name="Rectangle 19"/>
          <p:cNvSpPr/>
          <p:nvPr/>
        </p:nvSpPr>
        <p:spPr>
          <a:xfrm>
            <a:off x="2447595" y="818458"/>
            <a:ext cx="9744405" cy="5760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000" b="1" dirty="0">
                <a:solidFill>
                  <a:srgbClr val="004D99"/>
                </a:solidFill>
              </a:rPr>
              <a:t>DARTH Workgroup</a:t>
            </a:r>
            <a:endParaRPr lang="en-GB" sz="2000" b="1" dirty="0">
              <a:solidFill>
                <a:srgbClr val="004D99"/>
              </a:solidFill>
            </a:endParaRPr>
          </a:p>
        </p:txBody>
      </p:sp>
      <p:sp>
        <p:nvSpPr>
          <p:cNvPr id="13"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11413152" y="6453336"/>
            <a:ext cx="731520" cy="396240"/>
          </a:xfrm>
          <a:ln>
            <a:noFill/>
          </a:ln>
        </p:spPr>
        <p:txBody>
          <a:bodyPr/>
          <a:lstStyle>
            <a:lvl1pPr>
              <a:defRPr>
                <a:solidFill>
                  <a:schemeClr val="bg1"/>
                </a:solidFill>
              </a:defRPr>
            </a:lvl1pPr>
          </a:lstStyle>
          <a:p>
            <a:fld id="{0798D939-2D9E-2142-A80A-FFDECD1E5A9B}" type="slidenum">
              <a:rPr lang="en-US" smtClean="0"/>
              <a:t>‹#›</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800326083"/>
              </p:ext>
            </p:extLst>
          </p:nvPr>
        </p:nvGraphicFramePr>
        <p:xfrm>
          <a:off x="2480501" y="1553344"/>
          <a:ext cx="9711499" cy="3291840"/>
        </p:xfrm>
        <a:graphic>
          <a:graphicData uri="http://schemas.openxmlformats.org/drawingml/2006/table">
            <a:tbl>
              <a:tblPr firstRow="1" bandRow="1">
                <a:tableStyleId>{2D5ABB26-0587-4C30-8999-92F81FD0307C}</a:tableStyleId>
              </a:tblPr>
              <a:tblGrid>
                <a:gridCol w="4863637">
                  <a:extLst>
                    <a:ext uri="{9D8B030D-6E8A-4147-A177-3AD203B41FA5}">
                      <a16:colId xmlns:a16="http://schemas.microsoft.com/office/drawing/2014/main" val="20000"/>
                    </a:ext>
                  </a:extLst>
                </a:gridCol>
                <a:gridCol w="4847861">
                  <a:extLst>
                    <a:ext uri="{9D8B030D-6E8A-4147-A177-3AD203B41FA5}">
                      <a16:colId xmlns:a16="http://schemas.microsoft.com/office/drawing/2014/main" val="20001"/>
                    </a:ext>
                  </a:extLst>
                </a:gridCol>
              </a:tblGrid>
              <a:tr h="370840">
                <a:tc>
                  <a:txBody>
                    <a:bodyPr/>
                    <a:lstStyle/>
                    <a:p>
                      <a:r>
                        <a:rPr lang="en-US" sz="1400" b="1" kern="1200" dirty="0">
                          <a:solidFill>
                            <a:srgbClr val="FEF8F3"/>
                          </a:solidFill>
                          <a:effectLst/>
                        </a:rPr>
                        <a:t>Fernando </a:t>
                      </a:r>
                      <a:r>
                        <a:rPr lang="en-US" sz="1400" b="1" kern="1200" dirty="0" err="1">
                          <a:solidFill>
                            <a:srgbClr val="FEF8F3"/>
                          </a:solidFill>
                          <a:effectLst/>
                        </a:rPr>
                        <a:t>Alarid-Escudero</a:t>
                      </a:r>
                      <a:r>
                        <a:rPr lang="en-US" sz="1400" b="1" kern="1200" dirty="0">
                          <a:solidFill>
                            <a:srgbClr val="FEF8F3"/>
                          </a:solidFill>
                          <a:effectLst/>
                        </a:rPr>
                        <a:t>, PhD</a:t>
                      </a:r>
                      <a:r>
                        <a:rPr lang="en-US" sz="1400" b="1" kern="1200" baseline="30000" dirty="0">
                          <a:solidFill>
                            <a:srgbClr val="FEF8F3"/>
                          </a:solidFill>
                          <a:effectLst/>
                        </a:rPr>
                        <a:t>1</a:t>
                      </a:r>
                      <a:r>
                        <a:rPr lang="en-US" sz="1400" b="1" kern="1200" dirty="0">
                          <a:solidFill>
                            <a:srgbClr val="FEF8F3"/>
                          </a:solidFill>
                          <a:effectLst/>
                        </a:rPr>
                        <a:t> </a:t>
                      </a:r>
                    </a:p>
                    <a:p>
                      <a:r>
                        <a:rPr lang="en-US" sz="1400" b="1" kern="1200" dirty="0">
                          <a:solidFill>
                            <a:srgbClr val="FEF8F3"/>
                          </a:solidFill>
                          <a:effectLst/>
                        </a:rPr>
                        <a:t>Eva A. Enns, MS, PhD</a:t>
                      </a:r>
                      <a:r>
                        <a:rPr lang="en-US" sz="1400" b="1" kern="1200" baseline="30000" dirty="0">
                          <a:solidFill>
                            <a:srgbClr val="FEF8F3"/>
                          </a:solidFill>
                          <a:effectLst/>
                        </a:rPr>
                        <a:t>2</a:t>
                      </a:r>
                      <a:r>
                        <a:rPr lang="en-US" sz="1400" b="1" kern="1200" dirty="0">
                          <a:solidFill>
                            <a:srgbClr val="FEF8F3"/>
                          </a:solidFill>
                          <a:effectLst/>
                        </a:rPr>
                        <a:t>	</a:t>
                      </a:r>
                    </a:p>
                    <a:p>
                      <a:r>
                        <a:rPr lang="en-US" sz="1400" b="1" kern="1200" dirty="0">
                          <a:solidFill>
                            <a:srgbClr val="FEF8F3"/>
                          </a:solidFill>
                          <a:effectLst/>
                        </a:rPr>
                        <a:t>M.G. Myriam Hunink, MD, PhD</a:t>
                      </a:r>
                      <a:r>
                        <a:rPr lang="en-US" sz="1400" b="1" kern="1200" baseline="30000" dirty="0">
                          <a:solidFill>
                            <a:srgbClr val="FEF8F3"/>
                          </a:solidFill>
                          <a:effectLst/>
                        </a:rPr>
                        <a:t>3,4</a:t>
                      </a:r>
                      <a:endParaRPr lang="en-US" sz="1400" b="1" kern="1200" dirty="0">
                        <a:solidFill>
                          <a:srgbClr val="FEF8F3"/>
                        </a:solidFill>
                        <a:effectLst/>
                      </a:endParaRPr>
                    </a:p>
                    <a:p>
                      <a:r>
                        <a:rPr lang="nl-NL" sz="1400" b="1" kern="1200" dirty="0" err="1">
                          <a:solidFill>
                            <a:srgbClr val="FEF8F3"/>
                          </a:solidFill>
                          <a:effectLst/>
                        </a:rPr>
                        <a:t>Hawre</a:t>
                      </a:r>
                      <a:r>
                        <a:rPr lang="nl-NL" sz="1400" b="1" kern="1200" dirty="0">
                          <a:solidFill>
                            <a:srgbClr val="FEF8F3"/>
                          </a:solidFill>
                          <a:effectLst/>
                        </a:rPr>
                        <a:t> J. Jalal, MD, PhD</a:t>
                      </a:r>
                      <a:r>
                        <a:rPr lang="nl-NL" sz="1400" b="1" kern="1200" baseline="30000" dirty="0">
                          <a:solidFill>
                            <a:srgbClr val="FEF8F3"/>
                          </a:solidFill>
                          <a:effectLst/>
                        </a:rPr>
                        <a:t>5</a:t>
                      </a:r>
                      <a:r>
                        <a:rPr lang="nl-NL" sz="1400" b="1" kern="1200" dirty="0">
                          <a:solidFill>
                            <a:srgbClr val="FEF8F3"/>
                          </a:solidFill>
                          <a:effectLst/>
                        </a:rPr>
                        <a:t> </a:t>
                      </a:r>
                      <a:endParaRPr lang="en-US" sz="1400" b="1" kern="1200" dirty="0">
                        <a:solidFill>
                          <a:srgbClr val="FEF8F3"/>
                        </a:solidFill>
                        <a:effectLst/>
                      </a:endParaRPr>
                    </a:p>
                    <a:p>
                      <a:r>
                        <a:rPr lang="nl-NL" sz="1400" b="1" kern="1200" dirty="0">
                          <a:solidFill>
                            <a:srgbClr val="FEF8F3"/>
                          </a:solidFill>
                          <a:effectLst/>
                        </a:rPr>
                        <a:t>Eline M. Krijkamp, MSc</a:t>
                      </a:r>
                      <a:r>
                        <a:rPr lang="nl-NL" sz="1400" b="1" kern="1200" baseline="30000" dirty="0">
                          <a:solidFill>
                            <a:srgbClr val="FEF8F3"/>
                          </a:solidFill>
                          <a:effectLst/>
                        </a:rPr>
                        <a:t>3</a:t>
                      </a:r>
                      <a:endParaRPr lang="en-US" sz="1400" b="1" kern="1200" dirty="0">
                        <a:solidFill>
                          <a:srgbClr val="FEF8F3"/>
                        </a:solidFill>
                        <a:effectLst/>
                      </a:endParaRPr>
                    </a:p>
                    <a:p>
                      <a:r>
                        <a:rPr lang="en-US" sz="1400" b="1" kern="1200" dirty="0">
                          <a:solidFill>
                            <a:srgbClr val="FEF8F3"/>
                          </a:solidFill>
                          <a:effectLst/>
                        </a:rPr>
                        <a:t>Petros Pechlivanoglou, PhD</a:t>
                      </a:r>
                      <a:r>
                        <a:rPr lang="en-US" sz="1400" b="1" kern="1200" baseline="30000" dirty="0">
                          <a:solidFill>
                            <a:srgbClr val="FEF8F3"/>
                          </a:solidFill>
                          <a:effectLst/>
                        </a:rPr>
                        <a:t>6</a:t>
                      </a:r>
                      <a:r>
                        <a:rPr lang="en-US" sz="1400" b="1" kern="1200" dirty="0">
                          <a:solidFill>
                            <a:srgbClr val="FEF8F3"/>
                          </a:solidFill>
                          <a:effectLst/>
                        </a:rPr>
                        <a:t> </a:t>
                      </a:r>
                    </a:p>
                    <a:p>
                      <a:endParaRPr lang="en-GB" sz="1200" dirty="0">
                        <a:solidFill>
                          <a:schemeClr val="bg1"/>
                        </a:solidFill>
                      </a:endParaRPr>
                    </a:p>
                  </a:txBody>
                  <a:tcPr marL="121920" marR="121920"/>
                </a:tc>
                <a:tc>
                  <a:txBody>
                    <a:bodyPr/>
                    <a:lstStyle/>
                    <a:p>
                      <a:endParaRPr lang="en-GB" sz="1200" dirty="0">
                        <a:solidFill>
                          <a:schemeClr val="bg1"/>
                        </a:solidFill>
                      </a:endParaRPr>
                    </a:p>
                  </a:txBody>
                  <a:tcPr marL="121920" marR="121920"/>
                </a:tc>
                <a:extLst>
                  <a:ext uri="{0D108BD9-81ED-4DB2-BD59-A6C34878D82A}">
                    <a16:rowId xmlns:a16="http://schemas.microsoft.com/office/drawing/2014/main" val="10000"/>
                  </a:ext>
                </a:extLst>
              </a:tr>
              <a:tr h="370840">
                <a:tc gridSpan="2">
                  <a:txBody>
                    <a:bodyPr/>
                    <a:lstStyle/>
                    <a:p>
                      <a:r>
                        <a:rPr lang="en-US" sz="1200" kern="1200" dirty="0">
                          <a:solidFill>
                            <a:srgbClr val="FEF8F3"/>
                          </a:solidFill>
                          <a:effectLst/>
                          <a:latin typeface="+mn-lt"/>
                          <a:ea typeface="+mn-ea"/>
                          <a:cs typeface="+mn-cs"/>
                        </a:rPr>
                        <a:t>In collaboration of: 		</a:t>
                      </a:r>
                    </a:p>
                    <a:p>
                      <a:r>
                        <a:rPr lang="en-US" sz="1200" kern="1200" dirty="0">
                          <a:solidFill>
                            <a:srgbClr val="FEF8F3"/>
                          </a:solidFill>
                          <a:effectLst/>
                          <a:latin typeface="+mn-lt"/>
                          <a:ea typeface="+mn-ea"/>
                          <a:cs typeface="+mn-cs"/>
                        </a:rPr>
                        <a:t>1 Drug Policy Program, Center for Research and Teaching in Economics (CIDE) - CONACyT, </a:t>
                      </a:r>
                    </a:p>
                    <a:p>
                      <a:r>
                        <a:rPr lang="en-US" sz="1200" kern="1200" dirty="0">
                          <a:solidFill>
                            <a:srgbClr val="FEF8F3"/>
                          </a:solidFill>
                          <a:effectLst/>
                          <a:latin typeface="+mn-lt"/>
                          <a:ea typeface="+mn-ea"/>
                          <a:cs typeface="+mn-cs"/>
                        </a:rPr>
                        <a:t>  Aguascalientes, Mexico</a:t>
                      </a:r>
                    </a:p>
                    <a:p>
                      <a:r>
                        <a:rPr lang="en-US" sz="1200" kern="1200" dirty="0">
                          <a:solidFill>
                            <a:srgbClr val="FEF8F3"/>
                          </a:solidFill>
                          <a:effectLst/>
                          <a:latin typeface="+mn-lt"/>
                          <a:ea typeface="+mn-ea"/>
                          <a:cs typeface="+mn-cs"/>
                        </a:rPr>
                        <a:t>2 University of Minnesota School of Public Health, Minneapolis, MN, USA</a:t>
                      </a:r>
                    </a:p>
                    <a:p>
                      <a:r>
                        <a:rPr lang="en-US" sz="1200" kern="1200" dirty="0">
                          <a:solidFill>
                            <a:srgbClr val="FEF8F3"/>
                          </a:solidFill>
                          <a:effectLst/>
                          <a:latin typeface="+mn-lt"/>
                          <a:ea typeface="+mn-ea"/>
                          <a:cs typeface="+mn-cs"/>
                        </a:rPr>
                        <a:t>3 Erasmus MC, Rotterdam, The Netherlands</a:t>
                      </a:r>
                    </a:p>
                    <a:p>
                      <a:r>
                        <a:rPr lang="en-US" sz="1200" kern="1200" dirty="0">
                          <a:solidFill>
                            <a:srgbClr val="FEF8F3"/>
                          </a:solidFill>
                          <a:effectLst/>
                          <a:latin typeface="+mn-lt"/>
                          <a:ea typeface="+mn-ea"/>
                          <a:cs typeface="+mn-cs"/>
                        </a:rPr>
                        <a:t>4 Harvard T.H. Chan School of Public Health, Boston, USA</a:t>
                      </a:r>
                    </a:p>
                    <a:p>
                      <a:r>
                        <a:rPr lang="en-US" sz="1200" kern="1200" dirty="0">
                          <a:solidFill>
                            <a:srgbClr val="FEF8F3"/>
                          </a:solidFill>
                          <a:effectLst/>
                          <a:latin typeface="+mn-lt"/>
                          <a:ea typeface="+mn-ea"/>
                          <a:cs typeface="+mn-cs"/>
                        </a:rPr>
                        <a:t>5 University of Pittsburgh Graduate School of Public Health, Pittsburgh, PA, USA</a:t>
                      </a:r>
                    </a:p>
                    <a:p>
                      <a:r>
                        <a:rPr lang="en-US" sz="1200" kern="1200" dirty="0">
                          <a:solidFill>
                            <a:srgbClr val="FEF8F3"/>
                          </a:solidFill>
                          <a:effectLst/>
                          <a:latin typeface="+mn-lt"/>
                          <a:ea typeface="+mn-ea"/>
                          <a:cs typeface="+mn-cs"/>
                        </a:rPr>
                        <a:t>6 The Hospital for Sick Children, Toronto and University of Toronto, Toronto ON, Canada</a:t>
                      </a:r>
                    </a:p>
                    <a:p>
                      <a:endParaRPr lang="en-GB" sz="1200" dirty="0">
                        <a:solidFill>
                          <a:schemeClr val="bg1"/>
                        </a:solidFill>
                      </a:endParaRPr>
                    </a:p>
                  </a:txBody>
                  <a:tcPr marL="121920" marR="121920"/>
                </a:tc>
                <a:tc hMerge="1">
                  <a:txBody>
                    <a:bodyPr/>
                    <a:lstStyle/>
                    <a:p>
                      <a:endParaRPr lang="en-GB" sz="1200" dirty="0">
                        <a:solidFill>
                          <a:schemeClr val="bg1"/>
                        </a:solidFill>
                      </a:endParaRP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871763" y="5807006"/>
            <a:ext cx="10466724" cy="5078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 name="AutoShape 14" descr="Image result for hospital for sick children toronto vector logo"/>
          <p:cNvSpPr>
            <a:spLocks noChangeAspect="1" noChangeArrowheads="1"/>
          </p:cNvSpPr>
          <p:nvPr/>
        </p:nvSpPr>
        <p:spPr bwMode="auto">
          <a:xfrm>
            <a:off x="207433" y="-144463"/>
            <a:ext cx="4064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a:p>
        </p:txBody>
      </p:sp>
      <p:sp>
        <p:nvSpPr>
          <p:cNvPr id="4" name="AutoShape 16" descr="Image result for sick kids vector logo wiki"/>
          <p:cNvSpPr>
            <a:spLocks noChangeAspect="1" noChangeArrowheads="1"/>
          </p:cNvSpPr>
          <p:nvPr/>
        </p:nvSpPr>
        <p:spPr bwMode="auto">
          <a:xfrm>
            <a:off x="410633" y="7938"/>
            <a:ext cx="4064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a:p>
        </p:txBody>
      </p:sp>
      <p:sp>
        <p:nvSpPr>
          <p:cNvPr id="6" name="Rectangle 5"/>
          <p:cNvSpPr/>
          <p:nvPr/>
        </p:nvSpPr>
        <p:spPr>
          <a:xfrm rot="16200000" flipV="1">
            <a:off x="-1098375" y="1658773"/>
            <a:ext cx="3024336" cy="4001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7" name="Picture 17" descr="\\storage.erasmusmc.nl\m\MyDocs\478030\My Documents\Desktop\The_Hospital_for_Sick_Children-logo-30EAA69EAC-seeklogo.co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63844" y="5323650"/>
            <a:ext cx="1632000" cy="367200"/>
          </a:xfrm>
          <a:prstGeom prst="rect">
            <a:avLst/>
          </a:prstGeom>
          <a:noFill/>
          <a:extLst>
            <a:ext uri="{909E8E84-426E-40dd-AFC4-6F175D3DCCD1}">
              <a14:hiddenFill xmlns:a14="http://schemas.microsoft.com/office/drawing/2010/main" xmlns="">
                <a:solidFill>
                  <a:srgbClr val="FFFFFF"/>
                </a:solidFill>
              </a14:hiddenFill>
            </a:ext>
          </a:extLst>
        </p:spPr>
      </p:pic>
      <p:pic>
        <p:nvPicPr>
          <p:cNvPr id="18" name="Picture 18" descr="\\storage.erasmusmc.nl\m\MyDocs\478030\My Documents\Desktop\Pitt_logo.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1335" y="5255703"/>
            <a:ext cx="3552000" cy="508713"/>
          </a:xfrm>
          <a:prstGeom prst="rect">
            <a:avLst/>
          </a:prstGeom>
          <a:noFill/>
          <a:extLst>
            <a:ext uri="{909E8E84-426E-40dd-AFC4-6F175D3DCCD1}">
              <a14:hiddenFill xmlns:a14="http://schemas.microsoft.com/office/drawing/2010/main" xmlns="">
                <a:solidFill>
                  <a:srgbClr val="FFFFFF"/>
                </a:solidFill>
              </a14:hiddenFill>
            </a:ext>
          </a:extLst>
        </p:spPr>
      </p:pic>
      <p:pic>
        <p:nvPicPr>
          <p:cNvPr id="1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02633" y="5306390"/>
            <a:ext cx="1728193" cy="3843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81979" y="5306115"/>
            <a:ext cx="2688000" cy="4157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extBox 2"/>
          <p:cNvSpPr txBox="1"/>
          <p:nvPr/>
        </p:nvSpPr>
        <p:spPr>
          <a:xfrm flipH="1">
            <a:off x="2480501" y="4748220"/>
            <a:ext cx="6377067" cy="307777"/>
          </a:xfrm>
          <a:prstGeom prst="rect">
            <a:avLst/>
          </a:prstGeom>
          <a:noFill/>
        </p:spPr>
        <p:txBody>
          <a:bodyPr wrap="square" rtlCol="0">
            <a:spAutoFit/>
          </a:bodyPr>
          <a:lstStyle/>
          <a:p>
            <a:r>
              <a:rPr lang="en-US" sz="1400" b="1" dirty="0" err="1">
                <a:solidFill>
                  <a:schemeClr val="bg1"/>
                </a:solidFill>
              </a:rPr>
              <a:t>www.darthworkgroup.com</a:t>
            </a:r>
            <a:endParaRPr lang="en-US" sz="1400" b="1" dirty="0">
              <a:solidFill>
                <a:schemeClr val="bg1"/>
              </a:solidFill>
            </a:endParaRPr>
          </a:p>
        </p:txBody>
      </p:sp>
      <p:sp>
        <p:nvSpPr>
          <p:cNvPr id="15" name="TextBox 14"/>
          <p:cNvSpPr txBox="1"/>
          <p:nvPr/>
        </p:nvSpPr>
        <p:spPr>
          <a:xfrm flipH="1">
            <a:off x="2480501" y="4748221"/>
            <a:ext cx="6377067" cy="307777"/>
          </a:xfrm>
          <a:prstGeom prst="rect">
            <a:avLst/>
          </a:prstGeom>
          <a:noFill/>
        </p:spPr>
        <p:txBody>
          <a:bodyPr wrap="square" rtlCol="0">
            <a:spAutoFit/>
          </a:bodyPr>
          <a:lstStyle/>
          <a:p>
            <a:r>
              <a:rPr lang="en-US" sz="1400" b="1" dirty="0" err="1">
                <a:solidFill>
                  <a:schemeClr val="bg1"/>
                </a:solidFill>
              </a:rPr>
              <a:t>www.darthworkgroup.com</a:t>
            </a:r>
            <a:endParaRPr lang="en-US" sz="1400" b="1" dirty="0">
              <a:solidFill>
                <a:schemeClr val="bg1"/>
              </a:solidFill>
            </a:endParaRPr>
          </a:p>
        </p:txBody>
      </p:sp>
      <p:pic>
        <p:nvPicPr>
          <p:cNvPr id="8" name="Picture 7">
            <a:extLst>
              <a:ext uri="{FF2B5EF4-FFF2-40B4-BE49-F238E27FC236}">
                <a16:creationId xmlns:a16="http://schemas.microsoft.com/office/drawing/2014/main" id="{1F4A33E6-5765-144B-BB9E-E9B85276960B}"/>
              </a:ext>
            </a:extLst>
          </p:cNvPr>
          <p:cNvPicPr>
            <a:picLocks noChangeAspect="1"/>
          </p:cNvPicPr>
          <p:nvPr/>
        </p:nvPicPr>
        <p:blipFill>
          <a:blip r:embed="rId6"/>
          <a:stretch>
            <a:fillRect/>
          </a:stretch>
        </p:blipFill>
        <p:spPr>
          <a:xfrm>
            <a:off x="322243" y="4980651"/>
            <a:ext cx="948267" cy="901700"/>
          </a:xfrm>
          <a:prstGeom prst="rect">
            <a:avLst/>
          </a:prstGeom>
        </p:spPr>
      </p:pic>
    </p:spTree>
    <p:extLst>
      <p:ext uri="{BB962C8B-B14F-4D97-AF65-F5344CB8AC3E}">
        <p14:creationId xmlns:p14="http://schemas.microsoft.com/office/powerpoint/2010/main" val="3094837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2nd_First slide">
    <p:bg>
      <p:bgPr>
        <a:solidFill>
          <a:srgbClr val="009999"/>
        </a:solidFill>
        <a:effectLst/>
      </p:bgPr>
    </p:bg>
    <p:spTree>
      <p:nvGrpSpPr>
        <p:cNvPr id="1" name=""/>
        <p:cNvGrpSpPr/>
        <p:nvPr/>
      </p:nvGrpSpPr>
      <p:grpSpPr>
        <a:xfrm>
          <a:off x="0" y="0"/>
          <a:ext cx="0" cy="0"/>
          <a:chOff x="0" y="0"/>
          <a:chExt cx="0" cy="0"/>
        </a:xfrm>
      </p:grpSpPr>
      <p:sp>
        <p:nvSpPr>
          <p:cNvPr id="20" name="Rectangle 19"/>
          <p:cNvSpPr/>
          <p:nvPr/>
        </p:nvSpPr>
        <p:spPr>
          <a:xfrm>
            <a:off x="2447595" y="818458"/>
            <a:ext cx="9744405" cy="5760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000" b="1" dirty="0" err="1">
                <a:solidFill>
                  <a:srgbClr val="004D99"/>
                </a:solidFill>
              </a:rPr>
              <a:t>Acknowledgements</a:t>
            </a:r>
            <a:r>
              <a:rPr lang="nl-NL" sz="2000" b="1" baseline="0" dirty="0">
                <a:solidFill>
                  <a:srgbClr val="004D99"/>
                </a:solidFill>
              </a:rPr>
              <a:t> </a:t>
            </a:r>
            <a:r>
              <a:rPr lang="nl-NL" sz="2000" b="1" baseline="0" dirty="0" err="1">
                <a:solidFill>
                  <a:srgbClr val="004D99"/>
                </a:solidFill>
              </a:rPr>
              <a:t>and</a:t>
            </a:r>
            <a:r>
              <a:rPr lang="nl-NL" sz="2000" b="1" baseline="0" dirty="0">
                <a:solidFill>
                  <a:srgbClr val="004D99"/>
                </a:solidFill>
              </a:rPr>
              <a:t> </a:t>
            </a:r>
            <a:r>
              <a:rPr lang="nl-NL" sz="2000" b="1" baseline="0" dirty="0" err="1">
                <a:solidFill>
                  <a:srgbClr val="004D99"/>
                </a:solidFill>
              </a:rPr>
              <a:t>attributions</a:t>
            </a:r>
            <a:endParaRPr lang="en-GB" sz="2000" b="1" dirty="0">
              <a:solidFill>
                <a:srgbClr val="004D99"/>
              </a:solidFill>
            </a:endParaRPr>
          </a:p>
        </p:txBody>
      </p:sp>
      <p:sp>
        <p:nvSpPr>
          <p:cNvPr id="13"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11413152" y="6453336"/>
            <a:ext cx="731520" cy="396240"/>
          </a:xfrm>
          <a:ln>
            <a:noFill/>
          </a:ln>
        </p:spPr>
        <p:txBody>
          <a:bodyPr/>
          <a:lstStyle>
            <a:lvl1pPr>
              <a:defRPr>
                <a:solidFill>
                  <a:schemeClr val="bg1"/>
                </a:solidFill>
              </a:defRPr>
            </a:lvl1pPr>
          </a:lstStyle>
          <a:p>
            <a:fld id="{0798D939-2D9E-2142-A80A-FFDECD1E5A9B}" type="slidenum">
              <a:rPr lang="en-US" smtClean="0"/>
              <a:t>‹#›</a:t>
            </a:fld>
            <a:endParaRPr lang="en-US"/>
          </a:p>
        </p:txBody>
      </p:sp>
      <p:sp>
        <p:nvSpPr>
          <p:cNvPr id="16" name="TextBox 15"/>
          <p:cNvSpPr txBox="1"/>
          <p:nvPr/>
        </p:nvSpPr>
        <p:spPr>
          <a:xfrm>
            <a:off x="871763" y="5807006"/>
            <a:ext cx="10466724" cy="5078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 name="AutoShape 14" descr="Image result for hospital for sick children toronto vector logo"/>
          <p:cNvSpPr>
            <a:spLocks noChangeAspect="1" noChangeArrowheads="1"/>
          </p:cNvSpPr>
          <p:nvPr/>
        </p:nvSpPr>
        <p:spPr bwMode="auto">
          <a:xfrm>
            <a:off x="207433" y="-144463"/>
            <a:ext cx="4064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a:p>
        </p:txBody>
      </p:sp>
      <p:sp>
        <p:nvSpPr>
          <p:cNvPr id="4" name="AutoShape 16" descr="Image result for sick kids vector logo wiki"/>
          <p:cNvSpPr>
            <a:spLocks noChangeAspect="1" noChangeArrowheads="1"/>
          </p:cNvSpPr>
          <p:nvPr/>
        </p:nvSpPr>
        <p:spPr bwMode="auto">
          <a:xfrm>
            <a:off x="410633" y="7938"/>
            <a:ext cx="4064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a:p>
        </p:txBody>
      </p:sp>
      <p:sp>
        <p:nvSpPr>
          <p:cNvPr id="6" name="Rectangle 5"/>
          <p:cNvSpPr/>
          <p:nvPr/>
        </p:nvSpPr>
        <p:spPr>
          <a:xfrm rot="16200000" flipV="1">
            <a:off x="-1098375" y="1658773"/>
            <a:ext cx="3024336" cy="4001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5" name="Subtitle 2"/>
          <p:cNvSpPr>
            <a:spLocks noGrp="1"/>
          </p:cNvSpPr>
          <p:nvPr>
            <p:ph type="subTitle" idx="1" hasCustomPrompt="1"/>
          </p:nvPr>
        </p:nvSpPr>
        <p:spPr>
          <a:xfrm>
            <a:off x="2447595" y="1628800"/>
            <a:ext cx="9409045" cy="1066800"/>
          </a:xfrm>
        </p:spPr>
        <p:txBody>
          <a:bodyPr anchor="t">
            <a:normAutofit/>
          </a:bodyPr>
          <a:lstStyle>
            <a:lvl1pPr marL="0" indent="0" algn="l">
              <a:buNone/>
              <a:defRPr sz="2000">
                <a:solidFill>
                  <a:srgbClr val="FEF8F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citations</a:t>
            </a:r>
          </a:p>
          <a:p>
            <a:endParaRPr lang="en-US" dirty="0"/>
          </a:p>
        </p:txBody>
      </p:sp>
      <p:pic>
        <p:nvPicPr>
          <p:cNvPr id="17" name="Picture 17" descr="\\storage.erasmusmc.nl\m\MyDocs\478030\My Documents\Desktop\The_Hospital_for_Sick_Children-logo-30EAA69EAC-seeklogo.com.png">
            <a:extLst>
              <a:ext uri="{FF2B5EF4-FFF2-40B4-BE49-F238E27FC236}">
                <a16:creationId xmlns:a16="http://schemas.microsoft.com/office/drawing/2014/main" id="{CF27B3EC-A2BB-BF47-807D-F49D56E854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63844" y="5323650"/>
            <a:ext cx="1632000" cy="367200"/>
          </a:xfrm>
          <a:prstGeom prst="rect">
            <a:avLst/>
          </a:prstGeom>
          <a:noFill/>
          <a:extLst>
            <a:ext uri="{909E8E84-426E-40dd-AFC4-6F175D3DCCD1}">
              <a14:hiddenFill xmlns:a14="http://schemas.microsoft.com/office/drawing/2010/main" xmlns="">
                <a:solidFill>
                  <a:srgbClr val="FFFFFF"/>
                </a:solidFill>
              </a14:hiddenFill>
            </a:ext>
          </a:extLst>
        </p:spPr>
      </p:pic>
      <p:pic>
        <p:nvPicPr>
          <p:cNvPr id="18" name="Picture 18" descr="\\storage.erasmusmc.nl\m\MyDocs\478030\My Documents\Desktop\Pitt_logo.gif">
            <a:extLst>
              <a:ext uri="{FF2B5EF4-FFF2-40B4-BE49-F238E27FC236}">
                <a16:creationId xmlns:a16="http://schemas.microsoft.com/office/drawing/2014/main" id="{00A49943-5F21-B54A-A2B4-A5A1C9A025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1335" y="5255703"/>
            <a:ext cx="3552000" cy="508713"/>
          </a:xfrm>
          <a:prstGeom prst="rect">
            <a:avLst/>
          </a:prstGeom>
          <a:noFill/>
          <a:extLst>
            <a:ext uri="{909E8E84-426E-40dd-AFC4-6F175D3DCCD1}">
              <a14:hiddenFill xmlns:a14="http://schemas.microsoft.com/office/drawing/2010/main" xmlns="">
                <a:solidFill>
                  <a:srgbClr val="FFFFFF"/>
                </a:solidFill>
              </a14:hiddenFill>
            </a:ext>
          </a:extLst>
        </p:spPr>
      </p:pic>
      <p:pic>
        <p:nvPicPr>
          <p:cNvPr id="19" name="Picture 2">
            <a:extLst>
              <a:ext uri="{FF2B5EF4-FFF2-40B4-BE49-F238E27FC236}">
                <a16:creationId xmlns:a16="http://schemas.microsoft.com/office/drawing/2014/main" id="{EBC3F8F5-94B4-374C-89B8-A540DEABFD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02633" y="5306390"/>
            <a:ext cx="1728193" cy="3843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1" name="Picture 3">
            <a:extLst>
              <a:ext uri="{FF2B5EF4-FFF2-40B4-BE49-F238E27FC236}">
                <a16:creationId xmlns:a16="http://schemas.microsoft.com/office/drawing/2014/main" id="{A92E0873-0222-DD44-AB65-7234C4A77D1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81979" y="5306115"/>
            <a:ext cx="2688000" cy="4157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 name="Picture 21">
            <a:extLst>
              <a:ext uri="{FF2B5EF4-FFF2-40B4-BE49-F238E27FC236}">
                <a16:creationId xmlns:a16="http://schemas.microsoft.com/office/drawing/2014/main" id="{39A9191D-B4FE-9145-A2D5-98FB80FC7F53}"/>
              </a:ext>
            </a:extLst>
          </p:cNvPr>
          <p:cNvPicPr>
            <a:picLocks noChangeAspect="1"/>
          </p:cNvPicPr>
          <p:nvPr/>
        </p:nvPicPr>
        <p:blipFill>
          <a:blip r:embed="rId6"/>
          <a:stretch>
            <a:fillRect/>
          </a:stretch>
        </p:blipFill>
        <p:spPr>
          <a:xfrm>
            <a:off x="322243" y="4980651"/>
            <a:ext cx="948267" cy="901700"/>
          </a:xfrm>
          <a:prstGeom prst="rect">
            <a:avLst/>
          </a:prstGeom>
        </p:spPr>
      </p:pic>
    </p:spTree>
    <p:extLst>
      <p:ext uri="{BB962C8B-B14F-4D97-AF65-F5344CB8AC3E}">
        <p14:creationId xmlns:p14="http://schemas.microsoft.com/office/powerpoint/2010/main" val="2896496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20576" y="274638"/>
            <a:ext cx="10160000" cy="1143000"/>
          </a:xfrm>
        </p:spPr>
        <p:txBody>
          <a:bodyPr/>
          <a:lstStyle>
            <a:lvl1pPr>
              <a:defRPr sz="4000"/>
            </a:lvl1pPr>
          </a:lstStyle>
          <a:p>
            <a:r>
              <a:rPr lang="en-US"/>
              <a:t>Click to edit Master title style</a:t>
            </a:r>
            <a:endParaRPr lang="en-US" dirty="0"/>
          </a:p>
        </p:txBody>
      </p:sp>
      <p:sp>
        <p:nvSpPr>
          <p:cNvPr id="3" name="Content Placeholder 2"/>
          <p:cNvSpPr>
            <a:spLocks noGrp="1"/>
          </p:cNvSpPr>
          <p:nvPr>
            <p:ph idx="1"/>
          </p:nvPr>
        </p:nvSpPr>
        <p:spPr>
          <a:xfrm>
            <a:off x="1120576" y="1417638"/>
            <a:ext cx="10160000" cy="498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FCD08C-45F2-4972-B58E-0165F8DD73B3}" type="datetime1">
              <a:rPr lang="en-US" smtClean="0"/>
              <a:t>2026-06-10</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196338993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1163671" y="4918521"/>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1163671" y="3284984"/>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92A12-140A-45AD-91E4-8A60410740A7}" type="datetime1">
              <a:rPr lang="en-US" smtClean="0"/>
              <a:t>2026-06-10</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119561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ee objecten">
    <p:spTree>
      <p:nvGrpSpPr>
        <p:cNvPr id="1" name=""/>
        <p:cNvGrpSpPr/>
        <p:nvPr/>
      </p:nvGrpSpPr>
      <p:grpSpPr>
        <a:xfrm>
          <a:off x="0" y="0"/>
          <a:ext cx="0" cy="0"/>
          <a:chOff x="0" y="0"/>
          <a:chExt cx="0" cy="0"/>
        </a:xfrm>
      </p:grpSpPr>
      <p:sp>
        <p:nvSpPr>
          <p:cNvPr id="2" name="Title 1"/>
          <p:cNvSpPr>
            <a:spLocks noGrp="1"/>
          </p:cNvSpPr>
          <p:nvPr>
            <p:ph type="title"/>
          </p:nvPr>
        </p:nvSpPr>
        <p:spPr>
          <a:xfrm>
            <a:off x="1120576" y="274638"/>
            <a:ext cx="10160000" cy="11430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0576"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03776"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746EDC-9F92-40D0-8564-FB2328CFB04E}" type="datetime1">
              <a:rPr lang="en-US" smtClean="0"/>
              <a:t>2026-06-10</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8"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1924779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120576" y="274638"/>
            <a:ext cx="101600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20576"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576"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3776"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03776"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6C3F91-7C8C-4FDC-BEC9-93A5968DD22D}" type="datetime1">
              <a:rPr lang="en-US" smtClean="0"/>
              <a:t>2026-06-10</a:t>
            </a:fld>
            <a:endParaRPr lang="en-US"/>
          </a:p>
        </p:txBody>
      </p:sp>
      <p:sp>
        <p:nvSpPr>
          <p:cNvPr id="9" name="Slide Number Placeholder 8"/>
          <p:cNvSpPr>
            <a:spLocks noGrp="1"/>
          </p:cNvSpPr>
          <p:nvPr>
            <p:ph type="sldNum" sz="quarter" idx="12"/>
          </p:nvPr>
        </p:nvSpPr>
        <p:spPr/>
        <p:txBody>
          <a:bodyPr/>
          <a:lstStyle/>
          <a:p>
            <a:fld id="{0798D939-2D9E-2142-A80A-FFDECD1E5A9B}" type="slidenum">
              <a:rPr lang="en-US" smtClean="0"/>
              <a:t>‹#›</a:t>
            </a:fld>
            <a:endParaRPr lang="en-US"/>
          </a:p>
        </p:txBody>
      </p:sp>
      <p:sp>
        <p:nvSpPr>
          <p:cNvPr id="10" name="Footer Placeholder 4"/>
          <p:cNvSpPr>
            <a:spLocks noGrp="1"/>
          </p:cNvSpPr>
          <p:nvPr>
            <p:ph type="ftr" sz="quarter" idx="1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882139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6587" y="274638"/>
            <a:ext cx="101600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ED7B798B-8967-4EDE-918B-8E7C60DB7AA6}" type="datetime1">
              <a:rPr lang="en-US" smtClean="0"/>
              <a:t>2026-06-10</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9"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2901153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BCF9E-F679-44BC-9990-211693B5077A}" type="datetime1">
              <a:rPr lang="en-US" smtClean="0"/>
              <a:t>2026-06-10</a:t>
            </a:fld>
            <a:endParaRPr lang="en-US"/>
          </a:p>
        </p:txBody>
      </p:sp>
      <p:sp>
        <p:nvSpPr>
          <p:cNvPr id="4" name="Slide Number Placeholder 3"/>
          <p:cNvSpPr>
            <a:spLocks noGrp="1"/>
          </p:cNvSpPr>
          <p:nvPr>
            <p:ph type="sldNum" sz="quarter" idx="12"/>
          </p:nvPr>
        </p:nvSpPr>
        <p:spPr/>
        <p:txBody>
          <a:bodyPr/>
          <a:lstStyle/>
          <a:p>
            <a:fld id="{0798D939-2D9E-2142-A80A-FFDECD1E5A9B}" type="slidenum">
              <a:rPr lang="en-US" smtClean="0"/>
              <a:t>‹#›</a:t>
            </a:fld>
            <a:endParaRPr lang="en-US"/>
          </a:p>
        </p:txBody>
      </p:sp>
      <p:sp>
        <p:nvSpPr>
          <p:cNvPr id="5"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1436242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301419" y="5315288"/>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1301417" y="5915744"/>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634AAD-AC3C-4F24-B5C0-1761CB9C20B3}" type="datetime1">
              <a:rPr lang="en-US" smtClean="0"/>
              <a:t>2026-06-10</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9" name="Content Placeholder 8"/>
          <p:cNvSpPr>
            <a:spLocks noGrp="1"/>
          </p:cNvSpPr>
          <p:nvPr>
            <p:ph sz="quarter" idx="13"/>
          </p:nvPr>
        </p:nvSpPr>
        <p:spPr>
          <a:xfrm>
            <a:off x="1301417" y="200744"/>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538383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269408" y="5085184"/>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867072" y="0"/>
            <a:ext cx="11277600" cy="494116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269408" y="5685906"/>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AF58B934-03E5-4DEE-840D-354C57FF6DD8}" type="datetime1">
              <a:rPr lang="en-US" smtClean="0"/>
              <a:t>2026-06-10</a:t>
            </a:fld>
            <a:endParaRPr lang="en-US"/>
          </a:p>
        </p:txBody>
      </p:sp>
      <p:sp>
        <p:nvSpPr>
          <p:cNvPr id="9" name="Slide Number Placeholder 8"/>
          <p:cNvSpPr>
            <a:spLocks noGrp="1"/>
          </p:cNvSpPr>
          <p:nvPr>
            <p:ph type="sldNum" sz="quarter" idx="11"/>
          </p:nvPr>
        </p:nvSpPr>
        <p:spPr/>
        <p:txBody>
          <a:bodyPr/>
          <a:lstStyle/>
          <a:p>
            <a:fld id="{0798D939-2D9E-2142-A80A-FFDECD1E5A9B}" type="slidenum">
              <a:rPr lang="en-US" smtClean="0"/>
              <a:t>‹#›</a:t>
            </a:fld>
            <a:endParaRPr lang="en-US"/>
          </a:p>
        </p:txBody>
      </p:sp>
      <p:sp>
        <p:nvSpPr>
          <p:cNvPr id="11"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944482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312597" y="1556792"/>
            <a:ext cx="10160000" cy="46805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BD6EDD-8212-4CC1-A46C-60F2740FE912}" type="datetime1">
              <a:rPr lang="en-US" smtClean="0"/>
              <a:t>2026-06-10</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33880785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3829"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94229"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C9A538-5928-443A-B2DD-6EEAA70C9EA3}" type="datetime1">
              <a:rPr lang="en-US" smtClean="0"/>
              <a:t>2026-06-10</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1800159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Slide Number Placeholder 2"/>
          <p:cNvSpPr>
            <a:spLocks noGrp="1"/>
          </p:cNvSpPr>
          <p:nvPr>
            <p:ph type="sldNum" sz="quarter" idx="10"/>
          </p:nvPr>
        </p:nvSpPr>
        <p:spPr/>
        <p:txBody>
          <a:bodyPr/>
          <a:lstStyle/>
          <a:p>
            <a:fld id="{0798D939-2D9E-2142-A80A-FFDECD1E5A9B}" type="slidenum">
              <a:rPr lang="en-US" smtClean="0"/>
              <a:t>‹#›</a:t>
            </a:fld>
            <a:endParaRPr lang="en-US"/>
          </a:p>
        </p:txBody>
      </p:sp>
      <p:sp>
        <p:nvSpPr>
          <p:cNvPr id="5" name="Date Placeholder 4"/>
          <p:cNvSpPr>
            <a:spLocks noGrp="1"/>
          </p:cNvSpPr>
          <p:nvPr>
            <p:ph type="dt" sz="half" idx="12"/>
          </p:nvPr>
        </p:nvSpPr>
        <p:spPr/>
        <p:txBody>
          <a:bodyPr/>
          <a:lstStyle/>
          <a:p>
            <a:fld id="{F9657FAC-F191-4D41-846F-1D23273BCACE}" type="datetime1">
              <a:rPr lang="en-US" smtClean="0"/>
              <a:t>2026-06-10</a:t>
            </a:fld>
            <a:endParaRPr lang="en-US"/>
          </a:p>
        </p:txBody>
      </p:sp>
      <p:sp>
        <p:nvSpPr>
          <p:cNvPr id="6"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2117052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ast slide 2" preserve="1">
  <p:cSld name="Last slide 2">
    <p:bg>
      <p:bgPr>
        <a:solidFill>
          <a:srgbClr val="009999"/>
        </a:solidFill>
        <a:effectLst/>
      </p:bgPr>
    </p:bg>
    <p:spTree>
      <p:nvGrpSpPr>
        <p:cNvPr id="1" name="Shape 144"/>
        <p:cNvGrpSpPr/>
        <p:nvPr/>
      </p:nvGrpSpPr>
      <p:grpSpPr>
        <a:xfrm>
          <a:off x="0" y="0"/>
          <a:ext cx="0" cy="0"/>
          <a:chOff x="0" y="0"/>
          <a:chExt cx="0" cy="0"/>
        </a:xfrm>
      </p:grpSpPr>
      <p:sp>
        <p:nvSpPr>
          <p:cNvPr id="145" name="Google Shape;145;p21"/>
          <p:cNvSpPr txBox="1">
            <a:spLocks noGrp="1"/>
          </p:cNvSpPr>
          <p:nvPr>
            <p:ph type="dt" idx="10"/>
          </p:nvPr>
        </p:nvSpPr>
        <p:spPr>
          <a:xfrm rot="-5400000">
            <a:off x="-810724" y="5242599"/>
            <a:ext cx="2438400" cy="4876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a:solidFill>
                  <a:schemeClr val="lt1"/>
                </a:solidFill>
                <a:latin typeface="Verdana"/>
                <a:ea typeface="Verdana"/>
                <a:cs typeface="Verdana"/>
                <a:sym typeface="Verdana"/>
              </a:defRPr>
            </a:lvl1pPr>
            <a:lvl2pPr marL="457200" marR="0" lvl="1"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L="914400" marR="0" lvl="2"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L="1371600" marR="0" lvl="3"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L="1828800" marR="0" lvl="4"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L="2286000" marR="0" lvl="5"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L="2743200" marR="0" lvl="6"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L="3200400" marR="0" lvl="7"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L="3657600" marR="0" lvl="8"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fld id="{F2BFDEF7-F228-4136-A2A2-5D84383ABA85}" type="datetime1">
              <a:rPr lang="en-US" smtClean="0"/>
              <a:t>2026-06-10</a:t>
            </a:fld>
            <a:endParaRPr lang="en-US"/>
          </a:p>
        </p:txBody>
      </p:sp>
      <p:pic>
        <p:nvPicPr>
          <p:cNvPr id="146" name="Google Shape;146;p21" descr="Image result for website icon white"/>
          <p:cNvPicPr preferRelativeResize="0"/>
          <p:nvPr/>
        </p:nvPicPr>
        <p:blipFill rotWithShape="1">
          <a:blip r:embed="rId2">
            <a:alphaModFix/>
          </a:blip>
          <a:srcRect/>
          <a:stretch/>
        </p:blipFill>
        <p:spPr>
          <a:xfrm>
            <a:off x="2447595" y="2243336"/>
            <a:ext cx="720000" cy="540000"/>
          </a:xfrm>
          <a:prstGeom prst="rect">
            <a:avLst/>
          </a:prstGeom>
          <a:noFill/>
          <a:ln>
            <a:noFill/>
          </a:ln>
        </p:spPr>
      </p:pic>
      <p:sp>
        <p:nvSpPr>
          <p:cNvPr id="147" name="Google Shape;147;p21"/>
          <p:cNvSpPr txBox="1">
            <a:spLocks noGrp="1"/>
          </p:cNvSpPr>
          <p:nvPr>
            <p:ph type="ftr" idx="11"/>
          </p:nvPr>
        </p:nvSpPr>
        <p:spPr>
          <a:xfrm>
            <a:off x="865717" y="6481911"/>
            <a:ext cx="6382400" cy="3747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a:solidFill>
                  <a:schemeClr val="lt1"/>
                </a:solidFill>
                <a:latin typeface="Verdana"/>
                <a:ea typeface="Verdana"/>
                <a:cs typeface="Verdana"/>
                <a:sym typeface="Verdana"/>
              </a:defRPr>
            </a:lvl1pPr>
            <a:lvl2pPr marL="457200" marR="0" lvl="1"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L="914400" marR="0" lvl="2"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L="1371600" marR="0" lvl="3"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L="1828800" marR="0" lvl="4"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L="2286000" marR="0" lvl="5"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L="2743200" marR="0" lvl="6"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L="3200400" marR="0" lvl="7"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L="3657600" marR="0" lvl="8"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lang="en-US"/>
          </a:p>
        </p:txBody>
      </p:sp>
      <p:sp>
        <p:nvSpPr>
          <p:cNvPr id="148" name="Google Shape;148;p21"/>
          <p:cNvSpPr>
            <a:spLocks noGrp="1"/>
          </p:cNvSpPr>
          <p:nvPr>
            <p:ph type="sldNum" idx="12"/>
          </p:nvPr>
        </p:nvSpPr>
        <p:spPr>
          <a:xfrm>
            <a:off x="11413152" y="6453336"/>
            <a:ext cx="731600" cy="396300"/>
          </a:xfrm>
          <a:prstGeom prst="bracketPair">
            <a:avLst/>
          </a:prstGeom>
          <a:noFill/>
          <a:ln>
            <a:noFill/>
          </a:ln>
        </p:spPr>
        <p:txBody>
          <a:bodyPr spcFirstLastPara="1" wrap="square" lIns="0" tIns="0" rIns="0" bIns="0" anchor="ctr" anchorCtr="0">
            <a:noAutofit/>
          </a:bodyPr>
          <a:lstStyle>
            <a:lvl1pPr marL="0" marR="0" lvl="0" indent="0" algn="ctr" rtl="0">
              <a:spcBef>
                <a:spcPts val="0"/>
              </a:spcBef>
              <a:buNone/>
              <a:defRPr sz="1800">
                <a:solidFill>
                  <a:schemeClr val="lt1"/>
                </a:solidFill>
                <a:latin typeface="Verdana"/>
                <a:ea typeface="Verdana"/>
                <a:cs typeface="Verdana"/>
                <a:sym typeface="Verdana"/>
              </a:defRPr>
            </a:lvl1pPr>
            <a:lvl2pPr marL="0" marR="0" lvl="1" indent="0" algn="ctr" rtl="0">
              <a:spcBef>
                <a:spcPts val="0"/>
              </a:spcBef>
              <a:buNone/>
              <a:defRPr sz="1800">
                <a:solidFill>
                  <a:schemeClr val="lt1"/>
                </a:solidFill>
                <a:latin typeface="Verdana"/>
                <a:ea typeface="Verdana"/>
                <a:cs typeface="Verdana"/>
                <a:sym typeface="Verdana"/>
              </a:defRPr>
            </a:lvl2pPr>
            <a:lvl3pPr marL="0" marR="0" lvl="2" indent="0" algn="ctr" rtl="0">
              <a:spcBef>
                <a:spcPts val="0"/>
              </a:spcBef>
              <a:buNone/>
              <a:defRPr sz="1800">
                <a:solidFill>
                  <a:schemeClr val="lt1"/>
                </a:solidFill>
                <a:latin typeface="Verdana"/>
                <a:ea typeface="Verdana"/>
                <a:cs typeface="Verdana"/>
                <a:sym typeface="Verdana"/>
              </a:defRPr>
            </a:lvl3pPr>
            <a:lvl4pPr marL="0" marR="0" lvl="3" indent="0" algn="ctr" rtl="0">
              <a:spcBef>
                <a:spcPts val="0"/>
              </a:spcBef>
              <a:buNone/>
              <a:defRPr sz="1800">
                <a:solidFill>
                  <a:schemeClr val="lt1"/>
                </a:solidFill>
                <a:latin typeface="Verdana"/>
                <a:ea typeface="Verdana"/>
                <a:cs typeface="Verdana"/>
                <a:sym typeface="Verdana"/>
              </a:defRPr>
            </a:lvl4pPr>
            <a:lvl5pPr marL="0" marR="0" lvl="4" indent="0" algn="ctr" rtl="0">
              <a:spcBef>
                <a:spcPts val="0"/>
              </a:spcBef>
              <a:buNone/>
              <a:defRPr sz="1800">
                <a:solidFill>
                  <a:schemeClr val="lt1"/>
                </a:solidFill>
                <a:latin typeface="Verdana"/>
                <a:ea typeface="Verdana"/>
                <a:cs typeface="Verdana"/>
                <a:sym typeface="Verdana"/>
              </a:defRPr>
            </a:lvl5pPr>
            <a:lvl6pPr marL="0" marR="0" lvl="5" indent="0" algn="ctr" rtl="0">
              <a:spcBef>
                <a:spcPts val="0"/>
              </a:spcBef>
              <a:buNone/>
              <a:defRPr sz="1800">
                <a:solidFill>
                  <a:schemeClr val="lt1"/>
                </a:solidFill>
                <a:latin typeface="Verdana"/>
                <a:ea typeface="Verdana"/>
                <a:cs typeface="Verdana"/>
                <a:sym typeface="Verdana"/>
              </a:defRPr>
            </a:lvl6pPr>
            <a:lvl7pPr marL="0" marR="0" lvl="6" indent="0" algn="ctr" rtl="0">
              <a:spcBef>
                <a:spcPts val="0"/>
              </a:spcBef>
              <a:buNone/>
              <a:defRPr sz="1800">
                <a:solidFill>
                  <a:schemeClr val="lt1"/>
                </a:solidFill>
                <a:latin typeface="Verdana"/>
                <a:ea typeface="Verdana"/>
                <a:cs typeface="Verdana"/>
                <a:sym typeface="Verdana"/>
              </a:defRPr>
            </a:lvl7pPr>
            <a:lvl8pPr marL="0" marR="0" lvl="7" indent="0" algn="ctr" rtl="0">
              <a:spcBef>
                <a:spcPts val="0"/>
              </a:spcBef>
              <a:buNone/>
              <a:defRPr sz="1800">
                <a:solidFill>
                  <a:schemeClr val="lt1"/>
                </a:solidFill>
                <a:latin typeface="Verdana"/>
                <a:ea typeface="Verdana"/>
                <a:cs typeface="Verdana"/>
                <a:sym typeface="Verdana"/>
              </a:defRPr>
            </a:lvl8pPr>
            <a:lvl9pPr marL="0" marR="0" lvl="8" indent="0" algn="ctr" rtl="0">
              <a:spcBef>
                <a:spcPts val="0"/>
              </a:spcBef>
              <a:buNone/>
              <a:defRPr sz="1800">
                <a:solidFill>
                  <a:schemeClr val="lt1"/>
                </a:solidFill>
                <a:latin typeface="Verdana"/>
                <a:ea typeface="Verdana"/>
                <a:cs typeface="Verdana"/>
                <a:sym typeface="Verdana"/>
              </a:defRPr>
            </a:lvl9pPr>
          </a:lstStyle>
          <a:p>
            <a:fld id="{0798D939-2D9E-2142-A80A-FFDECD1E5A9B}" type="slidenum">
              <a:rPr lang="en-US" smtClean="0"/>
              <a:t>‹#›</a:t>
            </a:fld>
            <a:endParaRPr lang="en-US"/>
          </a:p>
        </p:txBody>
      </p:sp>
      <p:pic>
        <p:nvPicPr>
          <p:cNvPr id="149" name="Google Shape;149;p21"/>
          <p:cNvPicPr preferRelativeResize="0"/>
          <p:nvPr/>
        </p:nvPicPr>
        <p:blipFill rotWithShape="1">
          <a:blip r:embed="rId3">
            <a:alphaModFix/>
          </a:blip>
          <a:srcRect/>
          <a:stretch/>
        </p:blipFill>
        <p:spPr>
          <a:xfrm>
            <a:off x="2447595" y="2927472"/>
            <a:ext cx="768000" cy="576000"/>
          </a:xfrm>
          <a:prstGeom prst="rect">
            <a:avLst/>
          </a:prstGeom>
          <a:noFill/>
          <a:ln>
            <a:noFill/>
          </a:ln>
        </p:spPr>
      </p:pic>
      <p:pic>
        <p:nvPicPr>
          <p:cNvPr id="150" name="Google Shape;150;p21"/>
          <p:cNvPicPr preferRelativeResize="0"/>
          <p:nvPr/>
        </p:nvPicPr>
        <p:blipFill rotWithShape="1">
          <a:blip r:embed="rId4">
            <a:alphaModFix/>
          </a:blip>
          <a:srcRect/>
          <a:stretch/>
        </p:blipFill>
        <p:spPr>
          <a:xfrm>
            <a:off x="2474977" y="3719560"/>
            <a:ext cx="720000" cy="540000"/>
          </a:xfrm>
          <a:prstGeom prst="rect">
            <a:avLst/>
          </a:prstGeom>
          <a:noFill/>
          <a:ln>
            <a:noFill/>
          </a:ln>
        </p:spPr>
      </p:pic>
      <p:sp>
        <p:nvSpPr>
          <p:cNvPr id="151" name="Google Shape;151;p21"/>
          <p:cNvSpPr txBox="1"/>
          <p:nvPr/>
        </p:nvSpPr>
        <p:spPr>
          <a:xfrm>
            <a:off x="3451033" y="3835675"/>
            <a:ext cx="68280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1400">
                <a:solidFill>
                  <a:schemeClr val="lt1"/>
                </a:solidFill>
                <a:latin typeface="Verdana"/>
                <a:ea typeface="Verdana"/>
                <a:cs typeface="Verdana"/>
                <a:sym typeface="Verdana"/>
              </a:rPr>
              <a:t>https://www.linkedin.com/groups/8635339</a:t>
            </a:r>
            <a:endParaRPr sz="1400">
              <a:solidFill>
                <a:schemeClr val="lt1"/>
              </a:solidFill>
              <a:latin typeface="Verdana"/>
              <a:ea typeface="Verdana"/>
              <a:cs typeface="Verdana"/>
              <a:sym typeface="Verdana"/>
            </a:endParaRPr>
          </a:p>
        </p:txBody>
      </p:sp>
      <p:sp>
        <p:nvSpPr>
          <p:cNvPr id="152" name="Google Shape;152;p21"/>
          <p:cNvSpPr txBox="1"/>
          <p:nvPr/>
        </p:nvSpPr>
        <p:spPr>
          <a:xfrm>
            <a:off x="3451033" y="3071488"/>
            <a:ext cx="74324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1400">
                <a:solidFill>
                  <a:schemeClr val="lt1"/>
                </a:solidFill>
                <a:latin typeface="Verdana"/>
                <a:ea typeface="Verdana"/>
                <a:cs typeface="Verdana"/>
                <a:sym typeface="Verdana"/>
              </a:rPr>
              <a:t>https://github.com/organizations/DARTH-git</a:t>
            </a:r>
            <a:endParaRPr sz="1400">
              <a:solidFill>
                <a:schemeClr val="lt1"/>
              </a:solidFill>
              <a:latin typeface="Verdana"/>
              <a:ea typeface="Verdana"/>
              <a:cs typeface="Verdana"/>
              <a:sym typeface="Verdana"/>
            </a:endParaRPr>
          </a:p>
        </p:txBody>
      </p:sp>
      <p:sp>
        <p:nvSpPr>
          <p:cNvPr id="153" name="Google Shape;153;p21"/>
          <p:cNvSpPr txBox="1"/>
          <p:nvPr/>
        </p:nvSpPr>
        <p:spPr>
          <a:xfrm>
            <a:off x="871763" y="5807005"/>
            <a:ext cx="10466800" cy="646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900" b="1" i="0" dirty="0">
                <a:solidFill>
                  <a:schemeClr val="lt1"/>
                </a:solidFill>
                <a:latin typeface="Verdana"/>
                <a:ea typeface="Verdana"/>
                <a:cs typeface="Verdana"/>
                <a:sym typeface="Verdana"/>
              </a:rPr>
              <a:t>© Copyright 2017, THE HOSPITAL FOR SICK CHILDREN AND THE COLLABORATING INSTITUTIONS.</a:t>
            </a:r>
            <a:r>
              <a:rPr lang="nl-NL" sz="900" b="0" i="0" dirty="0">
                <a:solidFill>
                  <a:schemeClr val="lt1"/>
                </a:solidFill>
                <a:latin typeface="Verdana"/>
                <a:ea typeface="Verdana"/>
                <a:cs typeface="Verdana"/>
                <a:sym typeface="Verdana"/>
              </a:rPr>
              <a:t> </a:t>
            </a:r>
            <a:endParaRPr sz="1800" dirty="0"/>
          </a:p>
          <a:p>
            <a:pPr marL="0" marR="0" lvl="0" indent="0" algn="l" rtl="0">
              <a:spcBef>
                <a:spcPts val="0"/>
              </a:spcBef>
              <a:spcAft>
                <a:spcPts val="0"/>
              </a:spcAft>
              <a:buNone/>
            </a:pPr>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r>
              <a:rPr lang="nl-NL" sz="900" b="0" i="0" dirty="0">
                <a:solidFill>
                  <a:schemeClr val="lt1"/>
                </a:solidFill>
                <a:latin typeface="Verdana"/>
                <a:ea typeface="Verdana"/>
                <a:cs typeface="Verdana"/>
                <a:sym typeface="Verdana"/>
              </a:rPr>
              <a:t> </a:t>
            </a:r>
            <a:endParaRPr sz="900" dirty="0">
              <a:solidFill>
                <a:schemeClr val="lt1"/>
              </a:solidFill>
              <a:latin typeface="Verdana"/>
              <a:ea typeface="Verdana"/>
              <a:cs typeface="Verdana"/>
              <a:sym typeface="Verdana"/>
            </a:endParaRPr>
          </a:p>
        </p:txBody>
      </p:sp>
      <p:sp>
        <p:nvSpPr>
          <p:cNvPr id="154" name="Google Shape;154;p21"/>
          <p:cNvSpPr/>
          <p:nvPr/>
        </p:nvSpPr>
        <p:spPr>
          <a:xfrm>
            <a:off x="2420077" y="620688"/>
            <a:ext cx="9744400" cy="1188000"/>
          </a:xfrm>
          <a:prstGeom prst="rect">
            <a:avLst/>
          </a:prstGeom>
          <a:solidFill>
            <a:srgbClr val="FEF8F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4D99"/>
              </a:solidFill>
              <a:latin typeface="Verdana"/>
              <a:ea typeface="Verdana"/>
              <a:cs typeface="Verdana"/>
              <a:sym typeface="Verdana"/>
            </a:endParaRPr>
          </a:p>
        </p:txBody>
      </p:sp>
      <p:sp>
        <p:nvSpPr>
          <p:cNvPr id="155" name="Google Shape;155;p21"/>
          <p:cNvSpPr txBox="1"/>
          <p:nvPr/>
        </p:nvSpPr>
        <p:spPr>
          <a:xfrm>
            <a:off x="3451033" y="2363475"/>
            <a:ext cx="74324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1800">
                <a:solidFill>
                  <a:schemeClr val="lt1"/>
                </a:solidFill>
                <a:latin typeface="Verdana"/>
                <a:ea typeface="Verdana"/>
                <a:cs typeface="Verdana"/>
                <a:sym typeface="Verdana"/>
              </a:rPr>
              <a:t>http://darthworkgroup.com/</a:t>
            </a:r>
            <a:endParaRPr sz="1400">
              <a:solidFill>
                <a:schemeClr val="lt1"/>
              </a:solidFill>
              <a:latin typeface="Verdana"/>
              <a:ea typeface="Verdana"/>
              <a:cs typeface="Verdana"/>
              <a:sym typeface="Verdana"/>
            </a:endParaRPr>
          </a:p>
        </p:txBody>
      </p:sp>
      <p:sp>
        <p:nvSpPr>
          <p:cNvPr id="156" name="Google Shape;156;p21"/>
          <p:cNvSpPr txBox="1"/>
          <p:nvPr/>
        </p:nvSpPr>
        <p:spPr>
          <a:xfrm>
            <a:off x="3451033" y="4577563"/>
            <a:ext cx="68280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1800">
                <a:solidFill>
                  <a:schemeClr val="lt1"/>
                </a:solidFill>
                <a:latin typeface="Verdana"/>
                <a:ea typeface="Verdana"/>
                <a:cs typeface="Verdana"/>
                <a:sym typeface="Verdana"/>
              </a:rPr>
              <a:t>@DARTHworkgroup</a:t>
            </a:r>
            <a:endParaRPr sz="1400">
              <a:solidFill>
                <a:schemeClr val="lt1"/>
              </a:solidFill>
              <a:latin typeface="Verdana"/>
              <a:ea typeface="Verdana"/>
              <a:cs typeface="Verdana"/>
              <a:sym typeface="Verdana"/>
            </a:endParaRPr>
          </a:p>
        </p:txBody>
      </p:sp>
      <p:pic>
        <p:nvPicPr>
          <p:cNvPr id="157" name="Google Shape;157;p21"/>
          <p:cNvPicPr preferRelativeResize="0"/>
          <p:nvPr/>
        </p:nvPicPr>
        <p:blipFill>
          <a:blip r:embed="rId5">
            <a:alphaModFix/>
          </a:blip>
          <a:stretch>
            <a:fillRect/>
          </a:stretch>
        </p:blipFill>
        <p:spPr>
          <a:xfrm>
            <a:off x="2447600" y="4475625"/>
            <a:ext cx="768000" cy="5760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7939391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st slide">
    <p:bg>
      <p:bgPr>
        <a:solidFill>
          <a:srgbClr val="009999"/>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CD98B2-BE87-44A5-9DF5-DF786278A694}" type="datetime1">
              <a:rPr lang="en-US" smtClean="0"/>
              <a:t>2026-06-10</a:t>
            </a:fld>
            <a:endParaRPr lang="en-US"/>
          </a:p>
        </p:txBody>
      </p:sp>
      <p:pic>
        <p:nvPicPr>
          <p:cNvPr id="1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4360" y="2279647"/>
            <a:ext cx="761235" cy="432000"/>
          </a:xfrm>
          <a:prstGeom prst="rect">
            <a:avLst/>
          </a:prstGeom>
          <a:noFill/>
          <a:extLst>
            <a:ext uri="{909E8E84-426E-40dd-AFC4-6F175D3DCCD1}">
              <a14:hiddenFill xmlns:a14="http://schemas.microsoft.com/office/drawing/2010/main" xmlns="">
                <a:solidFill>
                  <a:srgbClr val="FFFFFF"/>
                </a:solidFill>
              </a14:hiddenFill>
            </a:ext>
          </a:extLst>
        </p:spPr>
      </p:pic>
      <p:pic>
        <p:nvPicPr>
          <p:cNvPr id="11" name="Picture 4" descr="Image result for website icon whit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7595" y="2852936"/>
            <a:ext cx="720000" cy="540000"/>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Footer Placeholder 4"/>
          <p:cNvSpPr>
            <a:spLocks noGrp="1"/>
          </p:cNvSpPr>
          <p:nvPr>
            <p:ph type="ftr" sz="quarter" idx="3"/>
          </p:nvPr>
        </p:nvSpPr>
        <p:spPr>
          <a:xfrm>
            <a:off x="865717" y="6481912"/>
            <a:ext cx="6382411"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11413152" y="6453336"/>
            <a:ext cx="731520" cy="396240"/>
          </a:xfrm>
          <a:ln>
            <a:noFill/>
          </a:ln>
        </p:spPr>
        <p:txBody>
          <a:bodyPr/>
          <a:lstStyle>
            <a:lvl1pPr>
              <a:defRPr>
                <a:solidFill>
                  <a:schemeClr val="bg1"/>
                </a:solidFill>
              </a:defRPr>
            </a:lvl1pPr>
          </a:lstStyle>
          <a:p>
            <a:fld id="{0798D939-2D9E-2142-A80A-FFDECD1E5A9B}" type="slidenum">
              <a:rPr lang="en-US" smtClean="0"/>
              <a:t>‹#›</a:t>
            </a:fld>
            <a:endParaRPr lang="en-US"/>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47595" y="3537072"/>
            <a:ext cx="768000" cy="576000"/>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74977" y="4329160"/>
            <a:ext cx="720000" cy="540000"/>
          </a:xfrm>
          <a:prstGeom prst="rect">
            <a:avLst/>
          </a:prstGeom>
        </p:spPr>
      </p:pic>
      <p:sp>
        <p:nvSpPr>
          <p:cNvPr id="18" name="TextBox 17"/>
          <p:cNvSpPr txBox="1"/>
          <p:nvPr/>
        </p:nvSpPr>
        <p:spPr>
          <a:xfrm>
            <a:off x="3451034" y="4445272"/>
            <a:ext cx="5512229" cy="307777"/>
          </a:xfrm>
          <a:prstGeom prst="rect">
            <a:avLst/>
          </a:prstGeom>
          <a:noFill/>
        </p:spPr>
        <p:txBody>
          <a:bodyPr wrap="square" rtlCol="0">
            <a:spAutoFit/>
          </a:bodyPr>
          <a:lstStyle/>
          <a:p>
            <a:r>
              <a:rPr lang="en-GB" sz="1400" dirty="0">
                <a:solidFill>
                  <a:schemeClr val="bg1"/>
                </a:solidFill>
              </a:rPr>
              <a:t>https://www.linkedin.com/groups/8635339</a:t>
            </a:r>
          </a:p>
        </p:txBody>
      </p:sp>
      <p:sp>
        <p:nvSpPr>
          <p:cNvPr id="19" name="TextBox 18"/>
          <p:cNvSpPr txBox="1"/>
          <p:nvPr/>
        </p:nvSpPr>
        <p:spPr>
          <a:xfrm>
            <a:off x="3451033" y="3681089"/>
            <a:ext cx="7432443" cy="307777"/>
          </a:xfrm>
          <a:prstGeom prst="rect">
            <a:avLst/>
          </a:prstGeom>
          <a:noFill/>
        </p:spPr>
        <p:txBody>
          <a:bodyPr wrap="square" rtlCol="0">
            <a:spAutoFit/>
          </a:bodyPr>
          <a:lstStyle/>
          <a:p>
            <a:r>
              <a:rPr lang="en-GB" sz="1400" dirty="0">
                <a:solidFill>
                  <a:schemeClr val="bg1"/>
                </a:solidFill>
              </a:rPr>
              <a:t>https://github.com/organizations/DARTH-git</a:t>
            </a:r>
          </a:p>
        </p:txBody>
      </p:sp>
      <p:sp>
        <p:nvSpPr>
          <p:cNvPr id="22" name="TextBox 21"/>
          <p:cNvSpPr txBox="1"/>
          <p:nvPr/>
        </p:nvSpPr>
        <p:spPr>
          <a:xfrm>
            <a:off x="871763" y="5807006"/>
            <a:ext cx="10466724" cy="5078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5" name="Rectangle 24"/>
          <p:cNvSpPr/>
          <p:nvPr/>
        </p:nvSpPr>
        <p:spPr>
          <a:xfrm>
            <a:off x="2420078" y="620688"/>
            <a:ext cx="9744405" cy="1188132"/>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rgbClr val="004D99"/>
              </a:solidFill>
            </a:endParaRPr>
          </a:p>
        </p:txBody>
      </p:sp>
    </p:spTree>
    <p:extLst>
      <p:ext uri="{BB962C8B-B14F-4D97-AF65-F5344CB8AC3E}">
        <p14:creationId xmlns:p14="http://schemas.microsoft.com/office/powerpoint/2010/main" val="791392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1"/>
        <p:cNvGrpSpPr/>
        <p:nvPr/>
      </p:nvGrpSpPr>
      <p:grpSpPr>
        <a:xfrm>
          <a:off x="0" y="0"/>
          <a:ext cx="0" cy="0"/>
          <a:chOff x="0" y="0"/>
          <a:chExt cx="0" cy="0"/>
        </a:xfrm>
      </p:grpSpPr>
      <p:sp>
        <p:nvSpPr>
          <p:cNvPr id="132" name="Shape 132"/>
          <p:cNvSpPr txBox="1">
            <a:spLocks noGrp="1"/>
          </p:cNvSpPr>
          <p:nvPr>
            <p:ph type="title"/>
          </p:nvPr>
        </p:nvSpPr>
        <p:spPr>
          <a:xfrm>
            <a:off x="1174300" y="593375"/>
            <a:ext cx="10602000" cy="763500"/>
          </a:xfrm>
          <a:prstGeom prst="rect">
            <a:avLst/>
          </a:prstGeom>
        </p:spPr>
        <p:txBody>
          <a:bodyPr spcFirstLastPara="1" wrap="square" lIns="91425" tIns="91425" rIns="91425" bIns="91425" anchor="ctr" anchorCtr="0"/>
          <a:lstStyle>
            <a:lvl1pPr lvl="0" rtl="0">
              <a:spcBef>
                <a:spcPts val="0"/>
              </a:spcBef>
              <a:spcAft>
                <a:spcPts val="0"/>
              </a:spcAft>
              <a:buSzPts val="46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33" name="Shape 133"/>
          <p:cNvSpPr txBox="1">
            <a:spLocks noGrp="1"/>
          </p:cNvSpPr>
          <p:nvPr>
            <p:ph type="body" idx="1"/>
          </p:nvPr>
        </p:nvSpPr>
        <p:spPr>
          <a:xfrm>
            <a:off x="970767" y="1536625"/>
            <a:ext cx="10805600" cy="4555200"/>
          </a:xfrm>
          <a:prstGeom prst="rect">
            <a:avLst/>
          </a:prstGeom>
        </p:spPr>
        <p:txBody>
          <a:bodyPr spcFirstLastPara="1" wrap="square" lIns="91425" tIns="91425" rIns="91425" bIns="91425" anchor="t" anchorCtr="0"/>
          <a:lstStyle>
            <a:lvl1pPr marL="457200" lvl="0" indent="-368300" rtl="0">
              <a:spcBef>
                <a:spcPts val="440"/>
              </a:spcBef>
              <a:spcAft>
                <a:spcPts val="0"/>
              </a:spcAft>
              <a:buSzPts val="2200"/>
              <a:buChar char="•"/>
              <a:defRPr/>
            </a:lvl1pPr>
            <a:lvl2pPr marL="914400" lvl="1" indent="-355600" rtl="0">
              <a:spcBef>
                <a:spcPts val="400"/>
              </a:spcBef>
              <a:spcAft>
                <a:spcPts val="0"/>
              </a:spcAft>
              <a:buSzPts val="2000"/>
              <a:buChar char="•"/>
              <a:defRPr/>
            </a:lvl2pPr>
            <a:lvl3pPr marL="1371600" lvl="2" indent="-342900" rtl="0">
              <a:spcBef>
                <a:spcPts val="360"/>
              </a:spcBef>
              <a:spcAft>
                <a:spcPts val="0"/>
              </a:spcAft>
              <a:buSzPts val="1800"/>
              <a:buChar char="•"/>
              <a:defRPr/>
            </a:lvl3pPr>
            <a:lvl4pPr marL="1828800" lvl="3" indent="-330200" rtl="0">
              <a:spcBef>
                <a:spcPts val="320"/>
              </a:spcBef>
              <a:spcAft>
                <a:spcPts val="0"/>
              </a:spcAft>
              <a:buSzPts val="1600"/>
              <a:buChar char="•"/>
              <a:defRPr/>
            </a:lvl4pPr>
            <a:lvl5pPr marL="2286000" lvl="4" indent="-317500" rtl="0">
              <a:spcBef>
                <a:spcPts val="280"/>
              </a:spcBef>
              <a:spcAft>
                <a:spcPts val="0"/>
              </a:spcAft>
              <a:buSzPts val="1400"/>
              <a:buChar char="•"/>
              <a:defRPr/>
            </a:lvl5pPr>
            <a:lvl6pPr marL="2743200" lvl="5" indent="-317500" rtl="0">
              <a:spcBef>
                <a:spcPts val="280"/>
              </a:spcBef>
              <a:spcAft>
                <a:spcPts val="0"/>
              </a:spcAft>
              <a:buSzPts val="1400"/>
              <a:buChar char="•"/>
              <a:defRPr/>
            </a:lvl6pPr>
            <a:lvl7pPr marL="3200400" lvl="6" indent="-317500" rtl="0">
              <a:spcBef>
                <a:spcPts val="280"/>
              </a:spcBef>
              <a:spcAft>
                <a:spcPts val="0"/>
              </a:spcAft>
              <a:buSzPts val="1400"/>
              <a:buChar char="•"/>
              <a:defRPr/>
            </a:lvl7pPr>
            <a:lvl8pPr marL="3657600" lvl="7" indent="-317500" rtl="0">
              <a:spcBef>
                <a:spcPts val="280"/>
              </a:spcBef>
              <a:spcAft>
                <a:spcPts val="0"/>
              </a:spcAft>
              <a:buSzPts val="1400"/>
              <a:buChar char="•"/>
              <a:defRPr/>
            </a:lvl8pPr>
            <a:lvl9pPr marL="4114800" lvl="8" indent="-317500" rtl="0">
              <a:spcBef>
                <a:spcPts val="280"/>
              </a:spcBef>
              <a:spcAft>
                <a:spcPts val="0"/>
              </a:spcAft>
              <a:buSzPts val="1400"/>
              <a:buChar char="•"/>
              <a:defRPr/>
            </a:lvl9pPr>
          </a:lstStyle>
          <a:p>
            <a:pPr lvl="0"/>
            <a:r>
              <a:rPr lang="en-US"/>
              <a:t>Click to edit Master text styles</a:t>
            </a:r>
          </a:p>
        </p:txBody>
      </p:sp>
      <p:sp>
        <p:nvSpPr>
          <p:cNvPr id="134" name="Shape 134"/>
          <p:cNvSpPr txBox="1">
            <a:spLocks noGrp="1"/>
          </p:cNvSpPr>
          <p:nvPr>
            <p:ph type="sldNum" idx="12"/>
          </p:nvPr>
        </p:nvSpPr>
        <p:spPr>
          <a:xfrm>
            <a:off x="11320333" y="6241346"/>
            <a:ext cx="731600" cy="524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798D939-2D9E-2142-A80A-FFDECD1E5A9B}" type="slidenum">
              <a:rPr lang="en-US" smtClean="0"/>
              <a:t>‹#›</a:t>
            </a:fld>
            <a:endParaRPr lang="en-US"/>
          </a:p>
        </p:txBody>
      </p:sp>
    </p:spTree>
    <p:extLst>
      <p:ext uri="{BB962C8B-B14F-4D97-AF65-F5344CB8AC3E}">
        <p14:creationId xmlns:p14="http://schemas.microsoft.com/office/powerpoint/2010/main" val="421824806"/>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895000" y="2855000"/>
            <a:ext cx="10469600" cy="1148100"/>
          </a:xfrm>
          <a:prstGeom prst="rect">
            <a:avLst/>
          </a:prstGeom>
        </p:spPr>
        <p:txBody>
          <a:bodyPr spcFirstLastPara="1" wrap="square" lIns="91425" tIns="91425" rIns="91425" bIns="91425" anchor="ctr" anchorCtr="0"/>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38" name="Shape 138"/>
          <p:cNvSpPr txBox="1">
            <a:spLocks noGrp="1"/>
          </p:cNvSpPr>
          <p:nvPr>
            <p:ph type="sldNum" idx="12"/>
          </p:nvPr>
        </p:nvSpPr>
        <p:spPr>
          <a:xfrm>
            <a:off x="11320333" y="6241346"/>
            <a:ext cx="731600" cy="524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nl-NL" smtClean="0"/>
              <a:pPr/>
              <a:t>‹#›</a:t>
            </a:fld>
            <a:endParaRPr lang="nl-NL"/>
          </a:p>
        </p:txBody>
      </p:sp>
    </p:spTree>
    <p:extLst>
      <p:ext uri="{BB962C8B-B14F-4D97-AF65-F5344CB8AC3E}">
        <p14:creationId xmlns:p14="http://schemas.microsoft.com/office/powerpoint/2010/main" val="2863827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472D6-8E43-A848-A0FE-EF4CEBF52CE8}"/>
              </a:ext>
            </a:extLst>
          </p:cNvPr>
          <p:cNvSpPr>
            <a:spLocks noGrp="1"/>
          </p:cNvSpPr>
          <p:nvPr>
            <p:ph type="title"/>
          </p:nvPr>
        </p:nvSpPr>
        <p:spPr>
          <a:xfrm>
            <a:off x="935567" y="628650"/>
            <a:ext cx="95504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C5BFAD-237A-B349-A648-FBE550F27BEC}"/>
              </a:ext>
            </a:extLst>
          </p:cNvPr>
          <p:cNvSpPr>
            <a:spLocks noGrp="1"/>
          </p:cNvSpPr>
          <p:nvPr>
            <p:ph type="body" sz="half" idx="1"/>
          </p:nvPr>
        </p:nvSpPr>
        <p:spPr>
          <a:xfrm>
            <a:off x="935567" y="2000250"/>
            <a:ext cx="46736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F23D3-C070-9643-85E2-D4D9EADF7C03}"/>
              </a:ext>
            </a:extLst>
          </p:cNvPr>
          <p:cNvSpPr>
            <a:spLocks noGrp="1"/>
          </p:cNvSpPr>
          <p:nvPr>
            <p:ph sz="half" idx="2"/>
          </p:nvPr>
        </p:nvSpPr>
        <p:spPr>
          <a:xfrm>
            <a:off x="5812367" y="2000250"/>
            <a:ext cx="46736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76F451-3CED-8446-AA9F-4FB5FF6C5F03}"/>
              </a:ext>
            </a:extLst>
          </p:cNvPr>
          <p:cNvSpPr>
            <a:spLocks noGrp="1"/>
          </p:cNvSpPr>
          <p:nvPr>
            <p:ph type="dt" sz="half" idx="10"/>
          </p:nvPr>
        </p:nvSpPr>
        <p:spPr>
          <a:xfrm>
            <a:off x="914400" y="6248400"/>
            <a:ext cx="2540000" cy="457200"/>
          </a:xfrm>
        </p:spPr>
        <p:txBody>
          <a:bodyPr/>
          <a:lstStyle>
            <a:lvl1pPr>
              <a:defRPr/>
            </a:lvl1pPr>
          </a:lstStyle>
          <a:p>
            <a:fld id="{D323DC99-B2AF-461E-BC35-675F0E0C5EEA}" type="datetime1">
              <a:rPr lang="en-US" altLang="en-US" smtClean="0"/>
              <a:t>2026-06-10</a:t>
            </a:fld>
            <a:endParaRPr lang="en-US" altLang="en-US"/>
          </a:p>
        </p:txBody>
      </p:sp>
      <p:sp>
        <p:nvSpPr>
          <p:cNvPr id="6" name="Footer Placeholder 5">
            <a:extLst>
              <a:ext uri="{FF2B5EF4-FFF2-40B4-BE49-F238E27FC236}">
                <a16:creationId xmlns:a16="http://schemas.microsoft.com/office/drawing/2014/main" id="{E3AC5B01-5A6E-484D-B2B4-06133D79DB7A}"/>
              </a:ext>
            </a:extLst>
          </p:cNvPr>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4CA63CB-7B25-E54B-941E-474640958777}"/>
              </a:ext>
            </a:extLst>
          </p:cNvPr>
          <p:cNvSpPr>
            <a:spLocks noGrp="1"/>
          </p:cNvSpPr>
          <p:nvPr>
            <p:ph type="sldNum" sz="quarter" idx="12"/>
          </p:nvPr>
        </p:nvSpPr>
        <p:spPr>
          <a:xfrm>
            <a:off x="8737600" y="6248400"/>
            <a:ext cx="2540000" cy="457200"/>
          </a:xfrm>
        </p:spPr>
        <p:txBody>
          <a:bodyPr/>
          <a:lstStyle>
            <a:lvl1pPr>
              <a:defRPr/>
            </a:lvl1pPr>
          </a:lstStyle>
          <a:p>
            <a:fld id="{D5FA032A-765E-6D40-A356-A13305437C1D}" type="slidenum">
              <a:rPr lang="en-US" altLang="en-US"/>
              <a:pPr/>
              <a:t>‹#›</a:t>
            </a:fld>
            <a:endParaRPr lang="en-US" altLang="en-US"/>
          </a:p>
        </p:txBody>
      </p:sp>
    </p:spTree>
    <p:extLst>
      <p:ext uri="{BB962C8B-B14F-4D97-AF65-F5344CB8AC3E}">
        <p14:creationId xmlns:p14="http://schemas.microsoft.com/office/powerpoint/2010/main" val="412901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95467" y="274638"/>
            <a:ext cx="10160000" cy="1143000"/>
          </a:xfrm>
          <a:prstGeom prst="rect">
            <a:avLst/>
          </a:prstGeom>
        </p:spPr>
        <p:txBody>
          <a:bodyPr vert="horz" lIns="91440" tIns="45720" rIns="91440" bIns="45720" rtlCol="0" anchor="ctr">
            <a:noAutofit/>
          </a:bodyPr>
          <a:lstStyle/>
          <a:p>
            <a:r>
              <a:rPr lang="nl-NL"/>
              <a:t>Titelstijl van model bewerken</a:t>
            </a:r>
            <a:endParaRPr lang="en-US" dirty="0"/>
          </a:p>
        </p:txBody>
      </p:sp>
      <p:sp>
        <p:nvSpPr>
          <p:cNvPr id="3" name="Text Placeholder 2"/>
          <p:cNvSpPr>
            <a:spLocks noGrp="1"/>
          </p:cNvSpPr>
          <p:nvPr>
            <p:ph type="body" idx="1"/>
          </p:nvPr>
        </p:nvSpPr>
        <p:spPr>
          <a:xfrm>
            <a:off x="1312597" y="1600200"/>
            <a:ext cx="10160000" cy="4800600"/>
          </a:xfrm>
          <a:prstGeom prst="rect">
            <a:avLst/>
          </a:prstGeom>
        </p:spPr>
        <p:txBody>
          <a:bodyPr vert="horz" lIns="91440" tIns="45720" rIns="91440" bIns="45720" rtlCol="0">
            <a:norm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Rectangle 6"/>
          <p:cNvSpPr/>
          <p:nvPr/>
        </p:nvSpPr>
        <p:spPr>
          <a:xfrm>
            <a:off x="-30423" y="0"/>
            <a:ext cx="914400" cy="6859728"/>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Slide Number Placeholder 5"/>
          <p:cNvSpPr>
            <a:spLocks noGrp="1"/>
          </p:cNvSpPr>
          <p:nvPr>
            <p:ph type="sldNum" sz="quarter" idx="4"/>
          </p:nvPr>
        </p:nvSpPr>
        <p:spPr>
          <a:xfrm>
            <a:off x="11413152" y="6453336"/>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009999"/>
                </a:solidFill>
              </a:defRPr>
            </a:lvl1pPr>
          </a:lstStyle>
          <a:p>
            <a:fld id="{0798D939-2D9E-2142-A80A-FFDECD1E5A9B}" type="slidenum">
              <a:rPr lang="en-US" smtClean="0"/>
              <a:t>‹#›</a:t>
            </a:fld>
            <a:endParaRPr lang="en-US"/>
          </a:p>
        </p:txBody>
      </p:sp>
      <p:sp>
        <p:nvSpPr>
          <p:cNvPr id="5" name="Footer Placeholder 4"/>
          <p:cNvSpPr>
            <a:spLocks noGrp="1"/>
          </p:cNvSpPr>
          <p:nvPr>
            <p:ph type="ftr" sz="quarter" idx="3"/>
          </p:nvPr>
        </p:nvSpPr>
        <p:spPr>
          <a:xfrm>
            <a:off x="865717" y="6481912"/>
            <a:ext cx="8398635"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
        <p:nvSpPr>
          <p:cNvPr id="4" name="Date Placeholder 3"/>
          <p:cNvSpPr>
            <a:spLocks noGrp="1"/>
          </p:cNvSpPr>
          <p:nvPr>
            <p:ph type="dt" sz="half" idx="2"/>
          </p:nvPr>
        </p:nvSpPr>
        <p:spPr>
          <a:xfrm rot="16200000">
            <a:off x="-810682" y="5242560"/>
            <a:ext cx="2438399" cy="487680"/>
          </a:xfrm>
          <a:prstGeom prst="rect">
            <a:avLst/>
          </a:prstGeom>
        </p:spPr>
        <p:txBody>
          <a:bodyPr vert="horz" lIns="91440" tIns="45720" rIns="91440" bIns="45720" rtlCol="0" anchor="ctr"/>
          <a:lstStyle>
            <a:lvl1pPr algn="l">
              <a:defRPr sz="1200">
                <a:solidFill>
                  <a:schemeClr val="bg1"/>
                </a:solidFill>
              </a:defRPr>
            </a:lvl1pPr>
          </a:lstStyle>
          <a:p>
            <a:fld id="{F2BFDEF7-F228-4136-A2A2-5D84383ABA85}" type="datetime1">
              <a:rPr lang="en-US" smtClean="0"/>
              <a:t>2026-06-10</a:t>
            </a:fld>
            <a:endParaRPr lang="en-US"/>
          </a:p>
        </p:txBody>
      </p:sp>
    </p:spTree>
    <p:extLst>
      <p:ext uri="{BB962C8B-B14F-4D97-AF65-F5344CB8AC3E}">
        <p14:creationId xmlns:p14="http://schemas.microsoft.com/office/powerpoint/2010/main" val="3655775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ftr="0" dt="0"/>
  <p:txStyles>
    <p:titleStyle>
      <a:lvl1pPr algn="l" defTabSz="914400" rtl="0" eaLnBrk="1" latinLnBrk="0" hangingPunct="1">
        <a:spcBef>
          <a:spcPct val="0"/>
        </a:spcBef>
        <a:buNone/>
        <a:defRPr sz="4600" kern="1200" cap="none" spc="-100" baseline="0">
          <a:ln>
            <a:noFill/>
          </a:ln>
          <a:solidFill>
            <a:schemeClr val="tx1"/>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SzPct val="100000"/>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SzPct val="100000"/>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SzPct val="100000"/>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SzPct val="100000"/>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SzPct val="100000"/>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E4_C45C725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12_E32543BE.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324224" y="3400425"/>
            <a:ext cx="7308280" cy="2107750"/>
          </a:xfrm>
        </p:spPr>
        <p:txBody>
          <a:bodyPr>
            <a:normAutofit/>
          </a:bodyPr>
          <a:lstStyle/>
          <a:p>
            <a:endParaRPr lang="en-US" dirty="0"/>
          </a:p>
          <a:p>
            <a:r>
              <a:rPr lang="en-US" dirty="0"/>
              <a:t>DARTH workgroup </a:t>
            </a:r>
          </a:p>
        </p:txBody>
      </p:sp>
      <p:sp>
        <p:nvSpPr>
          <p:cNvPr id="4" name="Tijdelijke aanduiding voor dianummer 3"/>
          <p:cNvSpPr>
            <a:spLocks noGrp="1"/>
          </p:cNvSpPr>
          <p:nvPr>
            <p:ph type="sldNum" sz="quarter" idx="12"/>
          </p:nvPr>
        </p:nvSpPr>
        <p:spPr/>
        <p:txBody>
          <a:bodyPr/>
          <a:lstStyle/>
          <a:p>
            <a:fld id="{6F6CFCF5-3E37-0F40-BEC2-1413134B0080}" type="slidenum">
              <a:rPr lang="en-US">
                <a:latin typeface="Verdana"/>
              </a:rPr>
              <a:pPr/>
              <a:t>1</a:t>
            </a:fld>
            <a:endParaRPr lang="en-US">
              <a:latin typeface="Verdana"/>
            </a:endParaRPr>
          </a:p>
        </p:txBody>
      </p:sp>
      <p:sp>
        <p:nvSpPr>
          <p:cNvPr id="2" name="Title 1"/>
          <p:cNvSpPr>
            <a:spLocks noGrp="1"/>
          </p:cNvSpPr>
          <p:nvPr>
            <p:ph type="ctrTitle"/>
          </p:nvPr>
        </p:nvSpPr>
        <p:spPr>
          <a:xfrm>
            <a:off x="3324224" y="800102"/>
            <a:ext cx="7308280" cy="2228849"/>
          </a:xfrm>
        </p:spPr>
        <p:txBody>
          <a:bodyPr anchor="ctr" anchorCtr="0"/>
          <a:lstStyle/>
          <a:p>
            <a:pPr algn="ctr"/>
            <a:r>
              <a:rPr lang="en-US" sz="5000" dirty="0"/>
              <a:t>Introduction to Cost Effectiveness Analysis </a:t>
            </a:r>
          </a:p>
        </p:txBody>
      </p:sp>
    </p:spTree>
    <p:extLst>
      <p:ext uri="{BB962C8B-B14F-4D97-AF65-F5344CB8AC3E}">
        <p14:creationId xmlns:p14="http://schemas.microsoft.com/office/powerpoint/2010/main" val="126731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Shape 932"/>
          <p:cNvSpPr txBox="1">
            <a:spLocks noGrp="1"/>
          </p:cNvSpPr>
          <p:nvPr>
            <p:ph type="title"/>
          </p:nvPr>
        </p:nvSpPr>
        <p:spPr>
          <a:xfrm>
            <a:off x="2195250" y="2854999"/>
            <a:ext cx="7852200" cy="1598248"/>
          </a:xfrm>
          <a:prstGeom prst="rect">
            <a:avLst/>
          </a:prstGeom>
        </p:spPr>
        <p:txBody>
          <a:bodyPr spcFirstLastPara="1" vert="horz" wrap="square" lIns="91425" tIns="91425" rIns="91425" bIns="91425" rtlCol="0" anchor="ctr" anchorCtr="0">
            <a:noAutofit/>
          </a:bodyPr>
          <a:lstStyle/>
          <a:p>
            <a:pPr>
              <a:spcAft>
                <a:spcPts val="1200"/>
              </a:spcAft>
            </a:pPr>
            <a:r>
              <a:rPr lang="nl-NL" dirty="0" err="1"/>
              <a:t>Overview</a:t>
            </a:r>
            <a:r>
              <a:rPr lang="nl-NL" dirty="0"/>
              <a:t> of </a:t>
            </a:r>
            <a:r>
              <a:rPr lang="nl-NL" dirty="0" err="1"/>
              <a:t>Decision</a:t>
            </a:r>
            <a:r>
              <a:rPr lang="nl-NL" dirty="0"/>
              <a:t> Analysis</a:t>
            </a:r>
            <a:endParaRPr dirty="0"/>
          </a:p>
        </p:txBody>
      </p:sp>
      <p:sp>
        <p:nvSpPr>
          <p:cNvPr id="3" name="Slide Number Placeholder 1">
            <a:extLst>
              <a:ext uri="{FF2B5EF4-FFF2-40B4-BE49-F238E27FC236}">
                <a16:creationId xmlns:a16="http://schemas.microsoft.com/office/drawing/2014/main" id="{ECD9353D-A40F-2D49-A3C5-51DB3CCD602D}"/>
              </a:ext>
            </a:extLst>
          </p:cNvPr>
          <p:cNvSpPr>
            <a:spLocks noGrp="1"/>
          </p:cNvSpPr>
          <p:nvPr>
            <p:ph type="sldNum" sz="quarter" idx="12"/>
          </p:nvPr>
        </p:nvSpPr>
        <p:spPr>
          <a:xfrm>
            <a:off x="10083864" y="6453336"/>
            <a:ext cx="548640" cy="396240"/>
          </a:xfrm>
        </p:spPr>
        <p:txBody>
          <a:bodyPr/>
          <a:lstStyle/>
          <a:p>
            <a:fld id="{0798D939-2D9E-2142-A80A-FFDECD1E5A9B}" type="slidenum">
              <a:rPr lang="en-US">
                <a:latin typeface="Verdana"/>
              </a:rPr>
              <a:pPr/>
              <a:t>2</a:t>
            </a:fld>
            <a:endParaRPr lang="en-US" dirty="0">
              <a:latin typeface="Verdana"/>
            </a:endParaRPr>
          </a:p>
        </p:txBody>
      </p:sp>
    </p:spTree>
    <p:extLst>
      <p:ext uri="{BB962C8B-B14F-4D97-AF65-F5344CB8AC3E}">
        <p14:creationId xmlns:p14="http://schemas.microsoft.com/office/powerpoint/2010/main" val="304672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r>
              <a:rPr lang="en-US" altLang="en-US" dirty="0"/>
              <a:t>What is Decision Analysis?</a:t>
            </a:r>
          </a:p>
        </p:txBody>
      </p:sp>
      <p:sp>
        <p:nvSpPr>
          <p:cNvPr id="381955" name="Rectangle 3"/>
          <p:cNvSpPr>
            <a:spLocks noGrp="1" noChangeArrowheads="1"/>
          </p:cNvSpPr>
          <p:nvPr>
            <p:ph idx="1"/>
          </p:nvPr>
        </p:nvSpPr>
        <p:spPr/>
        <p:txBody>
          <a:bodyPr>
            <a:normAutofit lnSpcReduction="10000"/>
          </a:bodyPr>
          <a:lstStyle/>
          <a:p>
            <a:pPr>
              <a:lnSpc>
                <a:spcPct val="110000"/>
              </a:lnSpc>
              <a:spcBef>
                <a:spcPct val="10000"/>
              </a:spcBef>
              <a:spcAft>
                <a:spcPts val="1200"/>
              </a:spcAft>
            </a:pPr>
            <a:r>
              <a:rPr lang="en-US" dirty="0">
                <a:cs typeface="Times New Roman" pitchFamily="18" charset="0"/>
              </a:rPr>
              <a:t>Explicit, quantitative and systematic approach to decision making under </a:t>
            </a:r>
            <a:r>
              <a:rPr lang="en-US" i="1" dirty="0">
                <a:solidFill>
                  <a:schemeClr val="accent1"/>
                </a:solidFill>
                <a:cs typeface="Times New Roman" pitchFamily="18" charset="0"/>
              </a:rPr>
              <a:t>uncertainty</a:t>
            </a:r>
          </a:p>
          <a:p>
            <a:pPr>
              <a:lnSpc>
                <a:spcPct val="110000"/>
              </a:lnSpc>
              <a:spcBef>
                <a:spcPct val="10000"/>
              </a:spcBef>
              <a:spcAft>
                <a:spcPts val="1200"/>
              </a:spcAft>
            </a:pPr>
            <a:r>
              <a:rPr lang="en-US" dirty="0">
                <a:cs typeface="Times New Roman" pitchFamily="18" charset="0"/>
              </a:rPr>
              <a:t>Identify, measure, and value the consequences of different alternatives as well as the uncertainty that exists when the decision needs to be made </a:t>
            </a:r>
          </a:p>
          <a:p>
            <a:pPr>
              <a:lnSpc>
                <a:spcPct val="110000"/>
              </a:lnSpc>
              <a:spcAft>
                <a:spcPts val="1200"/>
              </a:spcAft>
              <a:buClr>
                <a:schemeClr val="tx2"/>
              </a:buClr>
            </a:pPr>
            <a:r>
              <a:rPr lang="en-US" altLang="en-US" dirty="0"/>
              <a:t>Help structure the analyst’s thinking and facilitate the communication of assumptions</a:t>
            </a:r>
          </a:p>
          <a:p>
            <a:pPr>
              <a:lnSpc>
                <a:spcPct val="110000"/>
              </a:lnSpc>
              <a:spcAft>
                <a:spcPts val="1200"/>
              </a:spcAft>
              <a:buClr>
                <a:schemeClr val="tx2"/>
              </a:buClr>
            </a:pPr>
            <a:r>
              <a:rPr lang="en-US" altLang="en-US" dirty="0"/>
              <a:t>Provide a structural framework for synthesizing data from disparate sources and allows for </a:t>
            </a:r>
            <a:r>
              <a:rPr lang="en-US" altLang="en-US" i="1" dirty="0">
                <a:solidFill>
                  <a:schemeClr val="accent1"/>
                </a:solidFill>
              </a:rPr>
              <a:t>extrapolation</a:t>
            </a:r>
            <a:endParaRPr lang="en-US" altLang="en-US" dirty="0"/>
          </a:p>
          <a:p>
            <a:pPr>
              <a:lnSpc>
                <a:spcPct val="110000"/>
              </a:lnSpc>
              <a:spcAft>
                <a:spcPts val="1200"/>
              </a:spcAft>
              <a:buClr>
                <a:schemeClr val="tx2"/>
              </a:buClr>
            </a:pPr>
            <a:r>
              <a:rPr lang="en-US" dirty="0"/>
              <a:t>Elements are incorporated into a mathematical </a:t>
            </a:r>
            <a:r>
              <a:rPr lang="en-US" i="1" dirty="0">
                <a:solidFill>
                  <a:schemeClr val="accent1"/>
                </a:solidFill>
              </a:rPr>
              <a:t>model</a:t>
            </a:r>
            <a:r>
              <a:rPr lang="en-US" dirty="0"/>
              <a:t> which is used to estimate the outcomes of different options or interventions</a:t>
            </a:r>
          </a:p>
          <a:p>
            <a:pPr>
              <a:lnSpc>
                <a:spcPct val="110000"/>
              </a:lnSpc>
              <a:spcAft>
                <a:spcPts val="1200"/>
              </a:spcAft>
              <a:buClr>
                <a:schemeClr val="tx2"/>
              </a:buClr>
            </a:pPr>
            <a:endParaRPr lang="en-US" dirty="0"/>
          </a:p>
          <a:p>
            <a:pPr>
              <a:lnSpc>
                <a:spcPct val="110000"/>
              </a:lnSpc>
              <a:spcAft>
                <a:spcPts val="1200"/>
              </a:spcAft>
              <a:buClr>
                <a:schemeClr val="tx2"/>
              </a:buClr>
            </a:pPr>
            <a:endParaRPr lang="en-US" altLang="en-US" dirty="0"/>
          </a:p>
        </p:txBody>
      </p:sp>
      <p:sp>
        <p:nvSpPr>
          <p:cNvPr id="2" name="Slide Number Placeholder 1"/>
          <p:cNvSpPr>
            <a:spLocks noGrp="1"/>
          </p:cNvSpPr>
          <p:nvPr>
            <p:ph type="sldNum" sz="quarter" idx="12"/>
          </p:nvPr>
        </p:nvSpPr>
        <p:spPr/>
        <p:txBody>
          <a:bodyPr/>
          <a:lstStyle/>
          <a:p>
            <a:fld id="{0798D939-2D9E-2142-A80A-FFDECD1E5A9B}" type="slidenum">
              <a:rPr lang="en-US">
                <a:latin typeface="Verdana"/>
              </a:rPr>
              <a:pPr/>
              <a:t>3</a:t>
            </a:fld>
            <a:endParaRPr lang="en-US">
              <a:latin typeface="Verdana"/>
            </a:endParaRPr>
          </a:p>
        </p:txBody>
      </p:sp>
    </p:spTree>
    <p:extLst>
      <p:ext uri="{BB962C8B-B14F-4D97-AF65-F5344CB8AC3E}">
        <p14:creationId xmlns:p14="http://schemas.microsoft.com/office/powerpoint/2010/main" val="3562629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8194-DFCC-7448-86AE-9393E13100FC}"/>
              </a:ext>
            </a:extLst>
          </p:cNvPr>
          <p:cNvSpPr>
            <a:spLocks noGrp="1"/>
          </p:cNvSpPr>
          <p:nvPr>
            <p:ph type="title"/>
          </p:nvPr>
        </p:nvSpPr>
        <p:spPr>
          <a:xfrm>
            <a:off x="2364432" y="274639"/>
            <a:ext cx="7620000" cy="836341"/>
          </a:xfrm>
        </p:spPr>
        <p:txBody>
          <a:bodyPr/>
          <a:lstStyle/>
          <a:p>
            <a:r>
              <a:rPr lang="en-US" dirty="0"/>
              <a:t>Decision Analysis</a:t>
            </a:r>
          </a:p>
        </p:txBody>
      </p:sp>
      <p:sp>
        <p:nvSpPr>
          <p:cNvPr id="4" name="Slide Number Placeholder 3">
            <a:extLst>
              <a:ext uri="{FF2B5EF4-FFF2-40B4-BE49-F238E27FC236}">
                <a16:creationId xmlns:a16="http://schemas.microsoft.com/office/drawing/2014/main" id="{F934B04D-B167-3248-8929-E21E314F9A32}"/>
              </a:ext>
            </a:extLst>
          </p:cNvPr>
          <p:cNvSpPr>
            <a:spLocks noGrp="1"/>
          </p:cNvSpPr>
          <p:nvPr>
            <p:ph type="sldNum" sz="quarter" idx="12"/>
          </p:nvPr>
        </p:nvSpPr>
        <p:spPr>
          <a:xfrm>
            <a:off x="10119360" y="5989923"/>
            <a:ext cx="548640" cy="396240"/>
          </a:xfrm>
        </p:spPr>
        <p:txBody>
          <a:bodyPr/>
          <a:lstStyle/>
          <a:p>
            <a:fld id="{0798D939-2D9E-2142-A80A-FFDECD1E5A9B}" type="slidenum">
              <a:rPr lang="en-US">
                <a:latin typeface="Verdana"/>
              </a:rPr>
              <a:pPr/>
              <a:t>4</a:t>
            </a:fld>
            <a:endParaRPr lang="en-US">
              <a:latin typeface="Verdana"/>
            </a:endParaRPr>
          </a:p>
        </p:txBody>
      </p:sp>
      <p:sp>
        <p:nvSpPr>
          <p:cNvPr id="6" name="Rounded Rectangle 5">
            <a:extLst>
              <a:ext uri="{FF2B5EF4-FFF2-40B4-BE49-F238E27FC236}">
                <a16:creationId xmlns:a16="http://schemas.microsoft.com/office/drawing/2014/main" id="{808EDEE5-239E-A64F-92B5-662773849D8E}"/>
              </a:ext>
            </a:extLst>
          </p:cNvPr>
          <p:cNvSpPr/>
          <p:nvPr/>
        </p:nvSpPr>
        <p:spPr>
          <a:xfrm>
            <a:off x="3451566" y="5226911"/>
            <a:ext cx="1907177" cy="5878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Verdana"/>
              </a:rPr>
              <a:t>Benefits?</a:t>
            </a:r>
          </a:p>
        </p:txBody>
      </p:sp>
      <p:sp>
        <p:nvSpPr>
          <p:cNvPr id="7" name="Rounded Rectangle 6">
            <a:extLst>
              <a:ext uri="{FF2B5EF4-FFF2-40B4-BE49-F238E27FC236}">
                <a16:creationId xmlns:a16="http://schemas.microsoft.com/office/drawing/2014/main" id="{7AC98AE2-7B92-6E4F-8217-ACE5D668A2F2}"/>
              </a:ext>
            </a:extLst>
          </p:cNvPr>
          <p:cNvSpPr/>
          <p:nvPr/>
        </p:nvSpPr>
        <p:spPr>
          <a:xfrm>
            <a:off x="2734140" y="1322545"/>
            <a:ext cx="1907177" cy="5878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Verdana"/>
              </a:rPr>
              <a:t>Option 1</a:t>
            </a:r>
          </a:p>
        </p:txBody>
      </p:sp>
      <p:sp>
        <p:nvSpPr>
          <p:cNvPr id="8" name="Rounded Rectangle 7">
            <a:extLst>
              <a:ext uri="{FF2B5EF4-FFF2-40B4-BE49-F238E27FC236}">
                <a16:creationId xmlns:a16="http://schemas.microsoft.com/office/drawing/2014/main" id="{512405D6-BDF9-4D41-85BE-FE8DB7F2BE0A}"/>
              </a:ext>
            </a:extLst>
          </p:cNvPr>
          <p:cNvSpPr/>
          <p:nvPr/>
        </p:nvSpPr>
        <p:spPr>
          <a:xfrm>
            <a:off x="7583958" y="4841516"/>
            <a:ext cx="1907177" cy="5878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Verdana"/>
              </a:rPr>
              <a:t>Harms?</a:t>
            </a:r>
          </a:p>
        </p:txBody>
      </p:sp>
      <p:pic>
        <p:nvPicPr>
          <p:cNvPr id="11" name="Picture 10" descr="A picture containing shape&#10;&#10;Description automatically generated">
            <a:extLst>
              <a:ext uri="{FF2B5EF4-FFF2-40B4-BE49-F238E27FC236}">
                <a16:creationId xmlns:a16="http://schemas.microsoft.com/office/drawing/2014/main" id="{A7C325C9-F111-AB48-BA16-527F65A43E1F}"/>
              </a:ext>
            </a:extLst>
          </p:cNvPr>
          <p:cNvPicPr>
            <a:picLocks noChangeAspect="1"/>
          </p:cNvPicPr>
          <p:nvPr/>
        </p:nvPicPr>
        <p:blipFill>
          <a:blip r:embed="rId3"/>
          <a:stretch>
            <a:fillRect/>
          </a:stretch>
        </p:blipFill>
        <p:spPr>
          <a:xfrm>
            <a:off x="2231068" y="1913852"/>
            <a:ext cx="2913321" cy="2913321"/>
          </a:xfrm>
          <a:prstGeom prst="rect">
            <a:avLst/>
          </a:prstGeom>
        </p:spPr>
      </p:pic>
      <p:pic>
        <p:nvPicPr>
          <p:cNvPr id="18" name="Picture 17" descr="A picture containing shape&#10;&#10;Description automatically generated">
            <a:extLst>
              <a:ext uri="{FF2B5EF4-FFF2-40B4-BE49-F238E27FC236}">
                <a16:creationId xmlns:a16="http://schemas.microsoft.com/office/drawing/2014/main" id="{6E1F773B-D23C-024E-9EE1-EF4FF35EFB93}"/>
              </a:ext>
            </a:extLst>
          </p:cNvPr>
          <p:cNvPicPr>
            <a:picLocks noChangeAspect="1"/>
          </p:cNvPicPr>
          <p:nvPr/>
        </p:nvPicPr>
        <p:blipFill rotWithShape="1">
          <a:blip r:embed="rId3"/>
          <a:srcRect b="14720"/>
          <a:stretch/>
        </p:blipFill>
        <p:spPr>
          <a:xfrm>
            <a:off x="4924648" y="1913852"/>
            <a:ext cx="2913321" cy="2484475"/>
          </a:xfrm>
          <a:prstGeom prst="rect">
            <a:avLst/>
          </a:prstGeom>
        </p:spPr>
      </p:pic>
      <p:pic>
        <p:nvPicPr>
          <p:cNvPr id="19" name="Picture 18" descr="A picture containing shape&#10;&#10;Description automatically generated">
            <a:extLst>
              <a:ext uri="{FF2B5EF4-FFF2-40B4-BE49-F238E27FC236}">
                <a16:creationId xmlns:a16="http://schemas.microsoft.com/office/drawing/2014/main" id="{97859654-8D32-EE41-8E35-47FEE4E419EC}"/>
              </a:ext>
            </a:extLst>
          </p:cNvPr>
          <p:cNvPicPr>
            <a:picLocks noChangeAspect="1"/>
          </p:cNvPicPr>
          <p:nvPr/>
        </p:nvPicPr>
        <p:blipFill rotWithShape="1">
          <a:blip r:embed="rId3"/>
          <a:srcRect b="14720"/>
          <a:stretch/>
        </p:blipFill>
        <p:spPr>
          <a:xfrm>
            <a:off x="7618228" y="1913852"/>
            <a:ext cx="2913321" cy="2484475"/>
          </a:xfrm>
          <a:prstGeom prst="rect">
            <a:avLst/>
          </a:prstGeom>
        </p:spPr>
      </p:pic>
      <p:sp>
        <p:nvSpPr>
          <p:cNvPr id="20" name="Rounded Rectangle 19">
            <a:extLst>
              <a:ext uri="{FF2B5EF4-FFF2-40B4-BE49-F238E27FC236}">
                <a16:creationId xmlns:a16="http://schemas.microsoft.com/office/drawing/2014/main" id="{3CE9FB85-A503-204D-90B4-06B415CB589A}"/>
              </a:ext>
            </a:extLst>
          </p:cNvPr>
          <p:cNvSpPr/>
          <p:nvPr/>
        </p:nvSpPr>
        <p:spPr>
          <a:xfrm>
            <a:off x="5427720" y="1322545"/>
            <a:ext cx="1907177" cy="5878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Verdana"/>
              </a:rPr>
              <a:t>Option 2</a:t>
            </a:r>
          </a:p>
        </p:txBody>
      </p:sp>
      <p:sp>
        <p:nvSpPr>
          <p:cNvPr id="21" name="Rounded Rectangle 20">
            <a:extLst>
              <a:ext uri="{FF2B5EF4-FFF2-40B4-BE49-F238E27FC236}">
                <a16:creationId xmlns:a16="http://schemas.microsoft.com/office/drawing/2014/main" id="{A839E302-2549-7F48-883D-BE805A7BAC37}"/>
              </a:ext>
            </a:extLst>
          </p:cNvPr>
          <p:cNvSpPr/>
          <p:nvPr/>
        </p:nvSpPr>
        <p:spPr>
          <a:xfrm>
            <a:off x="8121300" y="1322545"/>
            <a:ext cx="1907177" cy="5878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Verdana"/>
              </a:rPr>
              <a:t>Option 3</a:t>
            </a:r>
          </a:p>
        </p:txBody>
      </p:sp>
      <p:pic>
        <p:nvPicPr>
          <p:cNvPr id="22" name="Picture 21" descr="A picture containing shape&#10;&#10;Description automatically generated">
            <a:extLst>
              <a:ext uri="{FF2B5EF4-FFF2-40B4-BE49-F238E27FC236}">
                <a16:creationId xmlns:a16="http://schemas.microsoft.com/office/drawing/2014/main" id="{7DEE68CE-9E4E-FF47-B13B-8D733E5F2967}"/>
              </a:ext>
            </a:extLst>
          </p:cNvPr>
          <p:cNvPicPr>
            <a:picLocks noChangeAspect="1"/>
          </p:cNvPicPr>
          <p:nvPr/>
        </p:nvPicPr>
        <p:blipFill>
          <a:blip r:embed="rId4"/>
          <a:stretch>
            <a:fillRect/>
          </a:stretch>
        </p:blipFill>
        <p:spPr>
          <a:xfrm>
            <a:off x="5327073" y="4628408"/>
            <a:ext cx="2229593" cy="2229593"/>
          </a:xfrm>
          <a:prstGeom prst="rect">
            <a:avLst/>
          </a:prstGeom>
        </p:spPr>
      </p:pic>
      <p:sp>
        <p:nvSpPr>
          <p:cNvPr id="23" name="Rounded Rectangle 22">
            <a:extLst>
              <a:ext uri="{FF2B5EF4-FFF2-40B4-BE49-F238E27FC236}">
                <a16:creationId xmlns:a16="http://schemas.microsoft.com/office/drawing/2014/main" id="{8ECCB91F-BE75-1C4B-8883-0C945F568BA4}"/>
              </a:ext>
            </a:extLst>
          </p:cNvPr>
          <p:cNvSpPr/>
          <p:nvPr/>
        </p:nvSpPr>
        <p:spPr>
          <a:xfrm>
            <a:off x="7583958" y="5647059"/>
            <a:ext cx="1907177" cy="5878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Verdana"/>
              </a:rPr>
              <a:t>Cost?</a:t>
            </a:r>
          </a:p>
        </p:txBody>
      </p:sp>
    </p:spTree>
    <p:extLst>
      <p:ext uri="{BB962C8B-B14F-4D97-AF65-F5344CB8AC3E}">
        <p14:creationId xmlns:p14="http://schemas.microsoft.com/office/powerpoint/2010/main" val="329439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3" grpId="0" animBg="1"/>
    </p:bldLst>
  </p:timing>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9" name="Rectangle 5"/>
          <p:cNvSpPr>
            <a:spLocks noChangeArrowheads="1"/>
          </p:cNvSpPr>
          <p:nvPr/>
        </p:nvSpPr>
        <p:spPr bwMode="auto">
          <a:xfrm>
            <a:off x="5334000" y="2590800"/>
            <a:ext cx="1600200" cy="1600200"/>
          </a:xfrm>
          <a:prstGeom prst="rect">
            <a:avLst/>
          </a:prstGeom>
          <a:solidFill>
            <a:srgbClr val="00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dirty="0">
                <a:solidFill>
                  <a:prstClr val="white"/>
                </a:solidFill>
                <a:latin typeface="Verdana"/>
              </a:rPr>
              <a:t>Decision</a:t>
            </a:r>
          </a:p>
          <a:p>
            <a:pPr algn="ctr"/>
            <a:r>
              <a:rPr lang="en-US" altLang="en-US" sz="2000" dirty="0">
                <a:solidFill>
                  <a:prstClr val="white"/>
                </a:solidFill>
                <a:latin typeface="Verdana"/>
              </a:rPr>
              <a:t>model</a:t>
            </a:r>
          </a:p>
        </p:txBody>
      </p:sp>
      <p:sp>
        <p:nvSpPr>
          <p:cNvPr id="692234" name="Text Box 10"/>
          <p:cNvSpPr txBox="1">
            <a:spLocks noChangeArrowheads="1"/>
          </p:cNvSpPr>
          <p:nvPr/>
        </p:nvSpPr>
        <p:spPr bwMode="auto">
          <a:xfrm>
            <a:off x="8323264" y="5334001"/>
            <a:ext cx="1598515" cy="646331"/>
          </a:xfrm>
          <a:prstGeom prst="rect">
            <a:avLst/>
          </a:prstGeom>
          <a:solidFill>
            <a:schemeClr val="accent5">
              <a:lumMod val="60000"/>
              <a:lumOff val="40000"/>
            </a:schemeClr>
          </a:solidFill>
          <a:ln w="12700">
            <a:solidFill>
              <a:schemeClr val="tx1"/>
            </a:solidFill>
            <a:miter lim="800000"/>
            <a:headEnd/>
            <a:tailEnd/>
          </a:ln>
          <a:effectLst/>
        </p:spPr>
        <p:txBody>
          <a:bodyPr wrap="none">
            <a:spAutoFit/>
          </a:bodyPr>
          <a:lstStyle/>
          <a:p>
            <a:pPr algn="ctr"/>
            <a:r>
              <a:rPr lang="en-US" altLang="en-US" dirty="0">
                <a:solidFill>
                  <a:prstClr val="white"/>
                </a:solidFill>
                <a:latin typeface="Verdana"/>
              </a:rPr>
              <a:t>Policy</a:t>
            </a:r>
          </a:p>
          <a:p>
            <a:pPr algn="ctr"/>
            <a:r>
              <a:rPr lang="en-US" altLang="en-US" dirty="0">
                <a:solidFill>
                  <a:prstClr val="white"/>
                </a:solidFill>
                <a:latin typeface="Verdana"/>
              </a:rPr>
              <a:t>Implications</a:t>
            </a:r>
          </a:p>
        </p:txBody>
      </p:sp>
      <p:sp>
        <p:nvSpPr>
          <p:cNvPr id="692240" name="Rectangle 16"/>
          <p:cNvSpPr>
            <a:spLocks noChangeArrowheads="1"/>
          </p:cNvSpPr>
          <p:nvPr/>
        </p:nvSpPr>
        <p:spPr bwMode="auto">
          <a:xfrm>
            <a:off x="5842000" y="717550"/>
            <a:ext cx="3251200" cy="895350"/>
          </a:xfrm>
          <a:prstGeom prst="rect">
            <a:avLst/>
          </a:prstGeom>
          <a:solidFill>
            <a:schemeClr val="accent1"/>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Efficacy of treatment </a:t>
            </a:r>
          </a:p>
          <a:p>
            <a:pPr algn="ctr"/>
            <a:r>
              <a:rPr lang="en-US" altLang="en-US" sz="2000" dirty="0">
                <a:solidFill>
                  <a:prstClr val="white"/>
                </a:solidFill>
                <a:latin typeface="Verdana"/>
              </a:rPr>
              <a:t>or preventive measures</a:t>
            </a:r>
          </a:p>
        </p:txBody>
      </p:sp>
      <p:sp>
        <p:nvSpPr>
          <p:cNvPr id="692241" name="Rectangle 17"/>
          <p:cNvSpPr>
            <a:spLocks noChangeArrowheads="1"/>
          </p:cNvSpPr>
          <p:nvPr/>
        </p:nvSpPr>
        <p:spPr bwMode="auto">
          <a:xfrm>
            <a:off x="1765300" y="2065338"/>
            <a:ext cx="2971800" cy="639762"/>
          </a:xfrm>
          <a:prstGeom prst="rect">
            <a:avLst/>
          </a:prstGeom>
          <a:solidFill>
            <a:schemeClr val="accent1"/>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Risk of future events</a:t>
            </a:r>
          </a:p>
        </p:txBody>
      </p:sp>
      <p:sp>
        <p:nvSpPr>
          <p:cNvPr id="692242" name="Rectangle 18"/>
          <p:cNvSpPr>
            <a:spLocks noChangeArrowheads="1"/>
          </p:cNvSpPr>
          <p:nvPr/>
        </p:nvSpPr>
        <p:spPr bwMode="auto">
          <a:xfrm>
            <a:off x="3200400" y="730250"/>
            <a:ext cx="2209800" cy="914400"/>
          </a:xfrm>
          <a:prstGeom prst="rect">
            <a:avLst/>
          </a:prstGeom>
          <a:solidFill>
            <a:schemeClr val="accent1"/>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Prevalence</a:t>
            </a:r>
          </a:p>
          <a:p>
            <a:pPr algn="ctr"/>
            <a:r>
              <a:rPr lang="en-US" altLang="en-US" sz="2000" dirty="0">
                <a:solidFill>
                  <a:prstClr val="white"/>
                </a:solidFill>
                <a:latin typeface="Verdana"/>
              </a:rPr>
              <a:t>of disease</a:t>
            </a:r>
          </a:p>
        </p:txBody>
      </p:sp>
      <p:sp>
        <p:nvSpPr>
          <p:cNvPr id="692243" name="Rectangle 19"/>
          <p:cNvSpPr>
            <a:spLocks noChangeArrowheads="1"/>
          </p:cNvSpPr>
          <p:nvPr/>
        </p:nvSpPr>
        <p:spPr bwMode="auto">
          <a:xfrm>
            <a:off x="2463800" y="4341813"/>
            <a:ext cx="1676400" cy="639762"/>
          </a:xfrm>
          <a:prstGeom prst="rect">
            <a:avLst/>
          </a:prstGeom>
          <a:solidFill>
            <a:schemeClr val="accent1"/>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Costs</a:t>
            </a:r>
          </a:p>
        </p:txBody>
      </p:sp>
      <p:sp>
        <p:nvSpPr>
          <p:cNvPr id="692244" name="Rectangle 20"/>
          <p:cNvSpPr>
            <a:spLocks noChangeArrowheads="1"/>
          </p:cNvSpPr>
          <p:nvPr/>
        </p:nvSpPr>
        <p:spPr bwMode="auto">
          <a:xfrm>
            <a:off x="7480300" y="4252913"/>
            <a:ext cx="2895600" cy="639762"/>
          </a:xfrm>
          <a:prstGeom prst="rect">
            <a:avLst/>
          </a:prstGeom>
          <a:solidFill>
            <a:schemeClr val="accent1"/>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Diagnostic accuracy</a:t>
            </a:r>
          </a:p>
        </p:txBody>
      </p:sp>
      <p:sp>
        <p:nvSpPr>
          <p:cNvPr id="692245" name="Rectangle 21"/>
          <p:cNvSpPr>
            <a:spLocks noChangeArrowheads="1"/>
          </p:cNvSpPr>
          <p:nvPr/>
        </p:nvSpPr>
        <p:spPr bwMode="auto">
          <a:xfrm>
            <a:off x="7556500" y="2000251"/>
            <a:ext cx="2908300" cy="639763"/>
          </a:xfrm>
          <a:prstGeom prst="rect">
            <a:avLst/>
          </a:prstGeom>
          <a:solidFill>
            <a:schemeClr val="accent1"/>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Side effects / harms</a:t>
            </a:r>
          </a:p>
        </p:txBody>
      </p:sp>
      <p:sp>
        <p:nvSpPr>
          <p:cNvPr id="692246" name="Rectangle 22"/>
          <p:cNvSpPr>
            <a:spLocks noChangeArrowheads="1"/>
          </p:cNvSpPr>
          <p:nvPr/>
        </p:nvSpPr>
        <p:spPr bwMode="auto">
          <a:xfrm>
            <a:off x="2133600" y="3028950"/>
            <a:ext cx="2362200" cy="914400"/>
          </a:xfrm>
          <a:prstGeom prst="rect">
            <a:avLst/>
          </a:prstGeom>
          <a:solidFill>
            <a:schemeClr val="accent1"/>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Health-related</a:t>
            </a:r>
          </a:p>
          <a:p>
            <a:pPr algn="ctr"/>
            <a:r>
              <a:rPr lang="en-US" altLang="en-US" sz="2000" dirty="0">
                <a:solidFill>
                  <a:prstClr val="white"/>
                </a:solidFill>
                <a:latin typeface="Verdana"/>
              </a:rPr>
              <a:t>quality of life</a:t>
            </a:r>
          </a:p>
        </p:txBody>
      </p:sp>
      <p:sp>
        <p:nvSpPr>
          <p:cNvPr id="692247" name="Rectangle 23"/>
          <p:cNvSpPr>
            <a:spLocks noChangeArrowheads="1"/>
          </p:cNvSpPr>
          <p:nvPr/>
        </p:nvSpPr>
        <p:spPr bwMode="auto">
          <a:xfrm>
            <a:off x="7772400" y="2895600"/>
            <a:ext cx="1981200" cy="1092200"/>
          </a:xfrm>
          <a:prstGeom prst="rect">
            <a:avLst/>
          </a:prstGeom>
          <a:solidFill>
            <a:schemeClr val="accent1"/>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Adherence / </a:t>
            </a:r>
          </a:p>
          <a:p>
            <a:pPr algn="ctr"/>
            <a:r>
              <a:rPr lang="en-US" altLang="en-US" sz="2000" dirty="0">
                <a:solidFill>
                  <a:prstClr val="white"/>
                </a:solidFill>
                <a:latin typeface="Verdana"/>
              </a:rPr>
              <a:t>compliance </a:t>
            </a:r>
          </a:p>
        </p:txBody>
      </p:sp>
      <p:sp>
        <p:nvSpPr>
          <p:cNvPr id="692248" name="Line 24"/>
          <p:cNvSpPr>
            <a:spLocks noChangeShapeType="1"/>
          </p:cNvSpPr>
          <p:nvPr/>
        </p:nvSpPr>
        <p:spPr bwMode="auto">
          <a:xfrm>
            <a:off x="5029200" y="1752600"/>
            <a:ext cx="533400" cy="685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49" name="Line 25"/>
          <p:cNvSpPr>
            <a:spLocks noChangeShapeType="1"/>
          </p:cNvSpPr>
          <p:nvPr/>
        </p:nvSpPr>
        <p:spPr bwMode="auto">
          <a:xfrm flipH="1">
            <a:off x="6324600" y="1752600"/>
            <a:ext cx="228600" cy="685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50" name="Line 26"/>
          <p:cNvSpPr>
            <a:spLocks noChangeShapeType="1"/>
          </p:cNvSpPr>
          <p:nvPr/>
        </p:nvSpPr>
        <p:spPr bwMode="auto">
          <a:xfrm flipV="1">
            <a:off x="4546600" y="3530600"/>
            <a:ext cx="685800" cy="12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51" name="Line 27"/>
          <p:cNvSpPr>
            <a:spLocks noChangeShapeType="1"/>
          </p:cNvSpPr>
          <p:nvPr/>
        </p:nvSpPr>
        <p:spPr bwMode="auto">
          <a:xfrm>
            <a:off x="4800600" y="2476500"/>
            <a:ext cx="457200" cy="254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52" name="Line 28"/>
          <p:cNvSpPr>
            <a:spLocks noChangeShapeType="1"/>
          </p:cNvSpPr>
          <p:nvPr/>
        </p:nvSpPr>
        <p:spPr bwMode="auto">
          <a:xfrm flipV="1">
            <a:off x="4229100" y="4038600"/>
            <a:ext cx="1028700" cy="596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53" name="Line 29"/>
          <p:cNvSpPr>
            <a:spLocks noChangeShapeType="1"/>
          </p:cNvSpPr>
          <p:nvPr/>
        </p:nvSpPr>
        <p:spPr bwMode="auto">
          <a:xfrm flipH="1">
            <a:off x="7010400" y="2438400"/>
            <a:ext cx="4572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54" name="Line 30"/>
          <p:cNvSpPr>
            <a:spLocks noChangeShapeType="1"/>
          </p:cNvSpPr>
          <p:nvPr/>
        </p:nvSpPr>
        <p:spPr bwMode="auto">
          <a:xfrm flipH="1">
            <a:off x="7010400" y="3429000"/>
            <a:ext cx="6858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55" name="Line 31"/>
          <p:cNvSpPr>
            <a:spLocks noChangeShapeType="1"/>
          </p:cNvSpPr>
          <p:nvPr/>
        </p:nvSpPr>
        <p:spPr bwMode="auto">
          <a:xfrm flipH="1" flipV="1">
            <a:off x="6934200" y="4267200"/>
            <a:ext cx="508000" cy="355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57" name="Line 33"/>
          <p:cNvSpPr>
            <a:spLocks noChangeShapeType="1"/>
          </p:cNvSpPr>
          <p:nvPr/>
        </p:nvSpPr>
        <p:spPr bwMode="auto">
          <a:xfrm flipH="1">
            <a:off x="5715000" y="4267200"/>
            <a:ext cx="381000" cy="9144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60" name="Line 36"/>
          <p:cNvSpPr>
            <a:spLocks noChangeShapeType="1"/>
          </p:cNvSpPr>
          <p:nvPr/>
        </p:nvSpPr>
        <p:spPr bwMode="auto">
          <a:xfrm>
            <a:off x="5867400" y="5029200"/>
            <a:ext cx="1524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62" name="Line 38"/>
          <p:cNvSpPr>
            <a:spLocks noChangeShapeType="1"/>
          </p:cNvSpPr>
          <p:nvPr/>
        </p:nvSpPr>
        <p:spPr bwMode="auto">
          <a:xfrm>
            <a:off x="7543800" y="5791200"/>
            <a:ext cx="6858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Verdana"/>
            </a:endParaRPr>
          </a:p>
        </p:txBody>
      </p:sp>
      <p:sp>
        <p:nvSpPr>
          <p:cNvPr id="692263" name="Rectangle 39"/>
          <p:cNvSpPr>
            <a:spLocks noChangeArrowheads="1"/>
          </p:cNvSpPr>
          <p:nvPr/>
        </p:nvSpPr>
        <p:spPr bwMode="auto">
          <a:xfrm>
            <a:off x="4038600" y="5257800"/>
            <a:ext cx="3352800" cy="1295400"/>
          </a:xfrm>
          <a:prstGeom prst="rect">
            <a:avLst/>
          </a:prstGeom>
          <a:solidFill>
            <a:schemeClr val="accent2">
              <a:lumMod val="60000"/>
              <a:lumOff val="40000"/>
            </a:schemeClr>
          </a:solidFill>
          <a:ln w="12700">
            <a:solidFill>
              <a:schemeClr val="tx1"/>
            </a:solidFill>
            <a:miter lim="800000"/>
            <a:headEnd/>
            <a:tailEnd/>
          </a:ln>
          <a:effectLst/>
        </p:spPr>
        <p:txBody>
          <a:bodyPr wrap="none" anchor="ctr"/>
          <a:lstStyle/>
          <a:p>
            <a:pPr algn="ctr"/>
            <a:r>
              <a:rPr lang="en-US" altLang="en-US" sz="2000" dirty="0">
                <a:solidFill>
                  <a:prstClr val="white"/>
                </a:solidFill>
                <a:latin typeface="Verdana"/>
              </a:rPr>
              <a:t>Health &amp; economic</a:t>
            </a:r>
          </a:p>
          <a:p>
            <a:pPr algn="ctr"/>
            <a:r>
              <a:rPr lang="en-US" altLang="en-US" sz="2000" dirty="0">
                <a:solidFill>
                  <a:prstClr val="white"/>
                </a:solidFill>
                <a:latin typeface="Verdana"/>
              </a:rPr>
              <a:t>outcomes for</a:t>
            </a:r>
          </a:p>
          <a:p>
            <a:pPr algn="ctr"/>
            <a:r>
              <a:rPr lang="en-US" altLang="en-US" sz="2000" dirty="0">
                <a:solidFill>
                  <a:prstClr val="white"/>
                </a:solidFill>
                <a:latin typeface="Verdana"/>
              </a:rPr>
              <a:t>alternative strategies</a:t>
            </a:r>
          </a:p>
        </p:txBody>
      </p:sp>
      <p:sp>
        <p:nvSpPr>
          <p:cNvPr id="2" name="Slide Number Placeholder 1"/>
          <p:cNvSpPr>
            <a:spLocks noGrp="1"/>
          </p:cNvSpPr>
          <p:nvPr>
            <p:ph type="sldNum" sz="quarter" idx="12"/>
          </p:nvPr>
        </p:nvSpPr>
        <p:spPr/>
        <p:txBody>
          <a:bodyPr/>
          <a:lstStyle/>
          <a:p>
            <a:fld id="{0798D939-2D9E-2142-A80A-FFDECD1E5A9B}" type="slidenum">
              <a:rPr lang="en-US">
                <a:latin typeface="Verdana"/>
              </a:rPr>
              <a:pPr/>
              <a:t>5</a:t>
            </a:fld>
            <a:endParaRPr lang="en-US">
              <a:latin typeface="Verdana"/>
            </a:endParaRPr>
          </a:p>
        </p:txBody>
      </p:sp>
    </p:spTree>
    <p:extLst>
      <p:ext uri="{BB962C8B-B14F-4D97-AF65-F5344CB8AC3E}">
        <p14:creationId xmlns:p14="http://schemas.microsoft.com/office/powerpoint/2010/main" val="326046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2242"/>
                                        </p:tgtEl>
                                        <p:attrNameLst>
                                          <p:attrName>style.visibility</p:attrName>
                                        </p:attrNameLst>
                                      </p:cBhvr>
                                      <p:to>
                                        <p:strVal val="visible"/>
                                      </p:to>
                                    </p:set>
                                  </p:childTnLst>
                                </p:cTn>
                              </p:par>
                              <p:par>
                                <p:cTn id="7" presetID="22" presetClass="entr" presetSubtype="1" fill="hold" nodeType="withEffect">
                                  <p:stCondLst>
                                    <p:cond delay="0"/>
                                  </p:stCondLst>
                                  <p:childTnLst>
                                    <p:set>
                                      <p:cBhvr>
                                        <p:cTn id="8" dur="1" fill="hold">
                                          <p:stCondLst>
                                            <p:cond delay="0"/>
                                          </p:stCondLst>
                                        </p:cTn>
                                        <p:tgtEl>
                                          <p:spTgt spid="692248"/>
                                        </p:tgtEl>
                                        <p:attrNameLst>
                                          <p:attrName>style.visibility</p:attrName>
                                        </p:attrNameLst>
                                      </p:cBhvr>
                                      <p:to>
                                        <p:strVal val="visible"/>
                                      </p:to>
                                    </p:set>
                                    <p:animEffect transition="in" filter="wipe(up)">
                                      <p:cBhvr>
                                        <p:cTn id="9" dur="500"/>
                                        <p:tgtEl>
                                          <p:spTgt spid="69224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92241"/>
                                        </p:tgtEl>
                                        <p:attrNameLst>
                                          <p:attrName>style.visibility</p:attrName>
                                        </p:attrNameLst>
                                      </p:cBhvr>
                                      <p:to>
                                        <p:strVal val="visible"/>
                                      </p:to>
                                    </p:set>
                                  </p:childTnLst>
                                </p:cTn>
                              </p:par>
                              <p:par>
                                <p:cTn id="14" presetID="22" presetClass="entr" presetSubtype="8" fill="hold" nodeType="withEffect">
                                  <p:stCondLst>
                                    <p:cond delay="0"/>
                                  </p:stCondLst>
                                  <p:childTnLst>
                                    <p:set>
                                      <p:cBhvr>
                                        <p:cTn id="15" dur="1" fill="hold">
                                          <p:stCondLst>
                                            <p:cond delay="0"/>
                                          </p:stCondLst>
                                        </p:cTn>
                                        <p:tgtEl>
                                          <p:spTgt spid="692251"/>
                                        </p:tgtEl>
                                        <p:attrNameLst>
                                          <p:attrName>style.visibility</p:attrName>
                                        </p:attrNameLst>
                                      </p:cBhvr>
                                      <p:to>
                                        <p:strVal val="visible"/>
                                      </p:to>
                                    </p:set>
                                    <p:animEffect transition="in" filter="wipe(left)">
                                      <p:cBhvr>
                                        <p:cTn id="16" dur="500"/>
                                        <p:tgtEl>
                                          <p:spTgt spid="69225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92240"/>
                                        </p:tgtEl>
                                        <p:attrNameLst>
                                          <p:attrName>style.visibility</p:attrName>
                                        </p:attrNameLst>
                                      </p:cBhvr>
                                      <p:to>
                                        <p:strVal val="visible"/>
                                      </p:to>
                                    </p:set>
                                  </p:childTnLst>
                                </p:cTn>
                              </p:par>
                              <p:par>
                                <p:cTn id="21" presetID="22" presetClass="entr" presetSubtype="1" fill="hold" nodeType="withEffect">
                                  <p:stCondLst>
                                    <p:cond delay="0"/>
                                  </p:stCondLst>
                                  <p:childTnLst>
                                    <p:set>
                                      <p:cBhvr>
                                        <p:cTn id="22" dur="1" fill="hold">
                                          <p:stCondLst>
                                            <p:cond delay="0"/>
                                          </p:stCondLst>
                                        </p:cTn>
                                        <p:tgtEl>
                                          <p:spTgt spid="692249"/>
                                        </p:tgtEl>
                                        <p:attrNameLst>
                                          <p:attrName>style.visibility</p:attrName>
                                        </p:attrNameLst>
                                      </p:cBhvr>
                                      <p:to>
                                        <p:strVal val="visible"/>
                                      </p:to>
                                    </p:set>
                                    <p:animEffect transition="in" filter="wipe(up)">
                                      <p:cBhvr>
                                        <p:cTn id="23" dur="500"/>
                                        <p:tgtEl>
                                          <p:spTgt spid="69224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92245"/>
                                        </p:tgtEl>
                                        <p:attrNameLst>
                                          <p:attrName>style.visibility</p:attrName>
                                        </p:attrNameLst>
                                      </p:cBhvr>
                                      <p:to>
                                        <p:strVal val="visible"/>
                                      </p:to>
                                    </p:set>
                                  </p:childTnLst>
                                </p:cTn>
                              </p:par>
                              <p:par>
                                <p:cTn id="28" presetID="22" presetClass="entr" presetSubtype="2" fill="hold" nodeType="withEffect">
                                  <p:stCondLst>
                                    <p:cond delay="0"/>
                                  </p:stCondLst>
                                  <p:childTnLst>
                                    <p:set>
                                      <p:cBhvr>
                                        <p:cTn id="29" dur="1" fill="hold">
                                          <p:stCondLst>
                                            <p:cond delay="0"/>
                                          </p:stCondLst>
                                        </p:cTn>
                                        <p:tgtEl>
                                          <p:spTgt spid="692253"/>
                                        </p:tgtEl>
                                        <p:attrNameLst>
                                          <p:attrName>style.visibility</p:attrName>
                                        </p:attrNameLst>
                                      </p:cBhvr>
                                      <p:to>
                                        <p:strVal val="visible"/>
                                      </p:to>
                                    </p:set>
                                    <p:animEffect transition="in" filter="wipe(right)">
                                      <p:cBhvr>
                                        <p:cTn id="30" dur="500"/>
                                        <p:tgtEl>
                                          <p:spTgt spid="69225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92247"/>
                                        </p:tgtEl>
                                        <p:attrNameLst>
                                          <p:attrName>style.visibility</p:attrName>
                                        </p:attrNameLst>
                                      </p:cBhvr>
                                      <p:to>
                                        <p:strVal val="visible"/>
                                      </p:to>
                                    </p:set>
                                  </p:childTnLst>
                                </p:cTn>
                              </p:par>
                              <p:par>
                                <p:cTn id="35" presetID="22" presetClass="entr" presetSubtype="2" fill="hold" nodeType="withEffect">
                                  <p:stCondLst>
                                    <p:cond delay="0"/>
                                  </p:stCondLst>
                                  <p:childTnLst>
                                    <p:set>
                                      <p:cBhvr>
                                        <p:cTn id="36" dur="1" fill="hold">
                                          <p:stCondLst>
                                            <p:cond delay="0"/>
                                          </p:stCondLst>
                                        </p:cTn>
                                        <p:tgtEl>
                                          <p:spTgt spid="692254"/>
                                        </p:tgtEl>
                                        <p:attrNameLst>
                                          <p:attrName>style.visibility</p:attrName>
                                        </p:attrNameLst>
                                      </p:cBhvr>
                                      <p:to>
                                        <p:strVal val="visible"/>
                                      </p:to>
                                    </p:set>
                                    <p:animEffect transition="in" filter="wipe(right)">
                                      <p:cBhvr>
                                        <p:cTn id="37" dur="500"/>
                                        <p:tgtEl>
                                          <p:spTgt spid="69225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92244"/>
                                        </p:tgtEl>
                                        <p:attrNameLst>
                                          <p:attrName>style.visibility</p:attrName>
                                        </p:attrNameLst>
                                      </p:cBhvr>
                                      <p:to>
                                        <p:strVal val="visible"/>
                                      </p:to>
                                    </p:set>
                                  </p:childTnLst>
                                </p:cTn>
                              </p:par>
                              <p:par>
                                <p:cTn id="42" presetID="22" presetClass="entr" presetSubtype="4" fill="hold" nodeType="withEffect">
                                  <p:stCondLst>
                                    <p:cond delay="0"/>
                                  </p:stCondLst>
                                  <p:childTnLst>
                                    <p:set>
                                      <p:cBhvr>
                                        <p:cTn id="43" dur="1" fill="hold">
                                          <p:stCondLst>
                                            <p:cond delay="0"/>
                                          </p:stCondLst>
                                        </p:cTn>
                                        <p:tgtEl>
                                          <p:spTgt spid="692255"/>
                                        </p:tgtEl>
                                        <p:attrNameLst>
                                          <p:attrName>style.visibility</p:attrName>
                                        </p:attrNameLst>
                                      </p:cBhvr>
                                      <p:to>
                                        <p:strVal val="visible"/>
                                      </p:to>
                                    </p:set>
                                    <p:animEffect transition="in" filter="wipe(down)">
                                      <p:cBhvr>
                                        <p:cTn id="44" dur="500"/>
                                        <p:tgtEl>
                                          <p:spTgt spid="692255"/>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92246"/>
                                        </p:tgtEl>
                                        <p:attrNameLst>
                                          <p:attrName>style.visibility</p:attrName>
                                        </p:attrNameLst>
                                      </p:cBhvr>
                                      <p:to>
                                        <p:strVal val="visible"/>
                                      </p:to>
                                    </p:set>
                                  </p:childTnLst>
                                </p:cTn>
                              </p:par>
                              <p:par>
                                <p:cTn id="49" presetID="22" presetClass="entr" presetSubtype="1" fill="hold" nodeType="withEffect">
                                  <p:stCondLst>
                                    <p:cond delay="0"/>
                                  </p:stCondLst>
                                  <p:childTnLst>
                                    <p:set>
                                      <p:cBhvr>
                                        <p:cTn id="50" dur="1" fill="hold">
                                          <p:stCondLst>
                                            <p:cond delay="0"/>
                                          </p:stCondLst>
                                        </p:cTn>
                                        <p:tgtEl>
                                          <p:spTgt spid="692250"/>
                                        </p:tgtEl>
                                        <p:attrNameLst>
                                          <p:attrName>style.visibility</p:attrName>
                                        </p:attrNameLst>
                                      </p:cBhvr>
                                      <p:to>
                                        <p:strVal val="visible"/>
                                      </p:to>
                                    </p:set>
                                    <p:animEffect transition="in" filter="wipe(up)">
                                      <p:cBhvr>
                                        <p:cTn id="51" dur="500"/>
                                        <p:tgtEl>
                                          <p:spTgt spid="692250"/>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92243"/>
                                        </p:tgtEl>
                                        <p:attrNameLst>
                                          <p:attrName>style.visibility</p:attrName>
                                        </p:attrNameLst>
                                      </p:cBhvr>
                                      <p:to>
                                        <p:strVal val="visible"/>
                                      </p:to>
                                    </p:set>
                                  </p:childTnLst>
                                </p:cTn>
                              </p:par>
                              <p:par>
                                <p:cTn id="56" presetID="22" presetClass="entr" presetSubtype="4" fill="hold" nodeType="withEffect">
                                  <p:stCondLst>
                                    <p:cond delay="0"/>
                                  </p:stCondLst>
                                  <p:childTnLst>
                                    <p:set>
                                      <p:cBhvr>
                                        <p:cTn id="57" dur="1" fill="hold">
                                          <p:stCondLst>
                                            <p:cond delay="0"/>
                                          </p:stCondLst>
                                        </p:cTn>
                                        <p:tgtEl>
                                          <p:spTgt spid="692252"/>
                                        </p:tgtEl>
                                        <p:attrNameLst>
                                          <p:attrName>style.visibility</p:attrName>
                                        </p:attrNameLst>
                                      </p:cBhvr>
                                      <p:to>
                                        <p:strVal val="visible"/>
                                      </p:to>
                                    </p:set>
                                    <p:animEffect transition="in" filter="wipe(down)">
                                      <p:cBhvr>
                                        <p:cTn id="58" dur="500"/>
                                        <p:tgtEl>
                                          <p:spTgt spid="69225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692257"/>
                                        </p:tgtEl>
                                        <p:attrNameLst>
                                          <p:attrName>style.visibility</p:attrName>
                                        </p:attrNameLst>
                                      </p:cBhvr>
                                      <p:to>
                                        <p:strVal val="visible"/>
                                      </p:to>
                                    </p:set>
                                    <p:animEffect transition="in" filter="wipe(up)">
                                      <p:cBhvr>
                                        <p:cTn id="63" dur="500"/>
                                        <p:tgtEl>
                                          <p:spTgt spid="692257"/>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692263"/>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692262"/>
                                        </p:tgtEl>
                                        <p:attrNameLst>
                                          <p:attrName>style.visibility</p:attrName>
                                        </p:attrNameLst>
                                      </p:cBhvr>
                                      <p:to>
                                        <p:strVal val="visible"/>
                                      </p:to>
                                    </p:set>
                                    <p:animEffect transition="in" filter="wipe(left)">
                                      <p:cBhvr>
                                        <p:cTn id="70" dur="500"/>
                                        <p:tgtEl>
                                          <p:spTgt spid="692262"/>
                                        </p:tgtEl>
                                      </p:cBhvr>
                                    </p:animEffect>
                                  </p:childTnLst>
                                </p:cTn>
                              </p:par>
                              <p:par>
                                <p:cTn id="71" presetID="1" presetClass="entr" presetSubtype="0" fill="hold" grpId="0" nodeType="withEffect">
                                  <p:stCondLst>
                                    <p:cond delay="0"/>
                                  </p:stCondLst>
                                  <p:childTnLst>
                                    <p:set>
                                      <p:cBhvr>
                                        <p:cTn id="72" dur="1" fill="hold">
                                          <p:stCondLst>
                                            <p:cond delay="0"/>
                                          </p:stCondLst>
                                        </p:cTn>
                                        <p:tgtEl>
                                          <p:spTgt spid="692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34" grpId="0" animBg="1"/>
      <p:bldP spid="692240" grpId="0" animBg="1"/>
      <p:bldP spid="692241" grpId="0" animBg="1"/>
      <p:bldP spid="692242" grpId="0" animBg="1"/>
      <p:bldP spid="692243" grpId="0" animBg="1"/>
      <p:bldP spid="692244" grpId="0" animBg="1"/>
      <p:bldP spid="692245" grpId="0" animBg="1"/>
      <p:bldP spid="692246" grpId="0" animBg="1"/>
      <p:bldP spid="692247" grpId="0" animBg="1"/>
      <p:bldP spid="69226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D91A4-49EE-2748-970C-4909E205979E}"/>
              </a:ext>
            </a:extLst>
          </p:cNvPr>
          <p:cNvSpPr>
            <a:spLocks noGrp="1"/>
          </p:cNvSpPr>
          <p:nvPr>
            <p:ph type="title"/>
          </p:nvPr>
        </p:nvSpPr>
        <p:spPr/>
        <p:txBody>
          <a:bodyPr/>
          <a:lstStyle/>
          <a:p>
            <a:r>
              <a:rPr lang="en-US" dirty="0"/>
              <a:t>Model Types</a:t>
            </a:r>
          </a:p>
        </p:txBody>
      </p:sp>
      <p:sp>
        <p:nvSpPr>
          <p:cNvPr id="3" name="Content Placeholder 2">
            <a:extLst>
              <a:ext uri="{FF2B5EF4-FFF2-40B4-BE49-F238E27FC236}">
                <a16:creationId xmlns:a16="http://schemas.microsoft.com/office/drawing/2014/main" id="{CCD931C1-A4FE-4F45-9043-45183871456B}"/>
              </a:ext>
            </a:extLst>
          </p:cNvPr>
          <p:cNvSpPr>
            <a:spLocks noGrp="1"/>
          </p:cNvSpPr>
          <p:nvPr>
            <p:ph idx="1"/>
          </p:nvPr>
        </p:nvSpPr>
        <p:spPr>
          <a:xfrm>
            <a:off x="2364432" y="1417638"/>
            <a:ext cx="7495494" cy="4983162"/>
          </a:xfrm>
        </p:spPr>
        <p:txBody>
          <a:bodyPr>
            <a:normAutofit/>
          </a:bodyPr>
          <a:lstStyle/>
          <a:p>
            <a:pPr>
              <a:spcBef>
                <a:spcPts val="600"/>
              </a:spcBef>
            </a:pPr>
            <a:r>
              <a:rPr lang="en-US" dirty="0"/>
              <a:t>Decision trees</a:t>
            </a:r>
          </a:p>
          <a:p>
            <a:pPr lvl="1">
              <a:spcBef>
                <a:spcPts val="600"/>
              </a:spcBef>
            </a:pPr>
            <a:r>
              <a:rPr lang="en-US" altLang="en-US" dirty="0"/>
              <a:t>Schematic representation of uncertain events/consequences of different alternatives</a:t>
            </a:r>
          </a:p>
          <a:p>
            <a:pPr>
              <a:spcBef>
                <a:spcPts val="1800"/>
              </a:spcBef>
            </a:pPr>
            <a:r>
              <a:rPr lang="en-US" dirty="0"/>
              <a:t>Cohort state transition models</a:t>
            </a:r>
          </a:p>
          <a:p>
            <a:pPr lvl="1">
              <a:spcBef>
                <a:spcPts val="600"/>
              </a:spcBef>
            </a:pPr>
            <a:r>
              <a:rPr lang="en-US" dirty="0"/>
              <a:t>Dynamic model that captures disease progression and other events</a:t>
            </a:r>
          </a:p>
          <a:p>
            <a:pPr lvl="1">
              <a:spcBef>
                <a:spcPts val="600"/>
              </a:spcBef>
            </a:pPr>
            <a:r>
              <a:rPr lang="en-US" dirty="0"/>
              <a:t>Simulates a homogeneous cohort</a:t>
            </a:r>
          </a:p>
          <a:p>
            <a:pPr lvl="1">
              <a:spcBef>
                <a:spcPts val="600"/>
              </a:spcBef>
            </a:pPr>
            <a:r>
              <a:rPr lang="en-US" dirty="0"/>
              <a:t>Usually deterministic</a:t>
            </a:r>
          </a:p>
          <a:p>
            <a:pPr>
              <a:spcBef>
                <a:spcPts val="1800"/>
              </a:spcBef>
            </a:pPr>
            <a:r>
              <a:rPr lang="en-US" dirty="0"/>
              <a:t>Individual-based models / microsimulation</a:t>
            </a:r>
          </a:p>
          <a:p>
            <a:pPr lvl="1">
              <a:spcBef>
                <a:spcPts val="600"/>
              </a:spcBef>
            </a:pPr>
            <a:r>
              <a:rPr lang="en-US" dirty="0"/>
              <a:t>Stochastic dynamic model</a:t>
            </a:r>
          </a:p>
          <a:p>
            <a:pPr lvl="1">
              <a:spcBef>
                <a:spcPts val="600"/>
              </a:spcBef>
            </a:pPr>
            <a:r>
              <a:rPr lang="en-US" dirty="0"/>
              <a:t>Simulates individuals</a:t>
            </a:r>
          </a:p>
          <a:p>
            <a:pPr lvl="1">
              <a:spcBef>
                <a:spcPts val="600"/>
              </a:spcBef>
            </a:pPr>
            <a:r>
              <a:rPr lang="en-US" dirty="0"/>
              <a:t>Most flexible model type</a:t>
            </a:r>
          </a:p>
        </p:txBody>
      </p:sp>
      <p:sp>
        <p:nvSpPr>
          <p:cNvPr id="4" name="Slide Number Placeholder 3">
            <a:extLst>
              <a:ext uri="{FF2B5EF4-FFF2-40B4-BE49-F238E27FC236}">
                <a16:creationId xmlns:a16="http://schemas.microsoft.com/office/drawing/2014/main" id="{4C2F9C6E-0119-AD42-BCFF-D1934D1D39B8}"/>
              </a:ext>
            </a:extLst>
          </p:cNvPr>
          <p:cNvSpPr>
            <a:spLocks noGrp="1"/>
          </p:cNvSpPr>
          <p:nvPr>
            <p:ph type="sldNum" sz="quarter" idx="12"/>
          </p:nvPr>
        </p:nvSpPr>
        <p:spPr/>
        <p:txBody>
          <a:bodyPr/>
          <a:lstStyle/>
          <a:p>
            <a:fld id="{0798D939-2D9E-2142-A80A-FFDECD1E5A9B}" type="slidenum">
              <a:rPr lang="en-US">
                <a:latin typeface="Verdana"/>
              </a:rPr>
              <a:pPr/>
              <a:t>6</a:t>
            </a:fld>
            <a:endParaRPr lang="en-US">
              <a:latin typeface="Verdana"/>
            </a:endParaRPr>
          </a:p>
        </p:txBody>
      </p:sp>
    </p:spTree>
    <p:extLst>
      <p:ext uri="{BB962C8B-B14F-4D97-AF65-F5344CB8AC3E}">
        <p14:creationId xmlns:p14="http://schemas.microsoft.com/office/powerpoint/2010/main" val="338172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Shape 932"/>
          <p:cNvSpPr txBox="1">
            <a:spLocks noGrp="1"/>
          </p:cNvSpPr>
          <p:nvPr>
            <p:ph type="title"/>
          </p:nvPr>
        </p:nvSpPr>
        <p:spPr>
          <a:prstGeom prst="rect">
            <a:avLst/>
          </a:prstGeom>
        </p:spPr>
        <p:txBody>
          <a:bodyPr spcFirstLastPara="1" vert="horz" wrap="square" lIns="91425" tIns="91425" rIns="91425" bIns="91425" rtlCol="0" anchor="ctr" anchorCtr="0">
            <a:noAutofit/>
          </a:bodyPr>
          <a:lstStyle/>
          <a:p>
            <a:r>
              <a:rPr lang="nl-NL" dirty="0"/>
              <a:t>Analysis </a:t>
            </a:r>
            <a:r>
              <a:rPr lang="nl-NL" dirty="0" err="1"/>
              <a:t>Outcomes</a:t>
            </a:r>
            <a:endParaRPr dirty="0"/>
          </a:p>
        </p:txBody>
      </p:sp>
    </p:spTree>
    <p:extLst>
      <p:ext uri="{BB962C8B-B14F-4D97-AF65-F5344CB8AC3E}">
        <p14:creationId xmlns:p14="http://schemas.microsoft.com/office/powerpoint/2010/main" val="964936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64C4-5AE5-D943-8E71-FEB92763E02D}"/>
              </a:ext>
            </a:extLst>
          </p:cNvPr>
          <p:cNvSpPr>
            <a:spLocks noGrp="1"/>
          </p:cNvSpPr>
          <p:nvPr>
            <p:ph type="title"/>
          </p:nvPr>
        </p:nvSpPr>
        <p:spPr/>
        <p:txBody>
          <a:bodyPr/>
          <a:lstStyle/>
          <a:p>
            <a:r>
              <a:rPr lang="en-US" dirty="0"/>
              <a:t>Health Outcomes</a:t>
            </a:r>
          </a:p>
        </p:txBody>
      </p:sp>
      <p:sp>
        <p:nvSpPr>
          <p:cNvPr id="3" name="Content Placeholder 2">
            <a:extLst>
              <a:ext uri="{FF2B5EF4-FFF2-40B4-BE49-F238E27FC236}">
                <a16:creationId xmlns:a16="http://schemas.microsoft.com/office/drawing/2014/main" id="{B787C7C4-B740-204F-9C54-0B0D94ED4095}"/>
              </a:ext>
            </a:extLst>
          </p:cNvPr>
          <p:cNvSpPr>
            <a:spLocks noGrp="1"/>
          </p:cNvSpPr>
          <p:nvPr>
            <p:ph idx="1"/>
          </p:nvPr>
        </p:nvSpPr>
        <p:spPr/>
        <p:txBody>
          <a:bodyPr/>
          <a:lstStyle/>
          <a:p>
            <a:pPr>
              <a:spcBef>
                <a:spcPts val="600"/>
              </a:spcBef>
            </a:pPr>
            <a:r>
              <a:rPr lang="en-US" dirty="0"/>
              <a:t>Disease-specific</a:t>
            </a:r>
          </a:p>
          <a:p>
            <a:pPr lvl="1">
              <a:spcBef>
                <a:spcPts val="600"/>
              </a:spcBef>
            </a:pPr>
            <a:r>
              <a:rPr lang="en-US" dirty="0"/>
              <a:t>Intermediate clinical markers</a:t>
            </a:r>
          </a:p>
          <a:p>
            <a:pPr lvl="1">
              <a:spcBef>
                <a:spcPts val="600"/>
              </a:spcBef>
            </a:pPr>
            <a:r>
              <a:rPr lang="en-US" dirty="0"/>
              <a:t>Cases averted</a:t>
            </a:r>
          </a:p>
          <a:p>
            <a:pPr lvl="1">
              <a:spcBef>
                <a:spcPts val="600"/>
              </a:spcBef>
              <a:spcAft>
                <a:spcPts val="1200"/>
              </a:spcAft>
            </a:pPr>
            <a:r>
              <a:rPr lang="en-US" dirty="0"/>
              <a:t>Events averted</a:t>
            </a:r>
          </a:p>
          <a:p>
            <a:pPr>
              <a:spcBef>
                <a:spcPts val="600"/>
              </a:spcBef>
            </a:pPr>
            <a:r>
              <a:rPr lang="en-US" dirty="0"/>
              <a:t>Generic</a:t>
            </a:r>
          </a:p>
          <a:p>
            <a:pPr lvl="1">
              <a:spcBef>
                <a:spcPts val="600"/>
              </a:spcBef>
            </a:pPr>
            <a:r>
              <a:rPr lang="en-US" dirty="0"/>
              <a:t>Lives saved / deaths averted</a:t>
            </a:r>
          </a:p>
          <a:p>
            <a:pPr lvl="1">
              <a:spcBef>
                <a:spcPts val="600"/>
              </a:spcBef>
            </a:pPr>
            <a:r>
              <a:rPr lang="en-US" dirty="0"/>
              <a:t>Life-years gained</a:t>
            </a:r>
          </a:p>
          <a:p>
            <a:pPr lvl="1">
              <a:spcBef>
                <a:spcPts val="600"/>
              </a:spcBef>
              <a:spcAft>
                <a:spcPts val="600"/>
              </a:spcAft>
            </a:pPr>
            <a:r>
              <a:rPr lang="en-US" dirty="0"/>
              <a:t>Quality-adjusted life-years (QALYs) gained</a:t>
            </a:r>
          </a:p>
        </p:txBody>
      </p:sp>
      <p:sp>
        <p:nvSpPr>
          <p:cNvPr id="4" name="Slide Number Placeholder 3">
            <a:extLst>
              <a:ext uri="{FF2B5EF4-FFF2-40B4-BE49-F238E27FC236}">
                <a16:creationId xmlns:a16="http://schemas.microsoft.com/office/drawing/2014/main" id="{57ADE689-48EA-F547-B333-579E65EAF41A}"/>
              </a:ext>
            </a:extLst>
          </p:cNvPr>
          <p:cNvSpPr>
            <a:spLocks noGrp="1"/>
          </p:cNvSpPr>
          <p:nvPr>
            <p:ph type="sldNum" sz="quarter" idx="12"/>
          </p:nvPr>
        </p:nvSpPr>
        <p:spPr/>
        <p:txBody>
          <a:bodyPr/>
          <a:lstStyle/>
          <a:p>
            <a:fld id="{0798D939-2D9E-2142-A80A-FFDECD1E5A9B}" type="slidenum">
              <a:rPr lang="en-US">
                <a:latin typeface="Verdana"/>
              </a:rPr>
              <a:pPr/>
              <a:t>8</a:t>
            </a:fld>
            <a:endParaRPr lang="en-US">
              <a:latin typeface="Verdana"/>
            </a:endParaRPr>
          </a:p>
        </p:txBody>
      </p:sp>
    </p:spTree>
    <p:extLst>
      <p:ext uri="{BB962C8B-B14F-4D97-AF65-F5344CB8AC3E}">
        <p14:creationId xmlns:p14="http://schemas.microsoft.com/office/powerpoint/2010/main" val="2350417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a:xfrm>
            <a:off x="2370138" y="381000"/>
            <a:ext cx="7315200" cy="9906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Autofit/>
          </a:bodyPr>
          <a:lstStyle/>
          <a:p>
            <a:r>
              <a:rPr lang="en-US" altLang="en-US" sz="4000" dirty="0"/>
              <a:t>Quality-Adjusted Life-Years</a:t>
            </a:r>
          </a:p>
        </p:txBody>
      </p:sp>
      <p:sp>
        <p:nvSpPr>
          <p:cNvPr id="2" name="Slide Number Placeholder 1"/>
          <p:cNvSpPr>
            <a:spLocks noGrp="1"/>
          </p:cNvSpPr>
          <p:nvPr>
            <p:ph type="sldNum" sz="quarter" idx="12"/>
          </p:nvPr>
        </p:nvSpPr>
        <p:spPr/>
        <p:txBody>
          <a:bodyPr/>
          <a:lstStyle/>
          <a:p>
            <a:fld id="{0798D939-2D9E-2142-A80A-FFDECD1E5A9B}" type="slidenum">
              <a:rPr lang="en-US">
                <a:latin typeface="Verdana"/>
              </a:rPr>
              <a:pPr/>
              <a:t>9</a:t>
            </a:fld>
            <a:endParaRPr lang="en-US">
              <a:latin typeface="Verdana"/>
            </a:endParaRPr>
          </a:p>
        </p:txBody>
      </p:sp>
      <p:sp>
        <p:nvSpPr>
          <p:cNvPr id="505859" name="Rectangle 3"/>
          <p:cNvSpPr>
            <a:spLocks noChangeArrowheads="1"/>
          </p:cNvSpPr>
          <p:nvPr/>
        </p:nvSpPr>
        <p:spPr bwMode="auto">
          <a:xfrm>
            <a:off x="3257550" y="1606550"/>
            <a:ext cx="1612900" cy="2730500"/>
          </a:xfrm>
          <a:prstGeom prst="rect">
            <a:avLst/>
          </a:prstGeom>
          <a:solidFill>
            <a:srgbClr val="00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dirty="0">
                <a:solidFill>
                  <a:srgbClr val="000000"/>
                </a:solidFill>
                <a:latin typeface="Verdana"/>
              </a:rPr>
              <a:t>1.0</a:t>
            </a:r>
          </a:p>
        </p:txBody>
      </p:sp>
      <p:sp>
        <p:nvSpPr>
          <p:cNvPr id="505860" name="Rectangle 4"/>
          <p:cNvSpPr>
            <a:spLocks noChangeArrowheads="1"/>
          </p:cNvSpPr>
          <p:nvPr/>
        </p:nvSpPr>
        <p:spPr bwMode="auto">
          <a:xfrm>
            <a:off x="4868863" y="2368550"/>
            <a:ext cx="1206500" cy="1968500"/>
          </a:xfrm>
          <a:prstGeom prst="rect">
            <a:avLst/>
          </a:prstGeom>
          <a:solidFill>
            <a:srgbClr val="FF00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spcBef>
                <a:spcPct val="50000"/>
              </a:spcBef>
            </a:pPr>
            <a:r>
              <a:rPr lang="en-US" altLang="en-US" sz="2400">
                <a:solidFill>
                  <a:srgbClr val="000000"/>
                </a:solidFill>
                <a:latin typeface="Verdana"/>
              </a:rPr>
              <a:t>0.7</a:t>
            </a:r>
          </a:p>
        </p:txBody>
      </p:sp>
      <p:sp>
        <p:nvSpPr>
          <p:cNvPr id="505861" name="Rectangle 5"/>
          <p:cNvSpPr>
            <a:spLocks noChangeArrowheads="1"/>
          </p:cNvSpPr>
          <p:nvPr/>
        </p:nvSpPr>
        <p:spPr bwMode="auto">
          <a:xfrm>
            <a:off x="6075363" y="3511550"/>
            <a:ext cx="800100" cy="825500"/>
          </a:xfrm>
          <a:prstGeom prst="rect">
            <a:avLst/>
          </a:prstGeom>
          <a:solidFill>
            <a:srgbClr val="6BF46E"/>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spcBef>
                <a:spcPct val="50000"/>
              </a:spcBef>
            </a:pPr>
            <a:r>
              <a:rPr lang="en-US" altLang="en-US" sz="2400">
                <a:solidFill>
                  <a:srgbClr val="000000"/>
                </a:solidFill>
                <a:latin typeface="Verdana"/>
              </a:rPr>
              <a:t>0.3</a:t>
            </a:r>
          </a:p>
        </p:txBody>
      </p:sp>
      <p:sp>
        <p:nvSpPr>
          <p:cNvPr id="505862" name="Rectangle 6"/>
          <p:cNvSpPr>
            <a:spLocks noChangeArrowheads="1"/>
          </p:cNvSpPr>
          <p:nvPr/>
        </p:nvSpPr>
        <p:spPr bwMode="auto">
          <a:xfrm>
            <a:off x="6880225" y="1835150"/>
            <a:ext cx="2019300" cy="2501900"/>
          </a:xfrm>
          <a:prstGeom prst="rect">
            <a:avLst/>
          </a:prstGeom>
          <a:solidFill>
            <a:srgbClr val="FFC000"/>
          </a:solidFill>
          <a:ln w="12700">
            <a:solidFill>
              <a:srgbClr val="000000"/>
            </a:solidFill>
            <a:miter lim="800000"/>
            <a:headEnd/>
            <a:tailEnd/>
          </a:ln>
          <a:effectLst/>
        </p:spPr>
        <p:txBody>
          <a:bodyPr wrap="none" lIns="90488" tIns="44450" rIns="90488" bIns="44450" anchor="ctr"/>
          <a:lstStyle/>
          <a:p>
            <a:pPr algn="ctr" eaLnBrk="0" hangingPunct="0">
              <a:spcBef>
                <a:spcPct val="50000"/>
              </a:spcBef>
            </a:pPr>
            <a:r>
              <a:rPr lang="en-US" altLang="en-US" sz="2400" dirty="0">
                <a:solidFill>
                  <a:srgbClr val="000000"/>
                </a:solidFill>
                <a:latin typeface="Verdana"/>
              </a:rPr>
              <a:t>0.9</a:t>
            </a:r>
          </a:p>
        </p:txBody>
      </p:sp>
      <p:sp>
        <p:nvSpPr>
          <p:cNvPr id="505863" name="Line 7"/>
          <p:cNvSpPr>
            <a:spLocks noChangeShapeType="1"/>
          </p:cNvSpPr>
          <p:nvPr/>
        </p:nvSpPr>
        <p:spPr bwMode="auto">
          <a:xfrm flipV="1">
            <a:off x="4876800" y="4491038"/>
            <a:ext cx="0" cy="4683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solidFill>
                <a:prstClr val="black"/>
              </a:solidFill>
              <a:latin typeface="Verdana"/>
            </a:endParaRPr>
          </a:p>
        </p:txBody>
      </p:sp>
      <p:sp>
        <p:nvSpPr>
          <p:cNvPr id="505864" name="Line 8"/>
          <p:cNvSpPr>
            <a:spLocks noChangeShapeType="1"/>
          </p:cNvSpPr>
          <p:nvPr/>
        </p:nvSpPr>
        <p:spPr bwMode="auto">
          <a:xfrm flipV="1">
            <a:off x="6096000" y="4491038"/>
            <a:ext cx="0" cy="4683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solidFill>
                <a:prstClr val="black"/>
              </a:solidFill>
              <a:latin typeface="Verdana"/>
            </a:endParaRPr>
          </a:p>
        </p:txBody>
      </p:sp>
      <p:sp>
        <p:nvSpPr>
          <p:cNvPr id="505865" name="Line 9"/>
          <p:cNvSpPr>
            <a:spLocks noChangeShapeType="1"/>
          </p:cNvSpPr>
          <p:nvPr/>
        </p:nvSpPr>
        <p:spPr bwMode="auto">
          <a:xfrm flipV="1">
            <a:off x="6908800" y="4491038"/>
            <a:ext cx="0" cy="4683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solidFill>
                <a:prstClr val="black"/>
              </a:solidFill>
              <a:latin typeface="Verdana"/>
            </a:endParaRPr>
          </a:p>
        </p:txBody>
      </p:sp>
      <p:sp>
        <p:nvSpPr>
          <p:cNvPr id="505866" name="Line 10"/>
          <p:cNvSpPr>
            <a:spLocks noChangeShapeType="1"/>
          </p:cNvSpPr>
          <p:nvPr/>
        </p:nvSpPr>
        <p:spPr bwMode="auto">
          <a:xfrm flipV="1">
            <a:off x="8940800" y="4491038"/>
            <a:ext cx="0" cy="4683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solidFill>
                <a:prstClr val="black"/>
              </a:solidFill>
              <a:latin typeface="Verdana"/>
            </a:endParaRPr>
          </a:p>
        </p:txBody>
      </p:sp>
      <p:sp>
        <p:nvSpPr>
          <p:cNvPr id="505867" name="Line 11"/>
          <p:cNvSpPr>
            <a:spLocks noChangeShapeType="1"/>
          </p:cNvSpPr>
          <p:nvPr/>
        </p:nvSpPr>
        <p:spPr bwMode="auto">
          <a:xfrm flipV="1">
            <a:off x="3251200" y="4491038"/>
            <a:ext cx="0" cy="4683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solidFill>
                <a:prstClr val="black"/>
              </a:solidFill>
              <a:latin typeface="Verdana"/>
            </a:endParaRPr>
          </a:p>
        </p:txBody>
      </p:sp>
      <p:sp>
        <p:nvSpPr>
          <p:cNvPr id="505868" name="Rectangle 12"/>
          <p:cNvSpPr>
            <a:spLocks noChangeArrowheads="1"/>
          </p:cNvSpPr>
          <p:nvPr/>
        </p:nvSpPr>
        <p:spPr bwMode="auto">
          <a:xfrm>
            <a:off x="3062288" y="5014914"/>
            <a:ext cx="37831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75000"/>
              </a:lnSpc>
            </a:pPr>
            <a:r>
              <a:rPr lang="en-US" altLang="en-US" sz="2400">
                <a:solidFill>
                  <a:prstClr val="black"/>
                </a:solidFill>
                <a:latin typeface="Verdana"/>
              </a:rPr>
              <a:t>0</a:t>
            </a:r>
          </a:p>
        </p:txBody>
      </p:sp>
      <p:sp>
        <p:nvSpPr>
          <p:cNvPr id="505869" name="Rectangle 13"/>
          <p:cNvSpPr>
            <a:spLocks noChangeArrowheads="1"/>
          </p:cNvSpPr>
          <p:nvPr/>
        </p:nvSpPr>
        <p:spPr bwMode="auto">
          <a:xfrm>
            <a:off x="4703763" y="5018089"/>
            <a:ext cx="37831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75000"/>
              </a:lnSpc>
            </a:pPr>
            <a:r>
              <a:rPr lang="en-US" altLang="en-US" sz="2400">
                <a:solidFill>
                  <a:prstClr val="black"/>
                </a:solidFill>
                <a:latin typeface="Verdana"/>
              </a:rPr>
              <a:t>2</a:t>
            </a:r>
          </a:p>
        </p:txBody>
      </p:sp>
      <p:sp>
        <p:nvSpPr>
          <p:cNvPr id="505870" name="Rectangle 14"/>
          <p:cNvSpPr>
            <a:spLocks noChangeArrowheads="1"/>
          </p:cNvSpPr>
          <p:nvPr/>
        </p:nvSpPr>
        <p:spPr bwMode="auto">
          <a:xfrm>
            <a:off x="5745163" y="5014914"/>
            <a:ext cx="68608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75000"/>
              </a:lnSpc>
            </a:pPr>
            <a:r>
              <a:rPr lang="en-US" altLang="en-US" sz="2400">
                <a:solidFill>
                  <a:prstClr val="black"/>
                </a:solidFill>
                <a:latin typeface="Verdana"/>
              </a:rPr>
              <a:t>3.5</a:t>
            </a:r>
          </a:p>
        </p:txBody>
      </p:sp>
      <p:sp>
        <p:nvSpPr>
          <p:cNvPr id="505871" name="Rectangle 15"/>
          <p:cNvSpPr>
            <a:spLocks noChangeArrowheads="1"/>
          </p:cNvSpPr>
          <p:nvPr/>
        </p:nvSpPr>
        <p:spPr bwMode="auto">
          <a:xfrm>
            <a:off x="6624638" y="5014914"/>
            <a:ext cx="68608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75000"/>
              </a:lnSpc>
            </a:pPr>
            <a:r>
              <a:rPr lang="en-US" altLang="en-US" sz="2400">
                <a:solidFill>
                  <a:prstClr val="black"/>
                </a:solidFill>
                <a:latin typeface="Verdana"/>
              </a:rPr>
              <a:t>4.5</a:t>
            </a:r>
          </a:p>
        </p:txBody>
      </p:sp>
      <p:sp>
        <p:nvSpPr>
          <p:cNvPr id="505872" name="Rectangle 16"/>
          <p:cNvSpPr>
            <a:spLocks noChangeArrowheads="1"/>
          </p:cNvSpPr>
          <p:nvPr/>
        </p:nvSpPr>
        <p:spPr bwMode="auto">
          <a:xfrm>
            <a:off x="8718550" y="5014914"/>
            <a:ext cx="37831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75000"/>
              </a:lnSpc>
            </a:pPr>
            <a:r>
              <a:rPr lang="en-US" altLang="en-US" sz="2400">
                <a:solidFill>
                  <a:prstClr val="black"/>
                </a:solidFill>
                <a:latin typeface="Verdana"/>
              </a:rPr>
              <a:t>7</a:t>
            </a:r>
          </a:p>
        </p:txBody>
      </p:sp>
      <p:sp>
        <p:nvSpPr>
          <p:cNvPr id="505873" name="Rectangle 17"/>
          <p:cNvSpPr>
            <a:spLocks noChangeArrowheads="1"/>
          </p:cNvSpPr>
          <p:nvPr/>
        </p:nvSpPr>
        <p:spPr bwMode="auto">
          <a:xfrm>
            <a:off x="2176041" y="5878215"/>
            <a:ext cx="160020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r>
              <a:rPr lang="en-US" altLang="en-US" sz="2400" dirty="0">
                <a:solidFill>
                  <a:prstClr val="black"/>
                </a:solidFill>
                <a:latin typeface="Verdana"/>
              </a:rPr>
              <a:t>QALYs =</a:t>
            </a:r>
          </a:p>
        </p:txBody>
      </p:sp>
      <p:sp>
        <p:nvSpPr>
          <p:cNvPr id="505874" name="Rectangle 18"/>
          <p:cNvSpPr>
            <a:spLocks noChangeArrowheads="1"/>
          </p:cNvSpPr>
          <p:nvPr/>
        </p:nvSpPr>
        <p:spPr bwMode="auto">
          <a:xfrm>
            <a:off x="2199262" y="5109914"/>
            <a:ext cx="1391042" cy="597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lnSpc>
                <a:spcPct val="75000"/>
              </a:lnSpc>
            </a:pPr>
            <a:r>
              <a:rPr lang="en-US" altLang="en-US" sz="2200" dirty="0">
                <a:solidFill>
                  <a:prstClr val="black"/>
                </a:solidFill>
                <a:latin typeface="Verdana"/>
              </a:rPr>
              <a:t>Time</a:t>
            </a:r>
          </a:p>
          <a:p>
            <a:pPr eaLnBrk="0" hangingPunct="0">
              <a:lnSpc>
                <a:spcPct val="75000"/>
              </a:lnSpc>
            </a:pPr>
            <a:r>
              <a:rPr lang="en-US" altLang="en-US" sz="2200" dirty="0">
                <a:solidFill>
                  <a:prstClr val="black"/>
                </a:solidFill>
                <a:latin typeface="Verdana"/>
              </a:rPr>
              <a:t>(years)</a:t>
            </a:r>
          </a:p>
        </p:txBody>
      </p:sp>
      <p:sp>
        <p:nvSpPr>
          <p:cNvPr id="505875" name="Line 19"/>
          <p:cNvSpPr>
            <a:spLocks noChangeShapeType="1"/>
          </p:cNvSpPr>
          <p:nvPr/>
        </p:nvSpPr>
        <p:spPr bwMode="auto">
          <a:xfrm>
            <a:off x="3276600" y="4332288"/>
            <a:ext cx="561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solidFill>
                <a:prstClr val="black"/>
              </a:solidFill>
              <a:latin typeface="Verdana"/>
            </a:endParaRPr>
          </a:p>
        </p:txBody>
      </p:sp>
      <p:sp>
        <p:nvSpPr>
          <p:cNvPr id="505876" name="Text Box 20"/>
          <p:cNvSpPr txBox="1">
            <a:spLocks noChangeArrowheads="1"/>
          </p:cNvSpPr>
          <p:nvPr/>
        </p:nvSpPr>
        <p:spPr bwMode="auto">
          <a:xfrm>
            <a:off x="4134262" y="5249218"/>
            <a:ext cx="365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solidFill>
                  <a:prstClr val="black"/>
                </a:solidFill>
                <a:latin typeface="Verdana"/>
                <a:sym typeface="Symbol" panose="05050102010706020507" pitchFamily="18" charset="2"/>
              </a:rPr>
              <a:t>  </a:t>
            </a:r>
            <a:r>
              <a:rPr lang="en-US" altLang="en-US" sz="2400" dirty="0">
                <a:solidFill>
                  <a:prstClr val="black"/>
                </a:solidFill>
                <a:latin typeface="Verdana"/>
              </a:rPr>
              <a:t>Life span  </a:t>
            </a:r>
            <a:r>
              <a:rPr lang="en-US" altLang="en-US" sz="2400" dirty="0">
                <a:solidFill>
                  <a:prstClr val="black"/>
                </a:solidFill>
                <a:latin typeface="Verdana"/>
                <a:sym typeface="Symbol" panose="05050102010706020507" pitchFamily="18" charset="2"/>
              </a:rPr>
              <a:t></a:t>
            </a:r>
            <a:endParaRPr lang="en-US" altLang="en-US" sz="2400" dirty="0">
              <a:solidFill>
                <a:prstClr val="black"/>
              </a:solidFill>
              <a:latin typeface="Verdana"/>
            </a:endParaRPr>
          </a:p>
        </p:txBody>
      </p:sp>
      <p:sp>
        <p:nvSpPr>
          <p:cNvPr id="505877" name="Rectangle 21"/>
          <p:cNvSpPr>
            <a:spLocks noChangeArrowheads="1"/>
          </p:cNvSpPr>
          <p:nvPr/>
        </p:nvSpPr>
        <p:spPr bwMode="auto">
          <a:xfrm>
            <a:off x="3503272" y="5878215"/>
            <a:ext cx="126198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r>
              <a:rPr lang="en-US" altLang="en-US" sz="2400" dirty="0">
                <a:solidFill>
                  <a:prstClr val="black"/>
                </a:solidFill>
                <a:latin typeface="Verdana"/>
              </a:rPr>
              <a:t>(2)(1)</a:t>
            </a:r>
          </a:p>
        </p:txBody>
      </p:sp>
      <p:sp>
        <p:nvSpPr>
          <p:cNvPr id="505878" name="Rectangle 22"/>
          <p:cNvSpPr>
            <a:spLocks noChangeArrowheads="1"/>
          </p:cNvSpPr>
          <p:nvPr/>
        </p:nvSpPr>
        <p:spPr bwMode="auto">
          <a:xfrm>
            <a:off x="4462041" y="5878215"/>
            <a:ext cx="187702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r>
              <a:rPr lang="en-US" altLang="en-US" sz="2400" dirty="0">
                <a:solidFill>
                  <a:prstClr val="black"/>
                </a:solidFill>
                <a:latin typeface="Verdana"/>
              </a:rPr>
              <a:t>+(1.5)(.7)</a:t>
            </a:r>
          </a:p>
        </p:txBody>
      </p:sp>
      <p:sp>
        <p:nvSpPr>
          <p:cNvPr id="505879" name="Rectangle 23"/>
          <p:cNvSpPr>
            <a:spLocks noChangeArrowheads="1"/>
          </p:cNvSpPr>
          <p:nvPr/>
        </p:nvSpPr>
        <p:spPr bwMode="auto">
          <a:xfrm>
            <a:off x="6092404" y="5878215"/>
            <a:ext cx="156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r>
              <a:rPr lang="en-US" altLang="en-US" sz="2400" dirty="0">
                <a:solidFill>
                  <a:prstClr val="black"/>
                </a:solidFill>
                <a:latin typeface="Verdana"/>
              </a:rPr>
              <a:t>+(1)(.3)</a:t>
            </a:r>
          </a:p>
        </p:txBody>
      </p:sp>
      <p:sp>
        <p:nvSpPr>
          <p:cNvPr id="505880" name="Rectangle 24"/>
          <p:cNvSpPr>
            <a:spLocks noChangeArrowheads="1"/>
          </p:cNvSpPr>
          <p:nvPr/>
        </p:nvSpPr>
        <p:spPr bwMode="auto">
          <a:xfrm>
            <a:off x="7346067" y="5878215"/>
            <a:ext cx="189117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r>
              <a:rPr lang="en-US" altLang="en-US" sz="2400" dirty="0">
                <a:solidFill>
                  <a:prstClr val="black"/>
                </a:solidFill>
                <a:latin typeface="Verdana"/>
              </a:rPr>
              <a:t>+(2.5)(.9)</a:t>
            </a:r>
          </a:p>
        </p:txBody>
      </p:sp>
      <p:sp>
        <p:nvSpPr>
          <p:cNvPr id="505881" name="Rectangle 25"/>
          <p:cNvSpPr>
            <a:spLocks noChangeArrowheads="1"/>
          </p:cNvSpPr>
          <p:nvPr/>
        </p:nvSpPr>
        <p:spPr bwMode="auto">
          <a:xfrm>
            <a:off x="8985113" y="5878215"/>
            <a:ext cx="19028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r>
              <a:rPr lang="en-US" altLang="en-US" sz="2400" dirty="0">
                <a:solidFill>
                  <a:prstClr val="black"/>
                </a:solidFill>
                <a:latin typeface="Verdana"/>
              </a:rPr>
              <a:t>= 5.6</a:t>
            </a:r>
          </a:p>
        </p:txBody>
      </p:sp>
    </p:spTree>
    <p:extLst>
      <p:ext uri="{BB962C8B-B14F-4D97-AF65-F5344CB8AC3E}">
        <p14:creationId xmlns:p14="http://schemas.microsoft.com/office/powerpoint/2010/main" val="38108702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5876"/>
                                        </p:tgtEl>
                                        <p:attrNameLst>
                                          <p:attrName>style.visibility</p:attrName>
                                        </p:attrNameLst>
                                      </p:cBhvr>
                                      <p:to>
                                        <p:strVal val="visible"/>
                                      </p:to>
                                    </p:set>
                                    <p:anim calcmode="lin" valueType="num">
                                      <p:cBhvr additive="base">
                                        <p:cTn id="7" dur="500" fill="hold"/>
                                        <p:tgtEl>
                                          <p:spTgt spid="505876"/>
                                        </p:tgtEl>
                                        <p:attrNameLst>
                                          <p:attrName>ppt_x</p:attrName>
                                        </p:attrNameLst>
                                      </p:cBhvr>
                                      <p:tavLst>
                                        <p:tav tm="0">
                                          <p:val>
                                            <p:strVal val="#ppt_x"/>
                                          </p:val>
                                        </p:tav>
                                        <p:tav tm="100000">
                                          <p:val>
                                            <p:strVal val="#ppt_x"/>
                                          </p:val>
                                        </p:tav>
                                      </p:tavLst>
                                    </p:anim>
                                    <p:anim calcmode="lin" valueType="num">
                                      <p:cBhvr additive="base">
                                        <p:cTn id="8" dur="500" fill="hold"/>
                                        <p:tgtEl>
                                          <p:spTgt spid="50587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05876"/>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505863"/>
                                        </p:tgtEl>
                                        <p:attrNameLst>
                                          <p:attrName>style.visibility</p:attrName>
                                        </p:attrNameLst>
                                      </p:cBhvr>
                                      <p:to>
                                        <p:strVal val="visible"/>
                                      </p:to>
                                    </p:se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505869"/>
                                        </p:tgtEl>
                                        <p:attrNameLst>
                                          <p:attrName>style.visibility</p:attrName>
                                        </p:attrNameLst>
                                      </p:cBhvr>
                                      <p:to>
                                        <p:strVal val="visible"/>
                                      </p:to>
                                    </p:set>
                                  </p:childTnLst>
                                </p:cTn>
                              </p:par>
                            </p:childTnLst>
                          </p:cTn>
                        </p:par>
                        <p:par>
                          <p:cTn id="16" fill="hold" nodeType="afterGroup">
                            <p:stCondLst>
                              <p:cond delay="1000"/>
                            </p:stCondLst>
                            <p:childTnLst>
                              <p:par>
                                <p:cTn id="17" presetID="17" presetClass="entr" presetSubtype="4" fill="hold" grpId="0" nodeType="afterEffect">
                                  <p:stCondLst>
                                    <p:cond delay="0"/>
                                  </p:stCondLst>
                                  <p:childTnLst>
                                    <p:set>
                                      <p:cBhvr>
                                        <p:cTn id="18" dur="1" fill="hold">
                                          <p:stCondLst>
                                            <p:cond delay="0"/>
                                          </p:stCondLst>
                                        </p:cTn>
                                        <p:tgtEl>
                                          <p:spTgt spid="505859"/>
                                        </p:tgtEl>
                                        <p:attrNameLst>
                                          <p:attrName>style.visibility</p:attrName>
                                        </p:attrNameLst>
                                      </p:cBhvr>
                                      <p:to>
                                        <p:strVal val="visible"/>
                                      </p:to>
                                    </p:set>
                                    <p:anim calcmode="lin" valueType="num">
                                      <p:cBhvr>
                                        <p:cTn id="19" dur="500" fill="hold"/>
                                        <p:tgtEl>
                                          <p:spTgt spid="505859"/>
                                        </p:tgtEl>
                                        <p:attrNameLst>
                                          <p:attrName>ppt_x</p:attrName>
                                        </p:attrNameLst>
                                      </p:cBhvr>
                                      <p:tavLst>
                                        <p:tav tm="0">
                                          <p:val>
                                            <p:strVal val="#ppt_x"/>
                                          </p:val>
                                        </p:tav>
                                        <p:tav tm="100000">
                                          <p:val>
                                            <p:strVal val="#ppt_x"/>
                                          </p:val>
                                        </p:tav>
                                      </p:tavLst>
                                    </p:anim>
                                    <p:anim calcmode="lin" valueType="num">
                                      <p:cBhvr>
                                        <p:cTn id="20" dur="500" fill="hold"/>
                                        <p:tgtEl>
                                          <p:spTgt spid="505859"/>
                                        </p:tgtEl>
                                        <p:attrNameLst>
                                          <p:attrName>ppt_y</p:attrName>
                                        </p:attrNameLst>
                                      </p:cBhvr>
                                      <p:tavLst>
                                        <p:tav tm="0">
                                          <p:val>
                                            <p:strVal val="#ppt_y+#ppt_h/2"/>
                                          </p:val>
                                        </p:tav>
                                        <p:tav tm="100000">
                                          <p:val>
                                            <p:strVal val="#ppt_y"/>
                                          </p:val>
                                        </p:tav>
                                      </p:tavLst>
                                    </p:anim>
                                    <p:anim calcmode="lin" valueType="num">
                                      <p:cBhvr>
                                        <p:cTn id="21" dur="500" fill="hold"/>
                                        <p:tgtEl>
                                          <p:spTgt spid="505859"/>
                                        </p:tgtEl>
                                        <p:attrNameLst>
                                          <p:attrName>ppt_w</p:attrName>
                                        </p:attrNameLst>
                                      </p:cBhvr>
                                      <p:tavLst>
                                        <p:tav tm="0">
                                          <p:val>
                                            <p:strVal val="#ppt_w"/>
                                          </p:val>
                                        </p:tav>
                                        <p:tav tm="100000">
                                          <p:val>
                                            <p:strVal val="#ppt_w"/>
                                          </p:val>
                                        </p:tav>
                                      </p:tavLst>
                                    </p:anim>
                                    <p:anim calcmode="lin" valueType="num">
                                      <p:cBhvr>
                                        <p:cTn id="22" dur="500" fill="hold"/>
                                        <p:tgtEl>
                                          <p:spTgt spid="505859"/>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05864"/>
                                        </p:tgtEl>
                                        <p:attrNameLst>
                                          <p:attrName>style.visibility</p:attrName>
                                        </p:attrNameLst>
                                      </p:cBhvr>
                                      <p:to>
                                        <p:strVal val="visible"/>
                                      </p:to>
                                    </p:set>
                                  </p:childTnLst>
                                </p:cTn>
                              </p:par>
                            </p:childTnLst>
                          </p:cTn>
                        </p:par>
                        <p:par>
                          <p:cTn id="27" fill="hold" nodeType="afterGroup">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505870"/>
                                        </p:tgtEl>
                                        <p:attrNameLst>
                                          <p:attrName>style.visibility</p:attrName>
                                        </p:attrNameLst>
                                      </p:cBhvr>
                                      <p:to>
                                        <p:strVal val="visible"/>
                                      </p:to>
                                    </p:set>
                                  </p:childTnLst>
                                </p:cTn>
                              </p:par>
                            </p:childTnLst>
                          </p:cTn>
                        </p:par>
                        <p:par>
                          <p:cTn id="30" fill="hold" nodeType="afterGroup">
                            <p:stCondLst>
                              <p:cond delay="1000"/>
                            </p:stCondLst>
                            <p:childTnLst>
                              <p:par>
                                <p:cTn id="31" presetID="17" presetClass="entr" presetSubtype="4" fill="hold" grpId="0" nodeType="afterEffect">
                                  <p:stCondLst>
                                    <p:cond delay="0"/>
                                  </p:stCondLst>
                                  <p:childTnLst>
                                    <p:set>
                                      <p:cBhvr>
                                        <p:cTn id="32" dur="1" fill="hold">
                                          <p:stCondLst>
                                            <p:cond delay="0"/>
                                          </p:stCondLst>
                                        </p:cTn>
                                        <p:tgtEl>
                                          <p:spTgt spid="505860"/>
                                        </p:tgtEl>
                                        <p:attrNameLst>
                                          <p:attrName>style.visibility</p:attrName>
                                        </p:attrNameLst>
                                      </p:cBhvr>
                                      <p:to>
                                        <p:strVal val="visible"/>
                                      </p:to>
                                    </p:set>
                                    <p:anim calcmode="lin" valueType="num">
                                      <p:cBhvr>
                                        <p:cTn id="33" dur="500" fill="hold"/>
                                        <p:tgtEl>
                                          <p:spTgt spid="505860"/>
                                        </p:tgtEl>
                                        <p:attrNameLst>
                                          <p:attrName>ppt_x</p:attrName>
                                        </p:attrNameLst>
                                      </p:cBhvr>
                                      <p:tavLst>
                                        <p:tav tm="0">
                                          <p:val>
                                            <p:strVal val="#ppt_x"/>
                                          </p:val>
                                        </p:tav>
                                        <p:tav tm="100000">
                                          <p:val>
                                            <p:strVal val="#ppt_x"/>
                                          </p:val>
                                        </p:tav>
                                      </p:tavLst>
                                    </p:anim>
                                    <p:anim calcmode="lin" valueType="num">
                                      <p:cBhvr>
                                        <p:cTn id="34" dur="500" fill="hold"/>
                                        <p:tgtEl>
                                          <p:spTgt spid="505860"/>
                                        </p:tgtEl>
                                        <p:attrNameLst>
                                          <p:attrName>ppt_y</p:attrName>
                                        </p:attrNameLst>
                                      </p:cBhvr>
                                      <p:tavLst>
                                        <p:tav tm="0">
                                          <p:val>
                                            <p:strVal val="#ppt_y+#ppt_h/2"/>
                                          </p:val>
                                        </p:tav>
                                        <p:tav tm="100000">
                                          <p:val>
                                            <p:strVal val="#ppt_y"/>
                                          </p:val>
                                        </p:tav>
                                      </p:tavLst>
                                    </p:anim>
                                    <p:anim calcmode="lin" valueType="num">
                                      <p:cBhvr>
                                        <p:cTn id="35" dur="500" fill="hold"/>
                                        <p:tgtEl>
                                          <p:spTgt spid="505860"/>
                                        </p:tgtEl>
                                        <p:attrNameLst>
                                          <p:attrName>ppt_w</p:attrName>
                                        </p:attrNameLst>
                                      </p:cBhvr>
                                      <p:tavLst>
                                        <p:tav tm="0">
                                          <p:val>
                                            <p:strVal val="#ppt_w"/>
                                          </p:val>
                                        </p:tav>
                                        <p:tav tm="100000">
                                          <p:val>
                                            <p:strVal val="#ppt_w"/>
                                          </p:val>
                                        </p:tav>
                                      </p:tavLst>
                                    </p:anim>
                                    <p:anim calcmode="lin" valueType="num">
                                      <p:cBhvr>
                                        <p:cTn id="36" dur="500" fill="hold"/>
                                        <p:tgtEl>
                                          <p:spTgt spid="505860"/>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505865"/>
                                        </p:tgtEl>
                                        <p:attrNameLst>
                                          <p:attrName>style.visibility</p:attrName>
                                        </p:attrNameLst>
                                      </p:cBhvr>
                                      <p:to>
                                        <p:strVal val="visible"/>
                                      </p:to>
                                    </p:set>
                                  </p:childTnLst>
                                </p:cTn>
                              </p:par>
                            </p:childTnLst>
                          </p:cTn>
                        </p:par>
                        <p:par>
                          <p:cTn id="41" fill="hold" nodeType="afterGroup">
                            <p:stCondLst>
                              <p:cond delay="500"/>
                            </p:stCondLst>
                            <p:childTnLst>
                              <p:par>
                                <p:cTn id="42" presetID="1" presetClass="entr" presetSubtype="0" fill="hold" grpId="0" nodeType="afterEffect">
                                  <p:stCondLst>
                                    <p:cond delay="0"/>
                                  </p:stCondLst>
                                  <p:childTnLst>
                                    <p:set>
                                      <p:cBhvr>
                                        <p:cTn id="43" dur="1" fill="hold">
                                          <p:stCondLst>
                                            <p:cond delay="499"/>
                                          </p:stCondLst>
                                        </p:cTn>
                                        <p:tgtEl>
                                          <p:spTgt spid="505871"/>
                                        </p:tgtEl>
                                        <p:attrNameLst>
                                          <p:attrName>style.visibility</p:attrName>
                                        </p:attrNameLst>
                                      </p:cBhvr>
                                      <p:to>
                                        <p:strVal val="visible"/>
                                      </p:to>
                                    </p:set>
                                  </p:childTnLst>
                                </p:cTn>
                              </p:par>
                            </p:childTnLst>
                          </p:cTn>
                        </p:par>
                        <p:par>
                          <p:cTn id="44" fill="hold" nodeType="afterGroup">
                            <p:stCondLst>
                              <p:cond delay="1000"/>
                            </p:stCondLst>
                            <p:childTnLst>
                              <p:par>
                                <p:cTn id="45" presetID="17" presetClass="entr" presetSubtype="4" fill="hold" grpId="0" nodeType="afterEffect">
                                  <p:stCondLst>
                                    <p:cond delay="0"/>
                                  </p:stCondLst>
                                  <p:childTnLst>
                                    <p:set>
                                      <p:cBhvr>
                                        <p:cTn id="46" dur="1" fill="hold">
                                          <p:stCondLst>
                                            <p:cond delay="0"/>
                                          </p:stCondLst>
                                        </p:cTn>
                                        <p:tgtEl>
                                          <p:spTgt spid="505861"/>
                                        </p:tgtEl>
                                        <p:attrNameLst>
                                          <p:attrName>style.visibility</p:attrName>
                                        </p:attrNameLst>
                                      </p:cBhvr>
                                      <p:to>
                                        <p:strVal val="visible"/>
                                      </p:to>
                                    </p:set>
                                    <p:anim calcmode="lin" valueType="num">
                                      <p:cBhvr>
                                        <p:cTn id="47" dur="500" fill="hold"/>
                                        <p:tgtEl>
                                          <p:spTgt spid="505861"/>
                                        </p:tgtEl>
                                        <p:attrNameLst>
                                          <p:attrName>ppt_x</p:attrName>
                                        </p:attrNameLst>
                                      </p:cBhvr>
                                      <p:tavLst>
                                        <p:tav tm="0">
                                          <p:val>
                                            <p:strVal val="#ppt_x"/>
                                          </p:val>
                                        </p:tav>
                                        <p:tav tm="100000">
                                          <p:val>
                                            <p:strVal val="#ppt_x"/>
                                          </p:val>
                                        </p:tav>
                                      </p:tavLst>
                                    </p:anim>
                                    <p:anim calcmode="lin" valueType="num">
                                      <p:cBhvr>
                                        <p:cTn id="48" dur="500" fill="hold"/>
                                        <p:tgtEl>
                                          <p:spTgt spid="505861"/>
                                        </p:tgtEl>
                                        <p:attrNameLst>
                                          <p:attrName>ppt_y</p:attrName>
                                        </p:attrNameLst>
                                      </p:cBhvr>
                                      <p:tavLst>
                                        <p:tav tm="0">
                                          <p:val>
                                            <p:strVal val="#ppt_y+#ppt_h/2"/>
                                          </p:val>
                                        </p:tav>
                                        <p:tav tm="100000">
                                          <p:val>
                                            <p:strVal val="#ppt_y"/>
                                          </p:val>
                                        </p:tav>
                                      </p:tavLst>
                                    </p:anim>
                                    <p:anim calcmode="lin" valueType="num">
                                      <p:cBhvr>
                                        <p:cTn id="49" dur="500" fill="hold"/>
                                        <p:tgtEl>
                                          <p:spTgt spid="505861"/>
                                        </p:tgtEl>
                                        <p:attrNameLst>
                                          <p:attrName>ppt_w</p:attrName>
                                        </p:attrNameLst>
                                      </p:cBhvr>
                                      <p:tavLst>
                                        <p:tav tm="0">
                                          <p:val>
                                            <p:strVal val="#ppt_w"/>
                                          </p:val>
                                        </p:tav>
                                        <p:tav tm="100000">
                                          <p:val>
                                            <p:strVal val="#ppt_w"/>
                                          </p:val>
                                        </p:tav>
                                      </p:tavLst>
                                    </p:anim>
                                    <p:anim calcmode="lin" valueType="num">
                                      <p:cBhvr>
                                        <p:cTn id="50" dur="500" fill="hold"/>
                                        <p:tgtEl>
                                          <p:spTgt spid="505861"/>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4" fill="hold" grpId="0" nodeType="clickEffect">
                                  <p:stCondLst>
                                    <p:cond delay="0"/>
                                  </p:stCondLst>
                                  <p:childTnLst>
                                    <p:set>
                                      <p:cBhvr>
                                        <p:cTn id="54" dur="1" fill="hold">
                                          <p:stCondLst>
                                            <p:cond delay="0"/>
                                          </p:stCondLst>
                                        </p:cTn>
                                        <p:tgtEl>
                                          <p:spTgt spid="505862"/>
                                        </p:tgtEl>
                                        <p:attrNameLst>
                                          <p:attrName>style.visibility</p:attrName>
                                        </p:attrNameLst>
                                      </p:cBhvr>
                                      <p:to>
                                        <p:strVal val="visible"/>
                                      </p:to>
                                    </p:set>
                                    <p:anim calcmode="lin" valueType="num">
                                      <p:cBhvr>
                                        <p:cTn id="55" dur="500" fill="hold"/>
                                        <p:tgtEl>
                                          <p:spTgt spid="505862"/>
                                        </p:tgtEl>
                                        <p:attrNameLst>
                                          <p:attrName>ppt_x</p:attrName>
                                        </p:attrNameLst>
                                      </p:cBhvr>
                                      <p:tavLst>
                                        <p:tav tm="0">
                                          <p:val>
                                            <p:strVal val="#ppt_x"/>
                                          </p:val>
                                        </p:tav>
                                        <p:tav tm="100000">
                                          <p:val>
                                            <p:strVal val="#ppt_x"/>
                                          </p:val>
                                        </p:tav>
                                      </p:tavLst>
                                    </p:anim>
                                    <p:anim calcmode="lin" valueType="num">
                                      <p:cBhvr>
                                        <p:cTn id="56" dur="500" fill="hold"/>
                                        <p:tgtEl>
                                          <p:spTgt spid="505862"/>
                                        </p:tgtEl>
                                        <p:attrNameLst>
                                          <p:attrName>ppt_y</p:attrName>
                                        </p:attrNameLst>
                                      </p:cBhvr>
                                      <p:tavLst>
                                        <p:tav tm="0">
                                          <p:val>
                                            <p:strVal val="#ppt_y+#ppt_h/2"/>
                                          </p:val>
                                        </p:tav>
                                        <p:tav tm="100000">
                                          <p:val>
                                            <p:strVal val="#ppt_y"/>
                                          </p:val>
                                        </p:tav>
                                      </p:tavLst>
                                    </p:anim>
                                    <p:anim calcmode="lin" valueType="num">
                                      <p:cBhvr>
                                        <p:cTn id="57" dur="500" fill="hold"/>
                                        <p:tgtEl>
                                          <p:spTgt spid="505862"/>
                                        </p:tgtEl>
                                        <p:attrNameLst>
                                          <p:attrName>ppt_w</p:attrName>
                                        </p:attrNameLst>
                                      </p:cBhvr>
                                      <p:tavLst>
                                        <p:tav tm="0">
                                          <p:val>
                                            <p:strVal val="#ppt_w"/>
                                          </p:val>
                                        </p:tav>
                                        <p:tav tm="100000">
                                          <p:val>
                                            <p:strVal val="#ppt_w"/>
                                          </p:val>
                                        </p:tav>
                                      </p:tavLst>
                                    </p:anim>
                                    <p:anim calcmode="lin" valueType="num">
                                      <p:cBhvr>
                                        <p:cTn id="58" dur="500" fill="hold"/>
                                        <p:tgtEl>
                                          <p:spTgt spid="505862"/>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505873"/>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505877"/>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505878"/>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505879"/>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505880"/>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5058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59" grpId="0" animBg="1" autoUpdateAnimBg="0"/>
      <p:bldP spid="505860" grpId="0" animBg="1" autoUpdateAnimBg="0"/>
      <p:bldP spid="505861" grpId="0" animBg="1" autoUpdateAnimBg="0"/>
      <p:bldP spid="505862" grpId="0" animBg="1" autoUpdateAnimBg="0"/>
      <p:bldP spid="505869" grpId="0" autoUpdateAnimBg="0"/>
      <p:bldP spid="505870" grpId="0" autoUpdateAnimBg="0"/>
      <p:bldP spid="505871" grpId="0" autoUpdateAnimBg="0"/>
      <p:bldP spid="505873" grpId="0" autoUpdateAnimBg="0"/>
      <p:bldP spid="505876" grpId="0" autoUpdateAnimBg="0"/>
      <p:bldP spid="505877" grpId="0" autoUpdateAnimBg="0"/>
      <p:bldP spid="505878" grpId="0" autoUpdateAnimBg="0"/>
      <p:bldP spid="505879" grpId="0" autoUpdateAnimBg="0"/>
      <p:bldP spid="505880" grpId="0" autoUpdateAnimBg="0"/>
      <p:bldP spid="505881" grpId="0" autoUpdateAnimBg="0"/>
    </p:bldLst>
  </p:timing>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64C4-5AE5-D943-8E71-FEB92763E02D}"/>
              </a:ext>
            </a:extLst>
          </p:cNvPr>
          <p:cNvSpPr>
            <a:spLocks noGrp="1"/>
          </p:cNvSpPr>
          <p:nvPr>
            <p:ph type="title"/>
          </p:nvPr>
        </p:nvSpPr>
        <p:spPr/>
        <p:txBody>
          <a:bodyPr/>
          <a:lstStyle/>
          <a:p>
            <a:r>
              <a:rPr lang="en-US" dirty="0"/>
              <a:t>Costs</a:t>
            </a:r>
          </a:p>
        </p:txBody>
      </p:sp>
      <p:sp>
        <p:nvSpPr>
          <p:cNvPr id="3" name="Content Placeholder 2">
            <a:extLst>
              <a:ext uri="{FF2B5EF4-FFF2-40B4-BE49-F238E27FC236}">
                <a16:creationId xmlns:a16="http://schemas.microsoft.com/office/drawing/2014/main" id="{B787C7C4-B740-204F-9C54-0B0D94ED4095}"/>
              </a:ext>
            </a:extLst>
          </p:cNvPr>
          <p:cNvSpPr>
            <a:spLocks noGrp="1"/>
          </p:cNvSpPr>
          <p:nvPr>
            <p:ph idx="1"/>
          </p:nvPr>
        </p:nvSpPr>
        <p:spPr>
          <a:xfrm>
            <a:off x="2364432" y="1417638"/>
            <a:ext cx="7620000" cy="5161292"/>
          </a:xfrm>
        </p:spPr>
        <p:txBody>
          <a:bodyPr>
            <a:normAutofit/>
          </a:bodyPr>
          <a:lstStyle/>
          <a:p>
            <a:pPr>
              <a:spcBef>
                <a:spcPts val="600"/>
              </a:spcBef>
            </a:pPr>
            <a:r>
              <a:rPr lang="en-US" dirty="0"/>
              <a:t>Formal healthcare sector</a:t>
            </a:r>
          </a:p>
          <a:p>
            <a:pPr lvl="1">
              <a:spcBef>
                <a:spcPts val="600"/>
              </a:spcBef>
            </a:pPr>
            <a:r>
              <a:rPr lang="en-US" dirty="0"/>
              <a:t>Facilities and resources</a:t>
            </a:r>
          </a:p>
          <a:p>
            <a:pPr lvl="1">
              <a:spcBef>
                <a:spcPts val="600"/>
              </a:spcBef>
            </a:pPr>
            <a:r>
              <a:rPr lang="en-US" dirty="0"/>
              <a:t>Drugs and devices</a:t>
            </a:r>
          </a:p>
          <a:p>
            <a:pPr lvl="1">
              <a:spcBef>
                <a:spcPts val="600"/>
              </a:spcBef>
              <a:spcAft>
                <a:spcPts val="1200"/>
              </a:spcAft>
            </a:pPr>
            <a:r>
              <a:rPr lang="en-US" dirty="0"/>
              <a:t>Personnel time</a:t>
            </a:r>
          </a:p>
          <a:p>
            <a:pPr>
              <a:spcBef>
                <a:spcPts val="600"/>
              </a:spcBef>
            </a:pPr>
            <a:r>
              <a:rPr lang="en-US" dirty="0"/>
              <a:t>Informal healthcare sector</a:t>
            </a:r>
          </a:p>
          <a:p>
            <a:pPr lvl="1">
              <a:spcBef>
                <a:spcPts val="600"/>
              </a:spcBef>
            </a:pPr>
            <a:r>
              <a:rPr lang="en-US" dirty="0"/>
              <a:t>Patient time</a:t>
            </a:r>
          </a:p>
          <a:p>
            <a:pPr lvl="1">
              <a:spcBef>
                <a:spcPts val="600"/>
              </a:spcBef>
            </a:pPr>
            <a:r>
              <a:rPr lang="en-US" dirty="0"/>
              <a:t>Unpaid caregiver time</a:t>
            </a:r>
          </a:p>
          <a:p>
            <a:pPr lvl="1">
              <a:spcBef>
                <a:spcPts val="600"/>
              </a:spcBef>
              <a:spcAft>
                <a:spcPts val="1200"/>
              </a:spcAft>
            </a:pPr>
            <a:r>
              <a:rPr lang="en-US" dirty="0"/>
              <a:t>Transportation costs</a:t>
            </a:r>
          </a:p>
          <a:p>
            <a:pPr>
              <a:spcBef>
                <a:spcPts val="600"/>
              </a:spcBef>
            </a:pPr>
            <a:r>
              <a:rPr lang="en-US" dirty="0"/>
              <a:t>Non-healthcare sector</a:t>
            </a:r>
          </a:p>
          <a:p>
            <a:pPr lvl="1">
              <a:spcBef>
                <a:spcPts val="600"/>
              </a:spcBef>
            </a:pPr>
            <a:r>
              <a:rPr lang="en-US" dirty="0"/>
              <a:t>Legal or criminal justice</a:t>
            </a:r>
          </a:p>
          <a:p>
            <a:pPr lvl="1">
              <a:spcBef>
                <a:spcPts val="600"/>
              </a:spcBef>
            </a:pPr>
            <a:r>
              <a:rPr lang="en-US" dirty="0"/>
              <a:t>Education</a:t>
            </a:r>
          </a:p>
          <a:p>
            <a:pPr lvl="1">
              <a:spcBef>
                <a:spcPts val="600"/>
              </a:spcBef>
            </a:pPr>
            <a:r>
              <a:rPr lang="en-US" dirty="0"/>
              <a:t>Housing</a:t>
            </a:r>
          </a:p>
        </p:txBody>
      </p:sp>
      <p:sp>
        <p:nvSpPr>
          <p:cNvPr id="4" name="Slide Number Placeholder 3">
            <a:extLst>
              <a:ext uri="{FF2B5EF4-FFF2-40B4-BE49-F238E27FC236}">
                <a16:creationId xmlns:a16="http://schemas.microsoft.com/office/drawing/2014/main" id="{57ADE689-48EA-F547-B333-579E65EAF41A}"/>
              </a:ext>
            </a:extLst>
          </p:cNvPr>
          <p:cNvSpPr>
            <a:spLocks noGrp="1"/>
          </p:cNvSpPr>
          <p:nvPr>
            <p:ph type="sldNum" sz="quarter" idx="12"/>
          </p:nvPr>
        </p:nvSpPr>
        <p:spPr/>
        <p:txBody>
          <a:bodyPr/>
          <a:lstStyle/>
          <a:p>
            <a:fld id="{0798D939-2D9E-2142-A80A-FFDECD1E5A9B}" type="slidenum">
              <a:rPr lang="en-US">
                <a:latin typeface="Verdana"/>
              </a:rPr>
              <a:pPr/>
              <a:t>10</a:t>
            </a:fld>
            <a:endParaRPr lang="en-US">
              <a:latin typeface="Verdana"/>
            </a:endParaRPr>
          </a:p>
        </p:txBody>
      </p:sp>
    </p:spTree>
    <p:extLst>
      <p:ext uri="{BB962C8B-B14F-4D97-AF65-F5344CB8AC3E}">
        <p14:creationId xmlns:p14="http://schemas.microsoft.com/office/powerpoint/2010/main" val="2402021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DFB87-9A0F-0A9B-6B59-CEF11A1F2833}"/>
              </a:ext>
            </a:extLst>
          </p:cNvPr>
          <p:cNvSpPr>
            <a:spLocks noGrp="1"/>
          </p:cNvSpPr>
          <p:nvPr>
            <p:ph type="title"/>
          </p:nvPr>
        </p:nvSpPr>
        <p:spPr/>
        <p:txBody>
          <a:bodyPr/>
          <a:lstStyle/>
          <a:p>
            <a:r>
              <a:rPr lang="en-US" dirty="0"/>
              <a:t>Incremental Cost Effectiveness Ratio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9BDAFB-F6F8-37CA-2D2E-A8D1EE7196D4}"/>
                  </a:ext>
                </a:extLst>
              </p:cNvPr>
              <p:cNvSpPr>
                <a:spLocks noGrp="1"/>
              </p:cNvSpPr>
              <p:nvPr>
                <p:ph idx="1"/>
              </p:nvPr>
            </p:nvSpPr>
            <p:spPr/>
            <p:txBody>
              <a:bodyPr/>
              <a:lstStyle/>
              <a:p>
                <a:r>
                  <a:rPr lang="en-US" sz="2800" dirty="0"/>
                  <a:t>Ratio of incremental effect on costs  divided by incremental effect on health outcomes</a:t>
                </a:r>
              </a:p>
              <a:p>
                <a:pPr marL="114300" indent="0">
                  <a:buNone/>
                </a:pPr>
                <a:endParaRPr lang="en-US" dirty="0"/>
              </a:p>
              <a:p>
                <a14:m>
                  <m:oMath xmlns:m="http://schemas.openxmlformats.org/officeDocument/2006/math">
                    <m:r>
                      <a:rPr lang="en-US" sz="3600" b="0" i="1" smtClean="0">
                        <a:latin typeface="Cambria Math" panose="02040503050406030204" pitchFamily="18" charset="0"/>
                      </a:rPr>
                      <m:t>𝐼𝐶𝐸𝑅</m:t>
                    </m:r>
                    <m:r>
                      <a:rPr lang="en-US" sz="3600" b="0" i="1" smtClean="0">
                        <a:latin typeface="Cambria Math" panose="02040503050406030204" pitchFamily="18" charset="0"/>
                      </a:rPr>
                      <m:t>= </m:t>
                    </m:r>
                    <m:f>
                      <m:fPr>
                        <m:ctrlPr>
                          <a:rPr lang="en-US" sz="3600" b="0" i="1" smtClean="0">
                            <a:latin typeface="Cambria Math" panose="02040503050406030204" pitchFamily="18" charset="0"/>
                          </a:rPr>
                        </m:ctrlPr>
                      </m:fPr>
                      <m:num>
                        <m:r>
                          <m:rPr>
                            <m:sty m:val="p"/>
                          </m:rPr>
                          <a:rPr lang="el-GR" sz="3600" b="0" i="0" smtClean="0">
                            <a:latin typeface="Cambria Math" panose="02040503050406030204" pitchFamily="18" charset="0"/>
                          </a:rPr>
                          <m:t>Δ</m:t>
                        </m:r>
                        <m:r>
                          <a:rPr lang="en-US" sz="3600" b="0" i="1" smtClean="0">
                            <a:latin typeface="Cambria Math" panose="02040503050406030204" pitchFamily="18" charset="0"/>
                          </a:rPr>
                          <m:t>𝐶</m:t>
                        </m:r>
                      </m:num>
                      <m:den>
                        <m:r>
                          <m:rPr>
                            <m:sty m:val="p"/>
                          </m:rPr>
                          <a:rPr lang="el-GR" sz="3600" b="0" i="0" smtClean="0">
                            <a:latin typeface="Cambria Math" panose="02040503050406030204" pitchFamily="18" charset="0"/>
                          </a:rPr>
                          <m:t>ΔΕ</m:t>
                        </m:r>
                      </m:den>
                    </m:f>
                    <m:r>
                      <a:rPr lang="en-US" sz="3600" b="0" i="1" smtClean="0">
                        <a:latin typeface="Cambria Math" panose="02040503050406030204" pitchFamily="18" charset="0"/>
                      </a:rPr>
                      <m:t> </m:t>
                    </m:r>
                  </m:oMath>
                </a14:m>
                <a:r>
                  <a:rPr lang="el-GR" sz="3600" dirty="0"/>
                  <a:t>   </a:t>
                </a:r>
                <a:r>
                  <a:rPr lang="el-GR" sz="2000" dirty="0"/>
                  <a:t>Δ</a:t>
                </a:r>
                <a:r>
                  <a:rPr lang="en-US" sz="2000" dirty="0"/>
                  <a:t>C: incremental costs, </a:t>
                </a:r>
                <a:r>
                  <a:rPr lang="el-GR" sz="2000" dirty="0"/>
                  <a:t>ΔΕ</a:t>
                </a:r>
                <a:r>
                  <a:rPr lang="en-US" sz="2000" dirty="0"/>
                  <a:t>: Incremental effects</a:t>
                </a:r>
                <a:endParaRPr lang="el-GR" sz="3600" dirty="0"/>
              </a:p>
              <a:p>
                <a:endParaRPr lang="el-GR" sz="3600" dirty="0"/>
              </a:p>
              <a:p>
                <a:r>
                  <a:rPr lang="en-US" sz="2800" dirty="0"/>
                  <a:t>ICERs are routinely used in real-world decision making to understand what is the relative “value for money” of an intervention.</a:t>
                </a:r>
              </a:p>
              <a:p>
                <a:endParaRPr lang="en-US" sz="2800" dirty="0"/>
              </a:p>
            </p:txBody>
          </p:sp>
        </mc:Choice>
        <mc:Fallback xmlns="">
          <p:sp>
            <p:nvSpPr>
              <p:cNvPr id="3" name="Content Placeholder 2">
                <a:extLst>
                  <a:ext uri="{FF2B5EF4-FFF2-40B4-BE49-F238E27FC236}">
                    <a16:creationId xmlns:a16="http://schemas.microsoft.com/office/drawing/2014/main" id="{BC9BDAFB-F6F8-37CA-2D2E-A8D1EE7196D4}"/>
                  </a:ext>
                </a:extLst>
              </p:cNvPr>
              <p:cNvSpPr>
                <a:spLocks noGrp="1" noRot="1" noChangeAspect="1" noMove="1" noResize="1" noEditPoints="1" noAdjustHandles="1" noChangeArrowheads="1" noChangeShapeType="1" noTextEdit="1"/>
              </p:cNvSpPr>
              <p:nvPr>
                <p:ph idx="1"/>
              </p:nvPr>
            </p:nvSpPr>
            <p:spPr>
              <a:blipFill>
                <a:blip r:embed="rId3"/>
                <a:stretch>
                  <a:fillRect t="-134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B6524AF-8E58-C0C0-9F15-B1D33CA21BC9}"/>
              </a:ext>
            </a:extLst>
          </p:cNvPr>
          <p:cNvSpPr>
            <a:spLocks noGrp="1"/>
          </p:cNvSpPr>
          <p:nvPr>
            <p:ph type="sldNum" sz="quarter" idx="12"/>
          </p:nvPr>
        </p:nvSpPr>
        <p:spPr/>
        <p:txBody>
          <a:bodyPr/>
          <a:lstStyle/>
          <a:p>
            <a:fld id="{0798D939-2D9E-2142-A80A-FFDECD1E5A9B}" type="slidenum">
              <a:rPr lang="en-US" smtClean="0"/>
              <a:t>11</a:t>
            </a:fld>
            <a:endParaRPr lang="en-US"/>
          </a:p>
        </p:txBody>
      </p:sp>
    </p:spTree>
    <p:extLst>
      <p:ext uri="{BB962C8B-B14F-4D97-AF65-F5344CB8AC3E}">
        <p14:creationId xmlns:p14="http://schemas.microsoft.com/office/powerpoint/2010/main" val="2238309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69845-1FD6-CA4B-B07D-A5C66A862314}"/>
              </a:ext>
            </a:extLst>
          </p:cNvPr>
          <p:cNvSpPr>
            <a:spLocks noGrp="1"/>
          </p:cNvSpPr>
          <p:nvPr>
            <p:ph type="title"/>
          </p:nvPr>
        </p:nvSpPr>
        <p:spPr/>
        <p:txBody>
          <a:bodyPr/>
          <a:lstStyle/>
          <a:p>
            <a:r>
              <a:rPr lang="en-US" dirty="0"/>
              <a:t>Cost-Effectiveness Analysis</a:t>
            </a:r>
          </a:p>
        </p:txBody>
      </p:sp>
      <p:sp>
        <p:nvSpPr>
          <p:cNvPr id="3" name="Content Placeholder 2">
            <a:extLst>
              <a:ext uri="{FF2B5EF4-FFF2-40B4-BE49-F238E27FC236}">
                <a16:creationId xmlns:a16="http://schemas.microsoft.com/office/drawing/2014/main" id="{FC3A2691-4B8C-3F4F-B1DB-3268B8510334}"/>
              </a:ext>
            </a:extLst>
          </p:cNvPr>
          <p:cNvSpPr>
            <a:spLocks noGrp="1"/>
          </p:cNvSpPr>
          <p:nvPr>
            <p:ph idx="1"/>
          </p:nvPr>
        </p:nvSpPr>
        <p:spPr/>
        <p:txBody>
          <a:bodyPr/>
          <a:lstStyle/>
          <a:p>
            <a:pPr>
              <a:spcBef>
                <a:spcPts val="600"/>
              </a:spcBef>
              <a:spcAft>
                <a:spcPts val="1200"/>
              </a:spcAft>
            </a:pPr>
            <a:r>
              <a:rPr lang="en-US" dirty="0"/>
              <a:t>Subset of decision analytic questions where the objective is to balance costs and health benefits</a:t>
            </a:r>
          </a:p>
          <a:p>
            <a:pPr>
              <a:spcBef>
                <a:spcPts val="600"/>
              </a:spcBef>
              <a:spcAft>
                <a:spcPts val="1200"/>
              </a:spcAft>
            </a:pPr>
            <a:r>
              <a:rPr lang="en-US" dirty="0"/>
              <a:t>Defined willingness-to-pay per unit of health benefit (also called cost-effectiveness threshold)</a:t>
            </a:r>
          </a:p>
          <a:p>
            <a:pPr>
              <a:spcBef>
                <a:spcPts val="600"/>
              </a:spcBef>
              <a:spcAft>
                <a:spcPts val="1200"/>
              </a:spcAft>
            </a:pPr>
            <a:endParaRPr lang="en-US" dirty="0"/>
          </a:p>
        </p:txBody>
      </p:sp>
      <p:sp>
        <p:nvSpPr>
          <p:cNvPr id="4" name="Slide Number Placeholder 3">
            <a:extLst>
              <a:ext uri="{FF2B5EF4-FFF2-40B4-BE49-F238E27FC236}">
                <a16:creationId xmlns:a16="http://schemas.microsoft.com/office/drawing/2014/main" id="{FD854D66-7D08-B94D-AA21-DEF4A47AEDDB}"/>
              </a:ext>
            </a:extLst>
          </p:cNvPr>
          <p:cNvSpPr>
            <a:spLocks noGrp="1"/>
          </p:cNvSpPr>
          <p:nvPr>
            <p:ph type="sldNum" sz="quarter" idx="12"/>
          </p:nvPr>
        </p:nvSpPr>
        <p:spPr/>
        <p:txBody>
          <a:bodyPr/>
          <a:lstStyle/>
          <a:p>
            <a:fld id="{0798D939-2D9E-2142-A80A-FFDECD1E5A9B}" type="slidenum">
              <a:rPr lang="en-US">
                <a:latin typeface="Verdana"/>
              </a:rPr>
              <a:pPr/>
              <a:t>12</a:t>
            </a:fld>
            <a:endParaRPr lang="en-US">
              <a:latin typeface="Verdana"/>
            </a:endParaRPr>
          </a:p>
        </p:txBody>
      </p:sp>
      <p:grpSp>
        <p:nvGrpSpPr>
          <p:cNvPr id="91" name="Group 90">
            <a:extLst>
              <a:ext uri="{FF2B5EF4-FFF2-40B4-BE49-F238E27FC236}">
                <a16:creationId xmlns:a16="http://schemas.microsoft.com/office/drawing/2014/main" id="{FE3B14FB-7C4D-3243-9F97-E62863A71084}"/>
              </a:ext>
            </a:extLst>
          </p:cNvPr>
          <p:cNvGrpSpPr/>
          <p:nvPr/>
        </p:nvGrpSpPr>
        <p:grpSpPr>
          <a:xfrm>
            <a:off x="2892400" y="3253842"/>
            <a:ext cx="1491945" cy="3084976"/>
            <a:chOff x="1368399" y="3253842"/>
            <a:chExt cx="1491945" cy="3084976"/>
          </a:xfrm>
        </p:grpSpPr>
        <p:sp>
          <p:nvSpPr>
            <p:cNvPr id="60" name="Line 4">
              <a:extLst>
                <a:ext uri="{FF2B5EF4-FFF2-40B4-BE49-F238E27FC236}">
                  <a16:creationId xmlns:a16="http://schemas.microsoft.com/office/drawing/2014/main" id="{B0C8EA2A-6563-034C-AC8E-528158FB3D6D}"/>
                </a:ext>
              </a:extLst>
            </p:cNvPr>
            <p:cNvSpPr>
              <a:spLocks noChangeShapeType="1"/>
            </p:cNvSpPr>
            <p:nvPr/>
          </p:nvSpPr>
          <p:spPr bwMode="auto">
            <a:xfrm>
              <a:off x="2743200" y="3253842"/>
              <a:ext cx="1588" cy="28206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600">
                <a:solidFill>
                  <a:prstClr val="black"/>
                </a:solidFill>
                <a:latin typeface="Verdana"/>
              </a:endParaRPr>
            </a:p>
          </p:txBody>
        </p:sp>
        <p:sp>
          <p:nvSpPr>
            <p:cNvPr id="61" name="Rectangle 31">
              <a:extLst>
                <a:ext uri="{FF2B5EF4-FFF2-40B4-BE49-F238E27FC236}">
                  <a16:creationId xmlns:a16="http://schemas.microsoft.com/office/drawing/2014/main" id="{37088DF7-6FEC-B444-8796-3336C0964FA9}"/>
                </a:ext>
              </a:extLst>
            </p:cNvPr>
            <p:cNvSpPr>
              <a:spLocks noChangeArrowheads="1"/>
            </p:cNvSpPr>
            <p:nvPr/>
          </p:nvSpPr>
          <p:spPr bwMode="auto">
            <a:xfrm>
              <a:off x="2423163" y="5909356"/>
              <a:ext cx="1298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prstClr val="black"/>
                  </a:solidFill>
                  <a:latin typeface="Verdana"/>
                </a:rPr>
                <a:t>0</a:t>
              </a:r>
            </a:p>
          </p:txBody>
        </p:sp>
        <p:sp>
          <p:nvSpPr>
            <p:cNvPr id="62" name="Rectangle 32">
              <a:extLst>
                <a:ext uri="{FF2B5EF4-FFF2-40B4-BE49-F238E27FC236}">
                  <a16:creationId xmlns:a16="http://schemas.microsoft.com/office/drawing/2014/main" id="{705A3A14-471B-8D4B-A889-2B5A7E8FB9EB}"/>
                </a:ext>
              </a:extLst>
            </p:cNvPr>
            <p:cNvSpPr>
              <a:spLocks noChangeArrowheads="1"/>
            </p:cNvSpPr>
            <p:nvPr/>
          </p:nvSpPr>
          <p:spPr bwMode="auto">
            <a:xfrm>
              <a:off x="1828450" y="5289803"/>
              <a:ext cx="724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prstClr val="black"/>
                  </a:solidFill>
                  <a:latin typeface="Verdana"/>
                </a:rPr>
                <a:t>10,000</a:t>
              </a:r>
            </a:p>
          </p:txBody>
        </p:sp>
        <p:sp>
          <p:nvSpPr>
            <p:cNvPr id="63" name="Rectangle 33">
              <a:extLst>
                <a:ext uri="{FF2B5EF4-FFF2-40B4-BE49-F238E27FC236}">
                  <a16:creationId xmlns:a16="http://schemas.microsoft.com/office/drawing/2014/main" id="{50267A09-1B2C-1349-A7E6-374792175532}"/>
                </a:ext>
              </a:extLst>
            </p:cNvPr>
            <p:cNvSpPr>
              <a:spLocks noChangeArrowheads="1"/>
            </p:cNvSpPr>
            <p:nvPr/>
          </p:nvSpPr>
          <p:spPr bwMode="auto">
            <a:xfrm>
              <a:off x="1828450" y="4670250"/>
              <a:ext cx="724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prstClr val="black"/>
                  </a:solidFill>
                  <a:latin typeface="Verdana"/>
                </a:rPr>
                <a:t>20,000</a:t>
              </a:r>
            </a:p>
          </p:txBody>
        </p:sp>
        <p:sp>
          <p:nvSpPr>
            <p:cNvPr id="64" name="Rectangle 34">
              <a:extLst>
                <a:ext uri="{FF2B5EF4-FFF2-40B4-BE49-F238E27FC236}">
                  <a16:creationId xmlns:a16="http://schemas.microsoft.com/office/drawing/2014/main" id="{825AF445-B164-C946-9E7A-7B96238215BC}"/>
                </a:ext>
              </a:extLst>
            </p:cNvPr>
            <p:cNvSpPr>
              <a:spLocks noChangeArrowheads="1"/>
            </p:cNvSpPr>
            <p:nvPr/>
          </p:nvSpPr>
          <p:spPr bwMode="auto">
            <a:xfrm>
              <a:off x="1828450" y="4050697"/>
              <a:ext cx="724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prstClr val="black"/>
                  </a:solidFill>
                  <a:latin typeface="Verdana"/>
                </a:rPr>
                <a:t>30,000</a:t>
              </a:r>
            </a:p>
          </p:txBody>
        </p:sp>
        <p:sp>
          <p:nvSpPr>
            <p:cNvPr id="65" name="Rectangle 35">
              <a:extLst>
                <a:ext uri="{FF2B5EF4-FFF2-40B4-BE49-F238E27FC236}">
                  <a16:creationId xmlns:a16="http://schemas.microsoft.com/office/drawing/2014/main" id="{2B57AAD8-F8F5-8F42-BCB4-CE41ECF6AFE0}"/>
                </a:ext>
              </a:extLst>
            </p:cNvPr>
            <p:cNvSpPr>
              <a:spLocks noChangeArrowheads="1"/>
            </p:cNvSpPr>
            <p:nvPr/>
          </p:nvSpPr>
          <p:spPr bwMode="auto">
            <a:xfrm>
              <a:off x="1828450" y="3431144"/>
              <a:ext cx="724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prstClr val="black"/>
                  </a:solidFill>
                  <a:latin typeface="Verdana"/>
                </a:rPr>
                <a:t>40,000</a:t>
              </a:r>
            </a:p>
          </p:txBody>
        </p:sp>
        <p:sp>
          <p:nvSpPr>
            <p:cNvPr id="66" name="Line 78">
              <a:extLst>
                <a:ext uri="{FF2B5EF4-FFF2-40B4-BE49-F238E27FC236}">
                  <a16:creationId xmlns:a16="http://schemas.microsoft.com/office/drawing/2014/main" id="{81E009E3-644F-0346-8BC2-6992A6DDB8B2}"/>
                </a:ext>
              </a:extLst>
            </p:cNvPr>
            <p:cNvSpPr>
              <a:spLocks noChangeShapeType="1"/>
            </p:cNvSpPr>
            <p:nvPr/>
          </p:nvSpPr>
          <p:spPr bwMode="auto">
            <a:xfrm>
              <a:off x="2641600" y="3548743"/>
              <a:ext cx="192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solidFill>
                  <a:prstClr val="black"/>
                </a:solidFill>
                <a:latin typeface="Verdana"/>
              </a:endParaRPr>
            </a:p>
          </p:txBody>
        </p:sp>
        <p:sp>
          <p:nvSpPr>
            <p:cNvPr id="67" name="Line 79">
              <a:extLst>
                <a:ext uri="{FF2B5EF4-FFF2-40B4-BE49-F238E27FC236}">
                  <a16:creationId xmlns:a16="http://schemas.microsoft.com/office/drawing/2014/main" id="{18C42540-2978-7C49-A00C-AA20BE015C40}"/>
                </a:ext>
              </a:extLst>
            </p:cNvPr>
            <p:cNvSpPr>
              <a:spLocks noChangeShapeType="1"/>
            </p:cNvSpPr>
            <p:nvPr/>
          </p:nvSpPr>
          <p:spPr bwMode="auto">
            <a:xfrm>
              <a:off x="2641600" y="4790702"/>
              <a:ext cx="192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solidFill>
                  <a:prstClr val="black"/>
                </a:solidFill>
                <a:latin typeface="Verdana"/>
              </a:endParaRPr>
            </a:p>
          </p:txBody>
        </p:sp>
        <p:sp>
          <p:nvSpPr>
            <p:cNvPr id="68" name="Line 80">
              <a:extLst>
                <a:ext uri="{FF2B5EF4-FFF2-40B4-BE49-F238E27FC236}">
                  <a16:creationId xmlns:a16="http://schemas.microsoft.com/office/drawing/2014/main" id="{29F9D1E8-081E-AB40-B2E1-BE1631AEDDCC}"/>
                </a:ext>
              </a:extLst>
            </p:cNvPr>
            <p:cNvSpPr>
              <a:spLocks noChangeShapeType="1"/>
            </p:cNvSpPr>
            <p:nvPr/>
          </p:nvSpPr>
          <p:spPr bwMode="auto">
            <a:xfrm>
              <a:off x="2641600" y="5415149"/>
              <a:ext cx="192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solidFill>
                  <a:prstClr val="black"/>
                </a:solidFill>
                <a:latin typeface="Verdana"/>
              </a:endParaRPr>
            </a:p>
          </p:txBody>
        </p:sp>
        <p:sp>
          <p:nvSpPr>
            <p:cNvPr id="69" name="Rectangle 40">
              <a:extLst>
                <a:ext uri="{FF2B5EF4-FFF2-40B4-BE49-F238E27FC236}">
                  <a16:creationId xmlns:a16="http://schemas.microsoft.com/office/drawing/2014/main" id="{32B805C3-8B2D-614F-B46E-D0383917D473}"/>
                </a:ext>
              </a:extLst>
            </p:cNvPr>
            <p:cNvSpPr>
              <a:spLocks noChangeArrowheads="1"/>
            </p:cNvSpPr>
            <p:nvPr/>
          </p:nvSpPr>
          <p:spPr bwMode="auto">
            <a:xfrm rot="16200000">
              <a:off x="1069920" y="4335538"/>
              <a:ext cx="8431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prstClr val="black"/>
                  </a:solidFill>
                  <a:latin typeface="Verdana"/>
                </a:rPr>
                <a:t>Cost ($)</a:t>
              </a:r>
            </a:p>
          </p:txBody>
        </p:sp>
        <p:sp>
          <p:nvSpPr>
            <p:cNvPr id="71" name="Line 79">
              <a:extLst>
                <a:ext uri="{FF2B5EF4-FFF2-40B4-BE49-F238E27FC236}">
                  <a16:creationId xmlns:a16="http://schemas.microsoft.com/office/drawing/2014/main" id="{E2FF1A07-9A4E-A141-A5F1-E88C357AC954}"/>
                </a:ext>
              </a:extLst>
            </p:cNvPr>
            <p:cNvSpPr>
              <a:spLocks noChangeShapeType="1"/>
            </p:cNvSpPr>
            <p:nvPr/>
          </p:nvSpPr>
          <p:spPr bwMode="auto">
            <a:xfrm>
              <a:off x="2663375" y="4206843"/>
              <a:ext cx="192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solidFill>
                  <a:prstClr val="black"/>
                </a:solidFill>
                <a:latin typeface="Verdana"/>
              </a:endParaRPr>
            </a:p>
          </p:txBody>
        </p:sp>
        <p:sp>
          <p:nvSpPr>
            <p:cNvPr id="75" name="Rectangle 36">
              <a:extLst>
                <a:ext uri="{FF2B5EF4-FFF2-40B4-BE49-F238E27FC236}">
                  <a16:creationId xmlns:a16="http://schemas.microsoft.com/office/drawing/2014/main" id="{F7040A03-4B1D-5244-9CA2-593511F16B43}"/>
                </a:ext>
              </a:extLst>
            </p:cNvPr>
            <p:cNvSpPr>
              <a:spLocks noChangeArrowheads="1"/>
            </p:cNvSpPr>
            <p:nvPr/>
          </p:nvSpPr>
          <p:spPr bwMode="auto">
            <a:xfrm>
              <a:off x="2730500" y="6092597"/>
              <a:ext cx="1298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prstClr val="black"/>
                  </a:solidFill>
                  <a:latin typeface="Verdana"/>
                </a:rPr>
                <a:t>8</a:t>
              </a:r>
            </a:p>
          </p:txBody>
        </p:sp>
      </p:grpSp>
      <p:grpSp>
        <p:nvGrpSpPr>
          <p:cNvPr id="5" name="Group 4">
            <a:extLst>
              <a:ext uri="{FF2B5EF4-FFF2-40B4-BE49-F238E27FC236}">
                <a16:creationId xmlns:a16="http://schemas.microsoft.com/office/drawing/2014/main" id="{EE9B02C2-E835-B744-B90C-1E6D31897F00}"/>
              </a:ext>
            </a:extLst>
          </p:cNvPr>
          <p:cNvGrpSpPr/>
          <p:nvPr/>
        </p:nvGrpSpPr>
        <p:grpSpPr>
          <a:xfrm>
            <a:off x="4267202" y="5868670"/>
            <a:ext cx="5181749" cy="762631"/>
            <a:chOff x="2743201" y="5847403"/>
            <a:chExt cx="5181749" cy="762631"/>
          </a:xfrm>
        </p:grpSpPr>
        <p:sp>
          <p:nvSpPr>
            <p:cNvPr id="73" name="Line 12">
              <a:extLst>
                <a:ext uri="{FF2B5EF4-FFF2-40B4-BE49-F238E27FC236}">
                  <a16:creationId xmlns:a16="http://schemas.microsoft.com/office/drawing/2014/main" id="{863413FC-5F88-DB43-B727-1928F3C70FEC}"/>
                </a:ext>
              </a:extLst>
            </p:cNvPr>
            <p:cNvSpPr>
              <a:spLocks noChangeShapeType="1"/>
            </p:cNvSpPr>
            <p:nvPr/>
          </p:nvSpPr>
          <p:spPr bwMode="auto">
            <a:xfrm flipV="1">
              <a:off x="5284788" y="5847403"/>
              <a:ext cx="1587" cy="190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600">
                <a:solidFill>
                  <a:prstClr val="black"/>
                </a:solidFill>
                <a:latin typeface="Verdana"/>
              </a:endParaRPr>
            </a:p>
          </p:txBody>
        </p:sp>
        <p:sp>
          <p:nvSpPr>
            <p:cNvPr id="74" name="Line 13">
              <a:extLst>
                <a:ext uri="{FF2B5EF4-FFF2-40B4-BE49-F238E27FC236}">
                  <a16:creationId xmlns:a16="http://schemas.microsoft.com/office/drawing/2014/main" id="{19FE3E8B-7378-E34C-81E5-CAE209360865}"/>
                </a:ext>
              </a:extLst>
            </p:cNvPr>
            <p:cNvSpPr>
              <a:spLocks noChangeShapeType="1"/>
            </p:cNvSpPr>
            <p:nvPr/>
          </p:nvSpPr>
          <p:spPr bwMode="auto">
            <a:xfrm flipV="1">
              <a:off x="7818438" y="5847403"/>
              <a:ext cx="1587" cy="190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600">
                <a:solidFill>
                  <a:prstClr val="black"/>
                </a:solidFill>
                <a:latin typeface="Verdana"/>
              </a:endParaRPr>
            </a:p>
          </p:txBody>
        </p:sp>
        <p:grpSp>
          <p:nvGrpSpPr>
            <p:cNvPr id="92" name="Group 91">
              <a:extLst>
                <a:ext uri="{FF2B5EF4-FFF2-40B4-BE49-F238E27FC236}">
                  <a16:creationId xmlns:a16="http://schemas.microsoft.com/office/drawing/2014/main" id="{52C22B94-CD61-B34A-9815-B54F7107CB45}"/>
                </a:ext>
              </a:extLst>
            </p:cNvPr>
            <p:cNvGrpSpPr/>
            <p:nvPr/>
          </p:nvGrpSpPr>
          <p:grpSpPr>
            <a:xfrm>
              <a:off x="2743201" y="5945822"/>
              <a:ext cx="5181749" cy="664212"/>
              <a:chOff x="2753833" y="6626306"/>
              <a:chExt cx="5181749" cy="664212"/>
            </a:xfrm>
          </p:grpSpPr>
          <p:sp>
            <p:nvSpPr>
              <p:cNvPr id="72" name="Line 10">
                <a:extLst>
                  <a:ext uri="{FF2B5EF4-FFF2-40B4-BE49-F238E27FC236}">
                    <a16:creationId xmlns:a16="http://schemas.microsoft.com/office/drawing/2014/main" id="{FB23577A-DC5F-CC46-9ECE-3D53BC612C86}"/>
                  </a:ext>
                </a:extLst>
              </p:cNvPr>
              <p:cNvSpPr>
                <a:spLocks noChangeShapeType="1"/>
              </p:cNvSpPr>
              <p:nvPr/>
            </p:nvSpPr>
            <p:spPr bwMode="auto">
              <a:xfrm>
                <a:off x="2753833" y="6626306"/>
                <a:ext cx="5075238"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600">
                  <a:solidFill>
                    <a:prstClr val="black"/>
                  </a:solidFill>
                  <a:latin typeface="Verdana"/>
                </a:endParaRPr>
              </a:p>
            </p:txBody>
          </p:sp>
          <p:sp>
            <p:nvSpPr>
              <p:cNvPr id="76" name="Rectangle 37">
                <a:extLst>
                  <a:ext uri="{FF2B5EF4-FFF2-40B4-BE49-F238E27FC236}">
                    <a16:creationId xmlns:a16="http://schemas.microsoft.com/office/drawing/2014/main" id="{62EB8E4F-A274-F749-A118-418AFBFAEEF3}"/>
                  </a:ext>
                </a:extLst>
              </p:cNvPr>
              <p:cNvSpPr>
                <a:spLocks noChangeArrowheads="1"/>
              </p:cNvSpPr>
              <p:nvPr/>
            </p:nvSpPr>
            <p:spPr bwMode="auto">
              <a:xfrm>
                <a:off x="5160963" y="6751809"/>
                <a:ext cx="33502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prstClr val="black"/>
                    </a:solidFill>
                    <a:latin typeface="Verdana"/>
                  </a:rPr>
                  <a:t>8.5</a:t>
                </a:r>
              </a:p>
            </p:txBody>
          </p:sp>
          <p:sp>
            <p:nvSpPr>
              <p:cNvPr id="77" name="Rectangle 38">
                <a:extLst>
                  <a:ext uri="{FF2B5EF4-FFF2-40B4-BE49-F238E27FC236}">
                    <a16:creationId xmlns:a16="http://schemas.microsoft.com/office/drawing/2014/main" id="{42D53BC8-E787-0B4E-8766-680ABB305482}"/>
                  </a:ext>
                </a:extLst>
              </p:cNvPr>
              <p:cNvSpPr>
                <a:spLocks noChangeArrowheads="1"/>
              </p:cNvSpPr>
              <p:nvPr/>
            </p:nvSpPr>
            <p:spPr bwMode="auto">
              <a:xfrm>
                <a:off x="7805738" y="6751809"/>
                <a:ext cx="1298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prstClr val="black"/>
                    </a:solidFill>
                    <a:latin typeface="Verdana"/>
                  </a:rPr>
                  <a:t>9</a:t>
                </a:r>
              </a:p>
            </p:txBody>
          </p:sp>
          <p:sp>
            <p:nvSpPr>
              <p:cNvPr id="78" name="Rectangle 39">
                <a:extLst>
                  <a:ext uri="{FF2B5EF4-FFF2-40B4-BE49-F238E27FC236}">
                    <a16:creationId xmlns:a16="http://schemas.microsoft.com/office/drawing/2014/main" id="{20E2DF05-C572-CB46-A8EF-89ED9DD901DB}"/>
                  </a:ext>
                </a:extLst>
              </p:cNvPr>
              <p:cNvSpPr>
                <a:spLocks noChangeArrowheads="1"/>
              </p:cNvSpPr>
              <p:nvPr/>
            </p:nvSpPr>
            <p:spPr bwMode="auto">
              <a:xfrm>
                <a:off x="4349161" y="7044297"/>
                <a:ext cx="222977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prstClr val="black"/>
                    </a:solidFill>
                    <a:latin typeface="Verdana"/>
                  </a:rPr>
                  <a:t>Effectiveness (QALYs)</a:t>
                </a:r>
              </a:p>
            </p:txBody>
          </p:sp>
        </p:grpSp>
      </p:grpSp>
      <p:sp>
        <p:nvSpPr>
          <p:cNvPr id="79" name="Rectangle 66">
            <a:extLst>
              <a:ext uri="{FF2B5EF4-FFF2-40B4-BE49-F238E27FC236}">
                <a16:creationId xmlns:a16="http://schemas.microsoft.com/office/drawing/2014/main" id="{3BC2F6F4-B907-584C-A79B-C1D59628DA8D}"/>
              </a:ext>
            </a:extLst>
          </p:cNvPr>
          <p:cNvSpPr>
            <a:spLocks noChangeArrowheads="1"/>
          </p:cNvSpPr>
          <p:nvPr/>
        </p:nvSpPr>
        <p:spPr bwMode="auto">
          <a:xfrm>
            <a:off x="4355274" y="5666500"/>
            <a:ext cx="14106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srgbClr val="009999"/>
                </a:solidFill>
                <a:latin typeface="Verdana"/>
              </a:rPr>
              <a:t>A</a:t>
            </a:r>
          </a:p>
        </p:txBody>
      </p:sp>
      <p:sp>
        <p:nvSpPr>
          <p:cNvPr id="80" name="Rectangle 70">
            <a:extLst>
              <a:ext uri="{FF2B5EF4-FFF2-40B4-BE49-F238E27FC236}">
                <a16:creationId xmlns:a16="http://schemas.microsoft.com/office/drawing/2014/main" id="{94E51364-9C91-B340-B12A-D0E8A7265D7B}"/>
              </a:ext>
            </a:extLst>
          </p:cNvPr>
          <p:cNvSpPr>
            <a:spLocks noChangeArrowheads="1"/>
          </p:cNvSpPr>
          <p:nvPr/>
        </p:nvSpPr>
        <p:spPr bwMode="auto">
          <a:xfrm>
            <a:off x="6927272" y="5053933"/>
            <a:ext cx="14106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srgbClr val="009999"/>
                </a:solidFill>
                <a:latin typeface="Verdana"/>
              </a:rPr>
              <a:t>B</a:t>
            </a:r>
          </a:p>
        </p:txBody>
      </p:sp>
      <p:sp>
        <p:nvSpPr>
          <p:cNvPr id="81" name="Oval 81">
            <a:extLst>
              <a:ext uri="{FF2B5EF4-FFF2-40B4-BE49-F238E27FC236}">
                <a16:creationId xmlns:a16="http://schemas.microsoft.com/office/drawing/2014/main" id="{04EBF8C2-B9F6-5541-8CB6-964C5E4B9FDC}"/>
              </a:ext>
            </a:extLst>
          </p:cNvPr>
          <p:cNvSpPr>
            <a:spLocks noChangeArrowheads="1"/>
          </p:cNvSpPr>
          <p:nvPr/>
        </p:nvSpPr>
        <p:spPr bwMode="auto">
          <a:xfrm>
            <a:off x="4214751" y="5613060"/>
            <a:ext cx="136525" cy="136525"/>
          </a:xfrm>
          <a:prstGeom prst="ellipse">
            <a:avLst/>
          </a:prstGeom>
          <a:solidFill>
            <a:schemeClr val="accent1"/>
          </a:solidFill>
          <a:ln w="12700">
            <a:solidFill>
              <a:schemeClr val="accent1"/>
            </a:solidFill>
            <a:round/>
            <a:headEnd/>
            <a:tailEnd/>
          </a:ln>
          <a:effectLst/>
        </p:spPr>
        <p:txBody>
          <a:bodyPr wrap="none" anchor="ctr"/>
          <a:lstStyle/>
          <a:p>
            <a:endParaRPr lang="en-US" sz="1600">
              <a:solidFill>
                <a:prstClr val="black"/>
              </a:solidFill>
              <a:latin typeface="Verdana"/>
            </a:endParaRPr>
          </a:p>
        </p:txBody>
      </p:sp>
      <p:sp>
        <p:nvSpPr>
          <p:cNvPr id="82" name="Oval 83">
            <a:extLst>
              <a:ext uri="{FF2B5EF4-FFF2-40B4-BE49-F238E27FC236}">
                <a16:creationId xmlns:a16="http://schemas.microsoft.com/office/drawing/2014/main" id="{214AC972-AFCD-054F-89F3-6A62154F194E}"/>
              </a:ext>
            </a:extLst>
          </p:cNvPr>
          <p:cNvSpPr>
            <a:spLocks noChangeArrowheads="1"/>
          </p:cNvSpPr>
          <p:nvPr/>
        </p:nvSpPr>
        <p:spPr bwMode="auto">
          <a:xfrm>
            <a:off x="6746174" y="5030183"/>
            <a:ext cx="136525" cy="136525"/>
          </a:xfrm>
          <a:prstGeom prst="ellipse">
            <a:avLst/>
          </a:prstGeom>
          <a:solidFill>
            <a:schemeClr val="accent1"/>
          </a:solidFill>
          <a:ln w="12700">
            <a:solidFill>
              <a:schemeClr val="accent1"/>
            </a:solidFill>
            <a:round/>
            <a:headEnd/>
            <a:tailEnd/>
          </a:ln>
          <a:effectLst/>
        </p:spPr>
        <p:txBody>
          <a:bodyPr wrap="none" anchor="ctr"/>
          <a:lstStyle/>
          <a:p>
            <a:endParaRPr lang="en-US" sz="1600">
              <a:solidFill>
                <a:prstClr val="black"/>
              </a:solidFill>
              <a:latin typeface="Verdana"/>
            </a:endParaRPr>
          </a:p>
        </p:txBody>
      </p:sp>
      <p:sp>
        <p:nvSpPr>
          <p:cNvPr id="83" name="Line 14">
            <a:extLst>
              <a:ext uri="{FF2B5EF4-FFF2-40B4-BE49-F238E27FC236}">
                <a16:creationId xmlns:a16="http://schemas.microsoft.com/office/drawing/2014/main" id="{BEDA6697-916B-DE4D-A5D3-9FBB60629FFC}"/>
              </a:ext>
            </a:extLst>
          </p:cNvPr>
          <p:cNvSpPr>
            <a:spLocks noChangeShapeType="1"/>
          </p:cNvSpPr>
          <p:nvPr/>
        </p:nvSpPr>
        <p:spPr bwMode="auto">
          <a:xfrm flipV="1">
            <a:off x="4326576" y="5118265"/>
            <a:ext cx="2434442" cy="558140"/>
          </a:xfrm>
          <a:prstGeom prst="line">
            <a:avLst/>
          </a:prstGeom>
          <a:noFill/>
          <a:ln w="23813">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600">
              <a:solidFill>
                <a:prstClr val="black"/>
              </a:solidFill>
              <a:latin typeface="Verdana"/>
            </a:endParaRPr>
          </a:p>
        </p:txBody>
      </p:sp>
      <p:sp>
        <p:nvSpPr>
          <p:cNvPr id="84" name="Rectangle 72">
            <a:extLst>
              <a:ext uri="{FF2B5EF4-FFF2-40B4-BE49-F238E27FC236}">
                <a16:creationId xmlns:a16="http://schemas.microsoft.com/office/drawing/2014/main" id="{8DDCF834-14D9-8245-8A0D-7CEA5CA3310A}"/>
              </a:ext>
            </a:extLst>
          </p:cNvPr>
          <p:cNvSpPr>
            <a:spLocks noChangeArrowheads="1"/>
          </p:cNvSpPr>
          <p:nvPr/>
        </p:nvSpPr>
        <p:spPr bwMode="auto">
          <a:xfrm>
            <a:off x="5054930" y="5558642"/>
            <a:ext cx="14747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srgbClr val="009999"/>
                </a:solidFill>
                <a:latin typeface="Verdana"/>
              </a:rPr>
              <a:t>$20,000/QALY</a:t>
            </a:r>
          </a:p>
        </p:txBody>
      </p:sp>
      <p:sp>
        <p:nvSpPr>
          <p:cNvPr id="86" name="Rectangle 68">
            <a:extLst>
              <a:ext uri="{FF2B5EF4-FFF2-40B4-BE49-F238E27FC236}">
                <a16:creationId xmlns:a16="http://schemas.microsoft.com/office/drawing/2014/main" id="{6E8968E4-5922-7F4A-B100-C65F6406EA7E}"/>
              </a:ext>
            </a:extLst>
          </p:cNvPr>
          <p:cNvSpPr>
            <a:spLocks noChangeArrowheads="1"/>
          </p:cNvSpPr>
          <p:nvPr/>
        </p:nvSpPr>
        <p:spPr bwMode="auto">
          <a:xfrm>
            <a:off x="9289473" y="3482445"/>
            <a:ext cx="14266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dirty="0">
                <a:solidFill>
                  <a:srgbClr val="009999"/>
                </a:solidFill>
                <a:latin typeface="Verdana"/>
              </a:rPr>
              <a:t>C</a:t>
            </a:r>
          </a:p>
        </p:txBody>
      </p:sp>
      <p:sp>
        <p:nvSpPr>
          <p:cNvPr id="87" name="Oval 82">
            <a:extLst>
              <a:ext uri="{FF2B5EF4-FFF2-40B4-BE49-F238E27FC236}">
                <a16:creationId xmlns:a16="http://schemas.microsoft.com/office/drawing/2014/main" id="{24A4E6DA-6861-3A4B-9C8C-35C6A1F34071}"/>
              </a:ext>
            </a:extLst>
          </p:cNvPr>
          <p:cNvSpPr>
            <a:spLocks noChangeArrowheads="1"/>
          </p:cNvSpPr>
          <p:nvPr/>
        </p:nvSpPr>
        <p:spPr bwMode="auto">
          <a:xfrm>
            <a:off x="9208325" y="3341920"/>
            <a:ext cx="136525" cy="136525"/>
          </a:xfrm>
          <a:prstGeom prst="ellipse">
            <a:avLst/>
          </a:prstGeom>
          <a:solidFill>
            <a:schemeClr val="accent1"/>
          </a:solidFill>
          <a:ln w="12700">
            <a:solidFill>
              <a:schemeClr val="accent1"/>
            </a:solidFill>
            <a:round/>
            <a:headEnd/>
            <a:tailEnd/>
          </a:ln>
          <a:effectLst/>
        </p:spPr>
        <p:txBody>
          <a:bodyPr wrap="none" anchor="ctr"/>
          <a:lstStyle/>
          <a:p>
            <a:endParaRPr lang="en-US" sz="1600">
              <a:solidFill>
                <a:prstClr val="black"/>
              </a:solidFill>
              <a:latin typeface="Verdana"/>
            </a:endParaRPr>
          </a:p>
        </p:txBody>
      </p:sp>
      <p:sp>
        <p:nvSpPr>
          <p:cNvPr id="89" name="Line 15">
            <a:extLst>
              <a:ext uri="{FF2B5EF4-FFF2-40B4-BE49-F238E27FC236}">
                <a16:creationId xmlns:a16="http://schemas.microsoft.com/office/drawing/2014/main" id="{AEA75086-33DA-3040-915F-E7025CE0B761}"/>
              </a:ext>
            </a:extLst>
          </p:cNvPr>
          <p:cNvSpPr>
            <a:spLocks noChangeShapeType="1"/>
          </p:cNvSpPr>
          <p:nvPr/>
        </p:nvSpPr>
        <p:spPr bwMode="auto">
          <a:xfrm flipV="1">
            <a:off x="6868166" y="3420094"/>
            <a:ext cx="2386671" cy="1674359"/>
          </a:xfrm>
          <a:prstGeom prst="line">
            <a:avLst/>
          </a:prstGeom>
          <a:noFill/>
          <a:ln w="23813">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600">
              <a:solidFill>
                <a:prstClr val="black"/>
              </a:solidFill>
              <a:latin typeface="Verdana"/>
            </a:endParaRPr>
          </a:p>
        </p:txBody>
      </p:sp>
      <p:sp>
        <p:nvSpPr>
          <p:cNvPr id="90" name="Rectangle 74">
            <a:extLst>
              <a:ext uri="{FF2B5EF4-FFF2-40B4-BE49-F238E27FC236}">
                <a16:creationId xmlns:a16="http://schemas.microsoft.com/office/drawing/2014/main" id="{0A2917E4-3F88-884D-89B2-F389EE130D81}"/>
              </a:ext>
            </a:extLst>
          </p:cNvPr>
          <p:cNvSpPr>
            <a:spLocks noChangeArrowheads="1"/>
          </p:cNvSpPr>
          <p:nvPr/>
        </p:nvSpPr>
        <p:spPr bwMode="auto">
          <a:xfrm>
            <a:off x="7872826" y="4418612"/>
            <a:ext cx="14747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en-US" sz="1600" dirty="0">
                <a:solidFill>
                  <a:srgbClr val="009999"/>
                </a:solidFill>
                <a:latin typeface="Verdana"/>
              </a:rPr>
              <a:t>$50,000/QALY</a:t>
            </a:r>
          </a:p>
        </p:txBody>
      </p:sp>
    </p:spTree>
    <p:extLst>
      <p:ext uri="{BB962C8B-B14F-4D97-AF65-F5344CB8AC3E}">
        <p14:creationId xmlns:p14="http://schemas.microsoft.com/office/powerpoint/2010/main" val="337794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3"/>
                                        </p:tgtEl>
                                        <p:attrNameLst>
                                          <p:attrName>style.visibility</p:attrName>
                                        </p:attrNameLst>
                                      </p:cBhvr>
                                      <p:to>
                                        <p:strVal val="visible"/>
                                      </p:to>
                                    </p:set>
                                    <p:animEffect transition="in" filter="wipe(left)">
                                      <p:cBhvr>
                                        <p:cTn id="31" dur="500"/>
                                        <p:tgtEl>
                                          <p:spTgt spid="83"/>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84"/>
                                        </p:tgtEl>
                                        <p:attrNameLst>
                                          <p:attrName>style.visibility</p:attrName>
                                        </p:attrNameLst>
                                      </p:cBhvr>
                                      <p:to>
                                        <p:strVal val="visible"/>
                                      </p:to>
                                    </p:set>
                                    <p:animEffect transition="in" filter="dissolve">
                                      <p:cBhvr>
                                        <p:cTn id="35" dur="500"/>
                                        <p:tgtEl>
                                          <p:spTgt spid="8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89"/>
                                        </p:tgtEl>
                                        <p:attrNameLst>
                                          <p:attrName>style.visibility</p:attrName>
                                        </p:attrNameLst>
                                      </p:cBhvr>
                                      <p:to>
                                        <p:strVal val="visible"/>
                                      </p:to>
                                    </p:set>
                                    <p:animEffect transition="in" filter="wipe(down)">
                                      <p:cBhvr>
                                        <p:cTn id="40" dur="500"/>
                                        <p:tgtEl>
                                          <p:spTgt spid="89"/>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90"/>
                                        </p:tgtEl>
                                        <p:attrNameLst>
                                          <p:attrName>style.visibility</p:attrName>
                                        </p:attrNameLst>
                                      </p:cBhvr>
                                      <p:to>
                                        <p:strVal val="visible"/>
                                      </p:to>
                                    </p:set>
                                    <p:animEffect transition="in" filter="dissolve">
                                      <p:cBhvr>
                                        <p:cTn id="44"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81" grpId="0" animBg="1"/>
      <p:bldP spid="82" grpId="0" animBg="1"/>
      <p:bldP spid="84" grpId="0" autoUpdateAnimBg="0"/>
      <p:bldP spid="86" grpId="0"/>
      <p:bldP spid="87" grpId="0" animBg="1"/>
      <p:bldP spid="90" grpId="0"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DARTH_updates">
  <a:themeElements>
    <a:clrScheme name="DARTH">
      <a:dk1>
        <a:sysClr val="windowText" lastClr="000000"/>
      </a:dk1>
      <a:lt1>
        <a:sysClr val="window" lastClr="FFFFFF"/>
      </a:lt1>
      <a:dk2>
        <a:srgbClr val="696367"/>
      </a:dk2>
      <a:lt2>
        <a:srgbClr val="D9CFC5"/>
      </a:lt2>
      <a:accent1>
        <a:srgbClr val="009999"/>
      </a:accent1>
      <a:accent2>
        <a:srgbClr val="64B636"/>
      </a:accent2>
      <a:accent3>
        <a:srgbClr val="004D99"/>
      </a:accent3>
      <a:accent4>
        <a:srgbClr val="378369"/>
      </a:accent4>
      <a:accent5>
        <a:srgbClr val="F7730B"/>
      </a:accent5>
      <a:accent6>
        <a:srgbClr val="C19859"/>
      </a:accent6>
      <a:hlink>
        <a:srgbClr val="6B9F25"/>
      </a:hlink>
      <a:folHlink>
        <a:srgbClr val="FDAD1E"/>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ThemeDARTH_updates" id="{A88DC74F-817B-2443-A1BF-C7546F4BD305}" vid="{9B2F99B3-81E4-7643-8B10-E59ED8FCBA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DARTH">
    <a:dk1>
      <a:sysClr val="windowText" lastClr="000000"/>
    </a:dk1>
    <a:lt1>
      <a:sysClr val="window" lastClr="FFFFFF"/>
    </a:lt1>
    <a:dk2>
      <a:srgbClr val="696367"/>
    </a:dk2>
    <a:lt2>
      <a:srgbClr val="D9CFC5"/>
    </a:lt2>
    <a:accent1>
      <a:srgbClr val="009999"/>
    </a:accent1>
    <a:accent2>
      <a:srgbClr val="64B636"/>
    </a:accent2>
    <a:accent3>
      <a:srgbClr val="004D99"/>
    </a:accent3>
    <a:accent4>
      <a:srgbClr val="378369"/>
    </a:accent4>
    <a:accent5>
      <a:srgbClr val="F7730B"/>
    </a:accent5>
    <a:accent6>
      <a:srgbClr val="C19859"/>
    </a:accent6>
    <a:hlink>
      <a:srgbClr val="6B9F25"/>
    </a:hlink>
    <a:folHlink>
      <a:srgbClr val="FDAD1E"/>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AC9513A3EAE5148A1EDD20C07ADBCDC" ma:contentTypeVersion="21" ma:contentTypeDescription="Create a new document." ma:contentTypeScope="" ma:versionID="89b616c60e07c74e8132b7d9c2fa264c">
  <xsd:schema xmlns:xsd="http://www.w3.org/2001/XMLSchema" xmlns:xs="http://www.w3.org/2001/XMLSchema" xmlns:p="http://schemas.microsoft.com/office/2006/metadata/properties" xmlns:ns1="http://schemas.microsoft.com/sharepoint/v3" xmlns:ns3="33b6f221-48b2-408e-81b5-dc9f8dff52be" xmlns:ns4="ac3735d2-e064-47ee-9bcd-41d738432802" targetNamespace="http://schemas.microsoft.com/office/2006/metadata/properties" ma:root="true" ma:fieldsID="a2427d44b8b8bcaffcdaedfd7f1986d4" ns1:_="" ns3:_="" ns4:_="">
    <xsd:import namespace="http://schemas.microsoft.com/sharepoint/v3"/>
    <xsd:import namespace="33b6f221-48b2-408e-81b5-dc9f8dff52be"/>
    <xsd:import namespace="ac3735d2-e064-47ee-9bcd-41d73843280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1:_ip_UnifiedCompliancePolicyProperties" minOccurs="0"/>
                <xsd:element ref="ns1:_ip_UnifiedCompliancePolicyUIAction" minOccurs="0"/>
                <xsd:element ref="ns4:MediaServiceAutoTags" minOccurs="0"/>
                <xsd:element ref="ns4:MediaServiceGenerationTime" minOccurs="0"/>
                <xsd:element ref="ns4:MediaServiceEventHashCode" minOccurs="0"/>
                <xsd:element ref="ns4:MediaServiceDateTaken" minOccurs="0"/>
                <xsd:element ref="ns4:MediaServiceAutoKeyPoints" minOccurs="0"/>
                <xsd:element ref="ns4:MediaServiceKeyPoints" minOccurs="0"/>
                <xsd:element ref="ns4:MediaServiceOCR" minOccurs="0"/>
                <xsd:element ref="ns4:MediaServiceLocation"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3b6f221-48b2-408e-81b5-dc9f8dff52b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c3735d2-e064-47ee-9bcd-41d738432802"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ternalName="MediaServiceLocatio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_activity" ma:index="24" nillable="true" ma:displayName="_activity" ma:hidden="true" ma:internalName="_activity">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ystemTags" ma:index="26" nillable="true" ma:displayName="MediaServiceSystemTags" ma:hidden="true" ma:internalName="MediaServiceSystemTags" ma:readOnly="true">
      <xsd:simpleType>
        <xsd:restriction base="dms:Not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ac3735d2-e064-47ee-9bcd-41d738432802" xsi:nil="true"/>
  </documentManagement>
</p:properties>
</file>

<file path=customXml/itemProps1.xml><?xml version="1.0" encoding="utf-8"?>
<ds:datastoreItem xmlns:ds="http://schemas.openxmlformats.org/officeDocument/2006/customXml" ds:itemID="{51EA0891-F64E-4991-9A4F-21CAB50CEE70}">
  <ds:schemaRefs>
    <ds:schemaRef ds:uri="http://schemas.microsoft.com/sharepoint/v3/contenttype/forms"/>
  </ds:schemaRefs>
</ds:datastoreItem>
</file>

<file path=customXml/itemProps2.xml><?xml version="1.0" encoding="utf-8"?>
<ds:datastoreItem xmlns:ds="http://schemas.openxmlformats.org/officeDocument/2006/customXml" ds:itemID="{2F7583A9-381B-44A1-B7ED-BDCBBEF7CA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3b6f221-48b2-408e-81b5-dc9f8dff52be"/>
    <ds:schemaRef ds:uri="ac3735d2-e064-47ee-9bcd-41d7384328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FE4C89E-5B07-4E8D-8398-C6F95C394F8A}">
  <ds:schemaRefs>
    <ds:schemaRef ds:uri="http://schemas.microsoft.com/office/2006/metadata/properties"/>
    <ds:schemaRef ds:uri="http://schemas.microsoft.com/office/2006/documentManagement/types"/>
    <ds:schemaRef ds:uri="ac3735d2-e064-47ee-9bcd-41d738432802"/>
    <ds:schemaRef ds:uri="http://purl.org/dc/terms/"/>
    <ds:schemaRef ds:uri="http://schemas.openxmlformats.org/package/2006/metadata/core-properties"/>
    <ds:schemaRef ds:uri="http://purl.org/dc/dcmitype/"/>
    <ds:schemaRef ds:uri="http://schemas.microsoft.com/sharepoint/v3"/>
    <ds:schemaRef ds:uri="http://purl.org/dc/elements/1.1/"/>
    <ds:schemaRef ds:uri="http://www.w3.org/XML/1998/namespace"/>
    <ds:schemaRef ds:uri="http://schemas.microsoft.com/office/infopath/2007/PartnerControls"/>
    <ds:schemaRef ds:uri="33b6f221-48b2-408e-81b5-dc9f8dff52be"/>
  </ds:schemaRefs>
</ds:datastoreItem>
</file>

<file path=docProps/app.xml><?xml version="1.0" encoding="utf-8"?>
<Properties xmlns="http://schemas.openxmlformats.org/officeDocument/2006/extended-properties" xmlns:vt="http://schemas.openxmlformats.org/officeDocument/2006/docPropsVTypes">
  <TotalTime>95</TotalTime>
  <Words>458</Words>
  <Application>Microsoft Office PowerPoint</Application>
  <PresentationFormat>Widescreen</PresentationFormat>
  <Paragraphs>132</Paragraphs>
  <Slides>12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Cambria Math</vt:lpstr>
      <vt:lpstr>Times New Roman</vt:lpstr>
      <vt:lpstr>Verdana</vt:lpstr>
      <vt:lpstr>ThemeDARTH_updates</vt:lpstr>
      <vt:lpstr>Introduction to Cost Effectiveness Analysis </vt:lpstr>
      <vt:lpstr>Overview of Decision Analysis</vt:lpstr>
      <vt:lpstr>What is Decision Analysis?</vt:lpstr>
      <vt:lpstr>Decision Analysis</vt:lpstr>
      <vt:lpstr>PowerPoint Presentation</vt:lpstr>
      <vt:lpstr>Model Types</vt:lpstr>
      <vt:lpstr>Analysis Outcomes</vt:lpstr>
      <vt:lpstr>Health Outcomes</vt:lpstr>
      <vt:lpstr>Quality-Adjusted Life-Years</vt:lpstr>
      <vt:lpstr>Costs</vt:lpstr>
      <vt:lpstr>Incremental Cost Effectiveness Ratio</vt:lpstr>
      <vt:lpstr>Cost-Effectiveness Analysis</vt:lpstr>
    </vt:vector>
  </TitlesOfParts>
  <Company>SickKids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Petros Pechlivanoglou</dc:creator>
  <cp:lastModifiedBy>Alexandra Moskalewicz</cp:lastModifiedBy>
  <cp:revision>5</cp:revision>
  <dcterms:created xsi:type="dcterms:W3CDTF">2025-08-27T14:57:33Z</dcterms:created>
  <dcterms:modified xsi:type="dcterms:W3CDTF">2026-06-10T23:12:35Z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0x0101001AC9513A3EAE5148A1EDD20C07ADBCDC</vt:lpwstr>
  </property>
</Properties>
</file>